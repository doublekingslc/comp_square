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573"/>
    <p:restoredTop sz="86377"/>
  </p:normalViewPr>
  <p:slideViewPr>
    <p:cSldViewPr snapToGrid="0" snapToObjects="1">
      <p:cViewPr varScale="1">
        <p:scale>
          <a:sx n="95" d="100"/>
          <a:sy n="95" d="100"/>
        </p:scale>
        <p:origin x="208" y="30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4243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Since the last meeting: the full pipeline is implemented and produced its first real compliance report on independent.ie yesterday. Today: (1) what each of the 10 papers contributes to the </a:t>
            </a:r>
            <a:r>
              <a:rPr lang="en-US"/>
              <a:t>build - </a:t>
            </a:r>
            <a:r>
              <a:rPr lang="en-US" dirty="0"/>
              <a:t>in depth; (2) every model choice and its justification, including one empirical reversal; (3) exactly which code is mine vs adapted vs reused; (4) live results and the error analysis; (5) evaluation plan and remaining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One-slide recap of the literature-review conclusion, framed as the requirement it imposes on the build. Four research directions, each masters one modality. The mobile-hybrid line (Zimmeck NDSS'17, MAPS, Lalaine) proves notice-vs-practice checking is </a:t>
            </a:r>
            <a:r>
              <a:rPr lang="en-US"/>
              <a:t>possible - </a:t>
            </a:r>
            <a:r>
              <a:rPr lang="en-US" dirty="0"/>
              <a:t>but via static binary analysis, which cannot observe consent state changing with user interaction on the web.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Depth answers: OPP-115 - first public annotated corpus; 10 data-practice categories (first-party collection, third-party sharing, choice/control, retention, security, policy change, DNT, specific audiences, access/edit/delete, other); each policy read by three law students; classifiers plateaued because bag-of-words captures keywords, not semantics. </a:t>
            </a:r>
            <a:r>
              <a:rPr lang="en-US" dirty="0" err="1"/>
              <a:t>Polisis</a:t>
            </a:r>
            <a:r>
              <a:rPr lang="en-US" dirty="0"/>
              <a:t> - privacy-specific embeddings trained on 130k policies beat general embeddings; hierarchical CNN, 88.4% top-level accuracy; powers PriBot QA. </a:t>
            </a:r>
            <a:r>
              <a:rPr lang="en-US" dirty="0" err="1"/>
              <a:t>PrivacyQA</a:t>
            </a:r>
            <a:r>
              <a:rPr lang="en-US" dirty="0"/>
              <a:t> - 1,750 questions over app policies; key finding: even legal experts disagree, many questions unanswerable from the policy - that is why our scorer can abstain. Zimmeck/MAPS - mapped a small closed set of practices (location, identifiers, contacts × 1st/3rd party) checkable on both sides; static analysis flagged dead code (libraries included but never called) - the false-positive argument for our runtime evidence. MAPS phrase every finding 'potential non-compliance' for legal prudence - we copied that. Lalaine - dynamic traffic + NLP on 5,102 iOS apps; 3,423 non-compliant labels: 3,281 neglect, 1,628 contrary, 677 inadequate - that typology is now a field in every report we emit.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Depth answers: </a:t>
            </a:r>
            <a:r>
              <a:rPr lang="en-US"/>
              <a:t>Trevisan - </a:t>
            </a:r>
            <a:r>
              <a:rPr lang="en-US" dirty="0"/>
              <a:t>CookieCheck instruments Chrome via DevTools Protocol in Docker; 179,310 visits over 15 days; violation = at least one profiling cookie before any interaction; profiling = third-party + in Ghostery∩Disconnect + lifetime ≥1 month (empirically justified: 80% of tracker cookies last ≥1 month); results invariant across 9 proxy countries and 7 </a:t>
            </a:r>
            <a:r>
              <a:rPr lang="en-US"/>
              <a:t>browsers - </a:t>
            </a:r>
            <a:r>
              <a:rPr lang="en-US" dirty="0"/>
              <a:t>so our single-vantage scans are methodologically fine. </a:t>
            </a:r>
            <a:r>
              <a:rPr lang="en-US"/>
              <a:t>Bouhoula - </a:t>
            </a:r>
            <a:r>
              <a:rPr lang="en-US" dirty="0"/>
              <a:t>banner detection via EasyList Cookie filter list + z-index + sentence segmentation; DFS through banner settings; three BERT/XGBoost models (declared purposes 97.6%, interactive elements 95.1%, cookie purpose P 98.7/R 91.9 via CookieBlock); decision tree → 10 violation types; models tuned conservative. </a:t>
            </a:r>
            <a:r>
              <a:rPr lang="en-US"/>
              <a:t>LegalBench - </a:t>
            </a:r>
            <a:r>
              <a:rPr lang="en-US" dirty="0"/>
              <a:t>162 tasks from 40 contributors, organized by IRAC; includes OPP-115-derived tasks. </a:t>
            </a:r>
            <a:r>
              <a:rPr lang="en-US"/>
              <a:t>Xie - </a:t>
            </a:r>
            <a:r>
              <a:rPr lang="en-US" dirty="0"/>
              <a:t>systematized 10 laws into 34 clauses across 4 themes; validated against expert annotation; average F1 </a:t>
            </a:r>
            <a:r>
              <a:rPr lang="en-US"/>
              <a:t>0.94 - </a:t>
            </a:r>
            <a:r>
              <a:rPr lang="en-US" dirty="0"/>
              <a:t>proof LLM-vs-codified-law works, but on text alone. Our addition is the practice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Table II of the literature review made concrete with the module that answers each gap. If asked 'why RAG and not just prompting': ungrounded generation hallucinates citations; retrieving the exact article makes every judgement </a:t>
            </a:r>
            <a:r>
              <a:rPr lang="en-US"/>
              <a:t>traceable - </a:t>
            </a:r>
            <a:r>
              <a:rPr lang="en-US" dirty="0"/>
              <a:t>and we verified this matters in practice (slide 11: the model once cited the wrong article because retrieval served a near-miss; the fix was retrieval-side, not prompt-side).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data flow left to right: regulations are chunked by legal unit (Article for GDPR/DPDP, </a:t>
            </a:r>
            <a:r>
              <a:rPr lang="en-US"/>
              <a:t>'6.-(</a:t>
            </a:r>
            <a:r>
              <a:rPr lang="en-US" dirty="0"/>
              <a:t>1)' UK-SI numbering for PECR, '1798.100.' for CCPA) so citations stay valid; embedded and stored once. Per scan: Playwright records the HAR, fingerprinting trap script raises alarms (canvas/WebGL/audio/WebRTC/battery/fonts), consent elements tagged in the DOM; extractor converts to a structured evidence dict; scraper captures the policy as markdown. The scorer assembles law+notice+practice per dimension and returns strict JSON. Everything downstream of the collector runs offline except the LLM call.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embedder story is the strongest answer to 'why this model': we chose legal-BERT for domain vocabulary (Polisis showed domain-specific embeddings help classification), discovered empirically that a raw BERT checkpoint without sentence-level training gives near-random retrieval (known anisotropy </a:t>
            </a:r>
            <a:r>
              <a:rPr lang="en-US"/>
              <a:t>problem - </a:t>
            </a:r>
            <a:r>
              <a:rPr lang="en-US" dirty="0"/>
              <a:t>cosine similarity ~0.72 for everything), and switched to all-mpnet-base-v2, a sentence-trained encoder. Retrieval went from ranking DPDP penalty clauses first to GDPR Art 7 first on the same query. Lesson for the paper: domain vocabulary does not compensate for missing sentence-level training. LLM: gpt-4o-mini chosen for cost + JSON mode; the scorer infers provider from the model name so Haiku/Sonnet are drop-ins; temperature 0 for reproducibility; formal selection will use LegalBench privacy tasks (F1 comparison).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adapted element is cited at the point of use in code comments and in the paper's Table IV. The distinction: I reuse validated RULES (the scientifically load-bearing </a:t>
            </a:r>
            <a:r>
              <a:rPr lang="en-US"/>
              <a:t>parts - </a:t>
            </a:r>
            <a:r>
              <a:rPr lang="en-US" dirty="0"/>
              <a:t>e.g. Trevisan's dual-list ∩ + ≥30-day lifetime definition survived peer review at PoPETs) but implement them inside our own pipeline, because the published tools produce aggregate crawl statistics, not the per-site structured evidence dicts an LLM prompt needs. Licences checked: Ghostery trackerdb is </a:t>
            </a:r>
            <a:r>
              <a:rPr lang="en-US"/>
              <a:t>CC-BY-NC-SA - </a:t>
            </a:r>
            <a:r>
              <a:rPr lang="en-US" dirty="0"/>
              <a:t>fine for academic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the supervisor prefers a code walkthrough, follow this table top to bottom in the repo: telemetry_collector.py (show the trap script and consent tagging), har_extractor.py (show the profiling-cookie rule with the Trevisan citation in the docstring), ingestion/compliance_loader.py (the legal-unit regex), rag/scorer.py (IRAC system prompt, evidence-discipline guard), then open compliance_reports/ and show the 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independent.ie: news media had the worst violation rates in Trevisan's study (86%). Interesting nuance: the strict profiling-cookie rule found ZERO pre-consent profiling </a:t>
            </a:r>
            <a:r>
              <a:rPr lang="en-US"/>
              <a:t>cookies - </a:t>
            </a:r>
            <a:r>
              <a:rPr lang="en-US" dirty="0"/>
              <a:t>the site's CMP appears to hold </a:t>
            </a:r>
            <a:r>
              <a:rPr lang="en-US"/>
              <a:t>cookies - </a:t>
            </a:r>
            <a:r>
              <a:rPr lang="en-US" dirty="0"/>
              <a:t>yet tracker REQUESTS to doubleclick/taboola/GA and fingerprinting API calls still fire pre-consent. That distinction (cookies held, requests not) is exactly what a cookie-only audit would miss and our telemetry catches. Policy quirk: independent.ie hosts its policies on parent mediahuis.</a:t>
            </a:r>
            <a:r>
              <a:rPr lang="en-US"/>
              <a:t>ie - </a:t>
            </a:r>
            <a:r>
              <a:rPr lang="en-US" dirty="0"/>
              <a:t>the cookie policy explicitly lists Independent.ie in scope, so the cross-reference is valid; our scraper needed a cross-domain fix to find it (logged).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pre-empts 'how do you know the LLM output is right</a:t>
            </a:r>
            <a:r>
              <a:rPr lang="en-US"/>
              <a:t>?' - </a:t>
            </a:r>
            <a:r>
              <a:rPr lang="en-US" dirty="0"/>
              <a:t>we don't assume it; we caught it being wrong twice, in two different components (prompt design, retrieval), fixed each at the correct layer and re-verified. Both incidents are dated in PROGRESS.md with before/after </a:t>
            </a:r>
            <a:r>
              <a:rPr lang="en-US"/>
              <a:t>JSON - </a:t>
            </a:r>
            <a:r>
              <a:rPr lang="en-US" dirty="0"/>
              <a:t>they become the error-analysis subsection of the evaluation chapter. Note failure 2 was NOT an LLM hallucination: the model followed instructions perfectly and quoted the retrieved </a:t>
            </a:r>
            <a:r>
              <a:rPr lang="en-US"/>
              <a:t>text - </a:t>
            </a:r>
            <a:r>
              <a:rPr lang="en-US" dirty="0"/>
              <a:t>the retriever served the wrong article. Grounding shifts the failure surface from generation to retrieval, where it is fixable deterministically.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evaluation is not </a:t>
            </a:r>
            <a:r>
              <a:rPr lang="en-US"/>
              <a:t>invented - </a:t>
            </a:r>
            <a:r>
              <a:rPr lang="en-US" dirty="0"/>
              <a:t>each element is the standard from a reviewed paper. If asked about ground truth: I annotate the sample myself against the article text with a documented rubric (and can validate a subset with the supervisor); inter-annotator agreement is out of scope for a capstone but acknowledged as a limitation, exactly as PrivacyQA motivates.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Item 4 is the differentiator to discuss with the supervisor: consent-scope-exceeded evidence (GDPR Art 7(1) scope of consent + Art 13). It extends the accept/reject protocol with an authenticated </a:t>
            </a:r>
            <a:r>
              <a:rPr lang="en-US"/>
              <a:t>state - </a:t>
            </a:r>
            <a:r>
              <a:rPr lang="en-US" dirty="0"/>
              <a:t>design notes already in PROGRESS.md backlog. Asking whether he wants it in scope for the final report or kept as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handing over the repo: PROGRESS.md (dated log), CODE_PROVENANCE.md (module-by-module), Implementation_Pointers.md (paper-to-code mapping), compliance_reports/ (both JSON runs). Everything claimed on these slides is reproducible from the repository.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55448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comp_square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48640" y="25146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LLM-Driven Retrieval-Augmented Privacy-Compliance Auditing for the Web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48640" y="32004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Research Update - Deliverable 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5120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Aaron Joseph Jean · 25233118 · University of Galway
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update · July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5897880"/>
            <a:ext cx="11064240" cy="457200"/>
          </a:xfrm>
          <a:prstGeom prst="roundRect">
            <a:avLst>
              <a:gd name="adj" fmla="val 20000"/>
            </a:avLst>
          </a:prstGeom>
          <a:solidFill>
            <a:srgbClr val="2A3878"/>
          </a:solidFill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end-to-end pipeline running - law retrieval + policy + runtime evidence → scored report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gap: no one triangulates law, notice and practice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evidence sources a compliance judgement needs are analysed in isolation by prior work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20116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85800" y="24505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· PECR · DPDP · CCPA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85800" y="288036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2F5FC"/>
          </a:solidFill>
          <a:ln/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legal reasoning exists - on clean, isolated text only (LegalBench, Xie)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471416" y="20116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471416" y="24505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site's written policy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471416" y="288036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2F5FC"/>
          </a:solidFill>
          <a:ln/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policy analysis exists - cannot verify actual behaviour (OPP-115, Polisis, PrivacyQA)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57032" y="201168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57032" y="2450592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 runtime behaviour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57032" y="2880360"/>
            <a:ext cx="3246120" cy="1051560"/>
          </a:xfrm>
          <a:prstGeom prst="roundRect">
            <a:avLst>
              <a:gd name="adj" fmla="val 6957"/>
            </a:avLst>
          </a:prstGeom>
          <a:solidFill>
            <a:srgbClr val="F2F5FC"/>
          </a:solidFill>
          <a:ln/>
        </p:spPr>
        <p:txBody>
          <a:bodyPr wrap="square" lIns="1524" tIns="1524" rIns="1524" bIns="1524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audits measure </a:t>
            </a:r>
            <a:r>
              <a:rPr lang="en-US" sz="12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never reconcile it with the policy (Trevisan, Bouhoula)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931920" y="3383280"/>
            <a:ext cx="50292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726680" y="3383280"/>
            <a:ext cx="50292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429768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1E2761"/>
          </a:solidFill>
          <a:ln/>
        </p:spPr>
        <p:txBody>
          <a:bodyPr wrap="square" lIns="1905" tIns="1905" rIns="1905" bIns="1905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comp_square: a RAG pipeline that retrieves the legal standard, reads the scraped policy in full, and injects runtime HAR/JS telemetry - so the LLM judges all three together, per compliance dimension.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54406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notice-vs-practice systems exist only for mobile app binaries via static analysis (Zimmeck, MAPS, Lalaine) - the dynamic web is unaddressed.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165592" y="6473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comp_square · primary research update - 2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paper contributes - I: policy text &amp; mobile hybrid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just related work: every paper contributes a tested rule, dataset or design principle to the build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3950208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Adopted into comp_square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Wilson '16 - OPP-115 (ACL)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115 policies, 23k practices annotated by law students into 10 categories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shallow classifiers; text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requirement-type taxonomy for legal chunks; labelled evaluation data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Harkous '18 - Polisis (USENIX)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on 130k policies; 88.4% segment classification; QA bot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verify behaviour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segment-level routing of long policies; domain-embedding lesson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Ravichander '19 - PrivacyQA (EMNLP)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1,750 expert-annotated questions; large human–model gap; many unanswerable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extractive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NOT_ADDRESSED verdict + confidence - never force PASS/FAIL on silence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Zimmeck '17 (NDSS) / MAPS '19 (PoPETs)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classifiers + static analysis; scaled to 1M+ Android apps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static; dead-code false positives; mobile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closed practice set checkable in text AND behaviour; “potential violation” wording; cheap-model-first tiering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Xiao '23 - Lalaine (USENIX)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5,102 iOS apps vs privacy labels; 3,423 non-compliant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iOS labels, not web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discrepancy typology: neglect / contrary / inadequate - in our report schema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65592" y="6473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comp_square · primary research update - 3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each paper contributes - II: web audits &amp; LLM legal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directions closest to us - and what they still cannot do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91672" cy="393192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result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Adopted into comp_square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Trevisan '19 - CookieCheck (PoPETs)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35,862 sites: 49% set profiling cookies pre-consent (86% news); invariant to browser/location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ignores policy text; Set-Cookie headers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profiling-cookie rule (3rd-party ∧ both tracker lists ∧ ≥30d); clean-profile no-interaction protocol; single-vantage scanning justified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Bouhoula '24 - alsacnc (USENIX)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97k EU sites, CMP-independent; 65.4% of sites with a reject option still collect data after rejection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policy cross-reference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AA-cookie definition; conservative tuning; banner-detection heuristics (EasyList Cookie + z-index) for our collector upgrade - code is open source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Guha '23 - LegalBench (NeurIPS)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162 legal-reasoning tasks; LLMs can apply rules to facts (IRAC)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 isolated text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IRAC prompt structure: Issue = dimension, Rule = retrieved article, Facts = policy + telemetry; benchmark for scorer-LLM selection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863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Xie '25 (USENIX)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 clauses from 10 laws; LLM scored 100k+ policies, F1 ≥ 0.84 (avg 0.94)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text only - no runtime evidence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 coverage validated against their 34 clauses; their expert-annotated per-clause F1 protocol = our evaluation design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548640" y="58064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these is cited at the exact point of use in the code and in Table IV of the literature review.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165592" y="6473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comp_square · primary research update - 4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 → design decision - nothing chosen in the abstract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answer to: “what gaps are you addressing?”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19072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17320" y="1463040"/>
            <a:ext cx="8229600" cy="1115568"/>
          </a:xfrm>
          <a:prstGeom prst="roundRect">
            <a:avLst>
              <a:gd name="adj" fmla="val 6557"/>
            </a:avLst>
          </a:prstGeom>
          <a:solidFill>
            <a:srgbClr val="F2F5FC"/>
          </a:solidFill>
          <a:ln/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Text-only NLP cannot verify behaviour  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Cross-reference policy claims against runtime telemetry (notice vs practice)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829800" y="1691640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har_extractor.py + scorer.py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" y="292608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2670048"/>
            <a:ext cx="8229600" cy="1115568"/>
          </a:xfrm>
          <a:prstGeom prst="roundRect">
            <a:avLst>
              <a:gd name="adj" fmla="val 6557"/>
            </a:avLst>
          </a:prstGeom>
          <a:solidFill>
            <a:srgbClr val="F2F5FC"/>
          </a:solidFill>
          <a:ln/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auditing limited to static mobile binaries  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Dynamic headless-browser instrumentation: HAR + JS events + consent-UI state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829800" y="289864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telemetry_collector.py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4133088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17320" y="3877056"/>
            <a:ext cx="8229600" cy="1115568"/>
          </a:xfrm>
          <a:prstGeom prst="roundRect">
            <a:avLst>
              <a:gd name="adj" fmla="val 6557"/>
            </a:avLst>
          </a:prstGeom>
          <a:solidFill>
            <a:srgbClr val="F2F5FC"/>
          </a:solidFill>
          <a:ln/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auditing ignores the written policy  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Scraped policy injected IN FULL alongside consent/network evidence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829800" y="4105656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policy_scraper_2.py + scorer.py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48640" y="5340096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5084064"/>
            <a:ext cx="8229600" cy="1115568"/>
          </a:xfrm>
          <a:prstGeom prst="roundRect">
            <a:avLst>
              <a:gd name="adj" fmla="val 6557"/>
            </a:avLst>
          </a:prstGeom>
          <a:solidFill>
            <a:srgbClr val="F2F5FC"/>
          </a:solidFill>
          <a:ln/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reason over law without grounded evidence   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RAG over a legal vector store - the exact article text is retrieved and quoted, never recalled from memory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829800" y="5312664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ingest.py + retriever.py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165592" y="6473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comp_square · primary research update - 5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- three phases converge on the RAG scorer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zones implemented and tested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91840" cy="3931920"/>
          </a:xfrm>
          <a:prstGeom prst="roundRect">
            <a:avLst>
              <a:gd name="adj" fmla="val 2778"/>
            </a:avLst>
          </a:prstGeom>
          <a:solidFill>
            <a:srgbClr val="F2F5FC"/>
          </a:solidFill>
          <a:ln w="12700">
            <a:solidFill>
              <a:srgbClr val="C4CEE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4447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1 · Pre-loaded (once)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28346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· PECR · DPDP
</a:t>
            </a:r>
            <a:r>
              <a:rPr lang="en-US" sz="9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 + 54 + chunks ingested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2971800"/>
            <a:ext cx="28346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LegalDocumentChunker
</a:t>
            </a:r>
            <a:r>
              <a:rPr lang="en-US" sz="9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Article / Reg / § - not tokens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886200"/>
            <a:ext cx="28346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all-mpnet-base-v2
</a:t>
            </a:r>
            <a:r>
              <a:rPr lang="en-US" sz="9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sentence embeddings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4800600"/>
            <a:ext cx="28346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compliance_docs
</a:t>
            </a:r>
            <a:r>
              <a:rPr lang="en-US" sz="9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metadata: reg, article, type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60520" y="1828800"/>
            <a:ext cx="3291840" cy="3931920"/>
          </a:xfrm>
          <a:prstGeom prst="roundRect">
            <a:avLst>
              <a:gd name="adj" fmla="val 2778"/>
            </a:avLst>
          </a:prstGeom>
          <a:solidFill>
            <a:srgbClr val="F2F5FC"/>
          </a:solidFill>
          <a:ln w="12700">
            <a:solidFill>
              <a:srgbClr val="C4CEE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160520" y="14447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2 · Runtime (per site)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389120" y="2057400"/>
            <a:ext cx="28346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collector
</a:t>
            </a:r>
            <a:r>
              <a:rPr lang="en-US" sz="9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 + JS traps + consent UI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2971800"/>
            <a:ext cx="28346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har_extractor
</a:t>
            </a:r>
            <a:r>
              <a:rPr lang="en-US" sz="9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profiling-cookie rule (Trevisan)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89120" y="3886200"/>
            <a:ext cx="283464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policy_scraper
</a:t>
            </a:r>
            <a:r>
              <a:rPr lang="en-US" sz="9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policy .md (notice)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0" y="1828800"/>
            <a:ext cx="3840480" cy="3931920"/>
          </a:xfrm>
          <a:prstGeom prst="roundRect">
            <a:avLst>
              <a:gd name="adj" fmla="val 2381"/>
            </a:avLst>
          </a:prstGeom>
          <a:solidFill>
            <a:srgbClr val="F2F5FC"/>
          </a:solidFill>
          <a:ln w="12700">
            <a:solidFill>
              <a:srgbClr val="C4CEE4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72400" y="144475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ZONE 3 · Evaluation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01000" y="2057400"/>
            <a:ext cx="33832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Dimension-anchored retrieval
</a:t>
            </a:r>
            <a:r>
              <a:rPr lang="en-US" sz="9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articles fetched deterministically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01000" y="2971800"/>
            <a:ext cx="33832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IRAC scorer (LLM, temp 0)
</a:t>
            </a:r>
            <a:r>
              <a:rPr lang="en-US" sz="9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dimensions · JSON verdicts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01000" y="3886200"/>
            <a:ext cx="338328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1E2761"/>
            </a:solidFill>
          </a:ln>
        </p:spPr>
        <p:txBody>
          <a:bodyPr wrap="square" lIns="635" tIns="635" rIns="635" bIns="635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Severity-weighted report
</a:t>
            </a:r>
            <a:r>
              <a:rPr lang="en-US" sz="9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article + quote + fix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794760" y="3749040"/>
            <a:ext cx="3657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7452360" y="3749040"/>
            <a:ext cx="32004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828800" y="59893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1 DONE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94960" y="59893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2 DONE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235440" y="598932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2C5F2D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3 LIVE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165592" y="6473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comp_square · primary research update - 6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choices - and the evidence behind each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answer to: “what model are you choosing and why?”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Embedder - changed on evidence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2F5FC"/>
          </a:solidFill>
          <a:ln/>
        </p:spPr>
        <p:txBody>
          <a:bodyPr wrap="square" lIns="1778" tIns="1778" rIns="1778" bIns="1778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legal-BERT → all-mpnet-base-v2</a:t>
            </a:r>
            <a:endParaRPr lang="en-US" sz="12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 (legal-BERT): legal vocabulary - but it is a raw BERT, not sentence-trained</a:t>
            </a:r>
            <a:endParaRPr lang="en-US" sz="12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Measured: near-uniform similarities (~0.72 for everything); cookie-consent query ranked DPDP penalty clauses above GDPR Art 7</a:t>
            </a:r>
            <a:endParaRPr lang="en-US" sz="12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switch: Art 7 top-ranked, clean score separation</a:t>
            </a:r>
            <a:endParaRPr lang="en-US" sz="12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Documented as an empirical finding for the paper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288536" y="14630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Scorer LLM - provider-agnostic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288536" y="192024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2F5FC"/>
          </a:solidFill>
          <a:ln/>
        </p:spPr>
        <p:txBody>
          <a:bodyPr wrap="square" lIns="1778" tIns="1778" rIns="1778" bIns="1778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 today; Claude Haiku drop-in</a:t>
            </a:r>
            <a:endParaRPr lang="en-US" sz="12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 per-dimension scoring needs cheap + strict JSON (OpenAI JSON mode / Anthropic)</a:t>
            </a:r>
            <a:endParaRPr lang="en-US" sz="12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= 0 - reproducible runs for evaluation</a:t>
            </a:r>
            <a:endParaRPr lang="en-US" sz="12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MAPS-style tiering: small model scores 15 dimensions; larger model reserved for report prose</a:t>
            </a:r>
            <a:endParaRPr lang="en-US" sz="12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to be benchmarked on LegalBench privacy tasks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028432" y="14630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Retrieval - anchored + filtered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028432" y="192024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2F5FC"/>
          </a:solidFill>
          <a:ln/>
        </p:spPr>
        <p:txBody>
          <a:bodyPr wrap="square" lIns="1778" tIns="1778" rIns="1778" bIns="1778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25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alone was not enough</a:t>
            </a:r>
            <a:endParaRPr lang="en-US" sz="12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filters: requirement_type + regulation</a:t>
            </a:r>
            <a:endParaRPr lang="en-US" sz="12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Dimension-anchored retrieval: each dimension's known articles (e.g. GDPR 13, PECR 6) fetched deterministically, placed ahead of semantic hits</a:t>
            </a:r>
            <a:endParaRPr lang="en-US" sz="1250" dirty="0"/>
          </a:p>
          <a:p>
            <a:pPr marL="101600" indent="-1016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Motivated by an observed Art 19 vs Art 13(1)(e) near-miss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165592" y="6473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comp_square · primary research update - 7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provenance - mine · adapted · reused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answer to: “what code is yours? why not use the existing code?” · full mapping in CODE_PROVENANCE.md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3611880" cy="41148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WRITTEN BY ME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2F5FC"/>
          </a:solidFill>
          <a:ln/>
        </p:spPr>
        <p:txBody>
          <a:bodyPr wrap="square" lIns="1778" tIns="1778" rIns="1778" bIns="1778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telemetry_collector.py (traps, HAR, consent-UI tagging)</a:t>
            </a:r>
            <a:endParaRPr lang="en-US" sz="115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policy_scraper_2.py + llm_policy_assistant.py</a:t>
            </a:r>
            <a:endParaRPr lang="en-US" sz="115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LegalDocumentChunker + ingestion + vectordb</a:t>
            </a:r>
            <a:endParaRPr lang="en-US" sz="115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har_extractor.py, rag/dimensions·retriever·scorer</a:t>
            </a:r>
            <a:endParaRPr lang="en-US" sz="115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suites, fixtures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288536" y="1508760"/>
            <a:ext cx="3611880" cy="411480"/>
          </a:xfrm>
          <a:prstGeom prst="roundRect">
            <a:avLst>
              <a:gd name="adj" fmla="val 13333"/>
            </a:avLst>
          </a:prstGeom>
          <a:solidFill>
            <a:srgbClr val="3E4C8A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ADAPTED (methodology, cited)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288536" y="201168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2F5FC"/>
          </a:solidFill>
          <a:ln/>
        </p:spPr>
        <p:txBody>
          <a:bodyPr wrap="square" lIns="1778" tIns="1778" rIns="1778" bIns="1778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Trevisan: profiling-cookie rule + visit protocol</a:t>
            </a:r>
            <a:endParaRPr lang="en-US" sz="115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Bouhoula: AA-cookie definition, conservative tuning, banner heuristics (planned)</a:t>
            </a:r>
            <a:endParaRPr lang="en-US" sz="115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Lalaine: neglect/contrary/inadequate typology</a:t>
            </a:r>
            <a:endParaRPr lang="en-US" sz="115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LegalBench: IRAC prompt · PrivacyQA: abstention</a:t>
            </a:r>
            <a:endParaRPr lang="en-US" sz="115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MAPS: “potential violation” wording, cost tiering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028432" y="1508760"/>
            <a:ext cx="3611880" cy="411480"/>
          </a:xfrm>
          <a:prstGeom prst="roundRect">
            <a:avLst>
              <a:gd name="adj" fmla="val 13333"/>
            </a:avLst>
          </a:prstGeom>
          <a:solidFill>
            <a:srgbClr val="6B7BB8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REUSED AS-IS (licensed)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28432" y="2011680"/>
            <a:ext cx="3611880" cy="3108960"/>
          </a:xfrm>
          <a:prstGeom prst="roundRect">
            <a:avLst>
              <a:gd name="adj" fmla="val 2353"/>
            </a:avLst>
          </a:prstGeom>
          <a:solidFill>
            <a:srgbClr val="F2F5FC"/>
          </a:solidFill>
          <a:ln/>
        </p:spPr>
        <p:txBody>
          <a:bodyPr wrap="square" lIns="1778" tIns="1778" rIns="1778" bIns="1778" rtlCol="0" anchor="t"/>
          <a:lstStyle/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 services.json (tracker list A)</a:t>
            </a:r>
            <a:endParaRPr lang="en-US" sz="115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Ghostery trackerdb (list B, CC-BY-NC-SA)</a:t>
            </a:r>
            <a:endParaRPr lang="en-US" sz="115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llama-index, ChromaDB, Playwright, sentence-transformers (libraries)</a:t>
            </a:r>
            <a:endParaRPr lang="en-US" sz="1150" dirty="0"/>
          </a:p>
          <a:p>
            <a:pPr marL="101600" indent="-1016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Planned: EasyList Cookie, OPP-115, PrivacyQA, LegalBench (evaluation data)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534924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EDF1FA"/>
          </a:solidFill>
          <a:ln/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not run CookieCheck / alsacnc directly?  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CookieCheck (2017): unmaintained, measurement-only, aggregate statistics. alsacnc: infrastructure for 97k-site crawls (Postgres + GPU + translation stack). Both answer “how many sites violate?” - we answer “what is THIS site doing wrong, under which article, contradicted by which policy sentence?” No existing system does law+notice+practice; we adopt their validated rules, not their pipelines.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165592" y="6473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comp_square · primary research update - 8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and verified - module status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dated in PROGRESS.md; regression tests run offline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1672" cy="4535424"/>
        </p:xfrm>
        <a:graphic>
          <a:graphicData uri="http://schemas.openxmlformats.org/drawingml/2006/table">
            <a:tbl>
              <a:tblPr/>
              <a:tblGrid>
                <a:gridCol w="5760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764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 err="1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telemetry_collector.py</a:t>
                      </a: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- HAR, fingerprint traps, consent-UI tagging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 (Mar)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captures: facebook, overleaf, independent.ie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policy_scraper_2.py - discovery, classification, markdown export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 (Mar)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facebook, instagram, galway, mediahuis scraped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ingestion - HTML/PDF chunking by legal unit + ChromaDB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 (Jul 12)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GDPR → exactly 99 article chunks, 0 dups; PECR Reg 6 captured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 err="1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har_extractor.py</a:t>
                      </a: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- profiling-cookie rule, evidence dict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DONE (Jul 12)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 tests (rule in/exclusions, dedup, Lalaine typology) + 3 real sites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rag/ - dimensions, anchored retrieval, IRAC scorer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C5F2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LIVE (Jul 12-13)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scored runs on independent.ie; prompt guards verified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Banner interaction (accept/reject protocol, Bouhoula heuristics)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A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 err="1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report_builder.py</a:t>
                      </a: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- executive summary (larger model)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A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65592" y="6473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comp_square · primary research update - 9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First live audit - www.independent.ie (news site)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Clean-profile first visit, no consent interaction · GDPR + PECR · gpt-4o-mini, temp 0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domains contacted pre-consent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383280" y="1554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3383280" y="2377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 eTLD+1s incl. doubleclick, taboola, GA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217920" y="1554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6217920" y="2377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fingerprinting alarms (WebRTC ×3, battery)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052560" y="15544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9052560" y="23774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pre-consent profiling cookies (strict rule)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200400"/>
          <a:ext cx="11091672" cy="219456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605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Dimension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finding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tracking_without_consent (PECR Reg 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tracker requests + fingerprinting fired before any consent - discrepancy: contrary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disclosure_of_third_parties (GDPR 13(1)(e)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policy names no recipients; 15 tracker domains observed - “we may partner with third parties” quoted as inadequate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pre_consent_tracking (GDPR 7 / PECR 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9A6A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profiling cookies observed + consent UI present; policy does not affirm consent-first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" name="Text 10"/>
          <p:cNvSpPr/>
          <p:nvPr/>
        </p:nvSpPr>
        <p:spPr>
          <a:xfrm>
            <a:off x="548640" y="5806440"/>
            <a:ext cx="11091672" cy="502920"/>
          </a:xfrm>
          <a:prstGeom prst="roundRect">
            <a:avLst>
              <a:gd name="adj" fmla="val 14545"/>
            </a:avLst>
          </a:prstGeom>
          <a:solidFill>
            <a:srgbClr val="1E2761"/>
          </a:solidFill>
          <a:ln/>
        </p:spPr>
        <p:txBody>
          <a:bodyPr wrap="square" lIns="1270" tIns="1270" rIns="1270" bIns="127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26 / 100 - POTENTIAL NON-COMPLIANCE   ·   every verdict carries the article text, a policy quote, behavioural evidence and a recommended fix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65592" y="6473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comp_square · primary research update - 10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analysis - found, diagnosed, fixed, re-verified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evaluation loop working: baseline → diagnose → fix → re-run (all dated in PROGRESS.md)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2057400"/>
            <a:ext cx="640080" cy="640080"/>
          </a:xfrm>
          <a:prstGeom prst="ellipse">
            <a:avLst/>
          </a:prstGeom>
          <a:solidFill>
            <a:srgbClr val="B3261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417320"/>
            <a:ext cx="10241280" cy="2148840"/>
          </a:xfrm>
          <a:prstGeom prst="roundRect">
            <a:avLst>
              <a:gd name="adj" fmla="val 3404"/>
            </a:avLst>
          </a:prstGeom>
          <a:solidFill>
            <a:srgbClr val="F2F5FC"/>
          </a:solidFill>
          <a:ln/>
        </p:spPr>
        <p:txBody>
          <a:bodyPr wrap="square" lIns="2032" tIns="2032" rIns="2032" bIns="2032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over-condemnation (hallucinated evidence)
</a:t>
            </a:r>
            <a:r>
              <a:rPr lang="en-US" sz="11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Observed: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pre_consent_tracking scored FAIL 0 @ confidence 1.0 - but the extractor had found no profiling cookies; the model invented cookie installations and misread our no-interaction protocol as the site lacking a consent mechanism
</a:t>
            </a:r>
            <a:r>
              <a:rPr lang="en-US" sz="115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ambiguity: “consent interaction: none” described OUR crawler, not the site
</a:t>
            </a: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PROTOCOL NOTE in the evidence block; hard guard: empty evidence ⇒ must not assert behavioural violation; “Evidence discipline” rules in system prompt
</a:t>
            </a: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Re-run: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flipped to PARTIAL 50 @ 0.8 with behavioral_evidence: null and policy-only reasoning 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640080" cy="640080"/>
          </a:xfrm>
          <a:prstGeom prst="ellipse">
            <a:avLst/>
          </a:prstGeom>
          <a:solidFill>
            <a:srgbClr val="B3261E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3794760"/>
            <a:ext cx="10241280" cy="2148840"/>
          </a:xfrm>
          <a:prstGeom prst="roundRect">
            <a:avLst>
              <a:gd name="adj" fmla="val 3404"/>
            </a:avLst>
          </a:prstGeom>
          <a:solidFill>
            <a:srgbClr val="F2F5FC"/>
          </a:solidFill>
          <a:ln/>
        </p:spPr>
        <p:txBody>
          <a:bodyPr wrap="square" lIns="2032" tIns="2032" rIns="2032" bIns="2032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near-miss (wrong article cited)
</a:t>
            </a:r>
            <a:r>
              <a:rPr lang="en-US" sz="115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Observed: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disclosure_of_third_parties verdict cited GDPR Art 19 (rectification notification) instead of Art 13(1)(e)
</a:t>
            </a:r>
            <a:r>
              <a:rPr lang="en-US" sz="1150" b="1" dirty="0">
                <a:solidFill>
                  <a:srgbClr val="9A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Diagnosis: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embedding ranked Art 19's “recipient to whom data have been disclosed” above Art 13 - the LLM obeyed “cite only the Rule”; the Rule was wrong
</a:t>
            </a: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dimension-anchored retrieval: each dimension's known articles fetched deterministically by metadata, placed ahead of semantic hits (verified for all 15 dimensions)
</a:t>
            </a: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Re-run: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pending - expected Art 13(1)(e) with discrepancy: inadequate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165592" y="6473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comp_square · primary research update - 11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plan - adopted from the reviewed papers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Measurable, reproducible, literature-grounded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2F5FC"/>
          </a:solidFill>
          <a:ln/>
        </p:spPr>
        <p:txBody>
          <a:bodyPr wrap="square" lIns="2032" tIns="2032" rIns="2032" bIns="2032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Per-dimension F1 vs expert annotation
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Hand-label a site sample (news / SaaS / education / public sector), compare scorer verdicts → per-dimension precision, recall, F1
</a:t>
            </a:r>
            <a:r>
              <a:rPr lang="en-US" sz="105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from Xie et al. '25 (they report avg F1 0.94 on text-only)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172200" y="155448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2F5FC"/>
          </a:solidFill>
          <a:ln/>
        </p:spPr>
        <p:txBody>
          <a:bodyPr wrap="square" lIns="2032" tIns="2032" rIns="2032" bIns="2032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Scorer-LLM selection
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candidate models on LegalBench privacy tasks + our labelled sample; pick on F1 per dollar
</a:t>
            </a:r>
            <a:r>
              <a:rPr lang="en-US" sz="105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LegalBench, Guha et al. '23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2F5FC"/>
          </a:solidFill>
          <a:ln/>
        </p:spPr>
        <p:txBody>
          <a:bodyPr wrap="square" lIns="2032" tIns="2032" rIns="2032" bIns="2032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Detection-rule validation
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 verdicts vs published baselines (49% pre-consent rate, news-sector worst) on a small crawl
</a:t>
            </a:r>
            <a:r>
              <a:rPr lang="en-US" sz="105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Trevisan '19 / Bouhoula '24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172200" y="3840480"/>
            <a:ext cx="5440680" cy="2011680"/>
          </a:xfrm>
          <a:prstGeom prst="roundRect">
            <a:avLst>
              <a:gd name="adj" fmla="val 3636"/>
            </a:avLst>
          </a:prstGeom>
          <a:solidFill>
            <a:srgbClr val="F2F5FC"/>
          </a:solidFill>
          <a:ln/>
        </p:spPr>
        <p:txBody>
          <a:bodyPr wrap="square" lIns="2032" tIns="2032" rIns="2032" bIns="2032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
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0 + pinned tracker lists + versioned prompts; repeat-run variance reported
</a:t>
            </a:r>
            <a:r>
              <a:rPr lang="en-US" sz="105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engineering practice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59436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banked for the paper: the legal-BERT retrieval failure, the over-condemnation fix, and the anchored-retrieval fix - three documented empirical findings.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165592" y="6473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comp_square · primary research update - 12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Remaining work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Ordered; each item has its literature source and landing module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00784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371600" y="1463040"/>
            <a:ext cx="8412480" cy="1078992"/>
          </a:xfrm>
          <a:prstGeom prst="roundRect">
            <a:avLst>
              <a:gd name="adj" fmla="val 6780"/>
            </a:avLst>
          </a:prstGeom>
          <a:solidFill>
            <a:srgbClr val="F2F5FC"/>
          </a:solidFill>
          <a:ln/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Consent-banner interaction - accept / reject / no-interaction protocol (EasyList Cookie + z-index heuristics from alsacnc); enables the strongest test: tracking AFTER explicit rejection (65.4% of sites fail it)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921240" y="1682496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telemetry_collector.py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2871216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2633472"/>
            <a:ext cx="8412480" cy="1078992"/>
          </a:xfrm>
          <a:prstGeom prst="roundRect">
            <a:avLst>
              <a:gd name="adj" fmla="val 6780"/>
            </a:avLst>
          </a:prstGeom>
          <a:solidFill>
            <a:srgbClr val="F2F5FC"/>
          </a:solidFill>
          <a:ln/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report_builder.py</a:t>
            </a: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executive-summary prose over the JSON (larger model), HTML/PDF render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21240" y="2852928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rag/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4041648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3803904"/>
            <a:ext cx="8412480" cy="1078992"/>
          </a:xfrm>
          <a:prstGeom prst="roundRect">
            <a:avLst>
              <a:gd name="adj" fmla="val 6780"/>
            </a:avLst>
          </a:prstGeom>
          <a:solidFill>
            <a:srgbClr val="F2F5FC"/>
          </a:solidFill>
          <a:ln/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CCPA ingestion (correct codified text) + cleaner DPDP source; multi-site evaluation batch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921240" y="40233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compliance_docs/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5212080"/>
            <a:ext cx="640080" cy="640080"/>
          </a:xfrm>
          <a:prstGeom prst="ellipse">
            <a:avLst/>
          </a:prstGeom>
          <a:solidFill>
            <a:srgbClr val="9A6A0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71600" y="4974336"/>
            <a:ext cx="8412480" cy="1078992"/>
          </a:xfrm>
          <a:prstGeom prst="roundRect">
            <a:avLst>
              <a:gd name="adj" fmla="val 6780"/>
            </a:avLst>
          </a:prstGeom>
          <a:solidFill>
            <a:srgbClr val="F2F5FC"/>
          </a:solidFill>
          <a:ln/>
        </p:spPr>
        <p:txBody>
          <a:bodyPr wrap="square" lIns="1778" tIns="1778" rIns="1778" bIns="1778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Post-login observation - second capture pass after authentication: what is collected once logged in vs what was consented to. No reviewed paper does this for the web - novel contribution, scoped as extension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921240" y="519379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collector + extractor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165592" y="647395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comp_square · primary research update - 13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71600" y="175564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pipeline exists and produced a real, article-cited compliance report - the gap identified in the literature review is now a running system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9718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289864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design decision traces to a reviewed paper; every borrowed rule is cited at its point of use; provenance is documented per module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566928" cy="566928"/>
          </a:xfrm>
          <a:prstGeom prst="ellipse">
            <a:avLst/>
          </a:prstGeom>
          <a:solidFill>
            <a:srgbClr val="CADCFC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4041648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failures were found by testing, diagnosed to the correct layer, fixed and re-verified - the evaluation methodology is already producing findings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57784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2A3878"/>
          </a:solidFill>
          <a:ln/>
        </p:spPr>
        <p:txBody>
          <a:bodyPr wrap="square" lIns="1905" tIns="1905" rIns="1905" bIns="1905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discussion:  scope of post-login observation · evaluation sample size · target venue for the write-up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1509</TotalTime>
  <Words>4035</Words>
  <Application>Microsoft Macintosh PowerPoint</Application>
  <PresentationFormat>Widescreen</PresentationFormat>
  <Paragraphs>266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Jean, Aaron Joseph</cp:lastModifiedBy>
  <cp:revision>2</cp:revision>
  <dcterms:created xsi:type="dcterms:W3CDTF">2026-07-13T21:49:14Z</dcterms:created>
  <dcterms:modified xsi:type="dcterms:W3CDTF">2026-07-14T23:01:33Z</dcterms:modified>
</cp:coreProperties>
</file>