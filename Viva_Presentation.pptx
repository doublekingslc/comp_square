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Open on the title itself — the gap between what a site says and what it does is the entire project in one line. Then: I'll cover the problem, what the literature does and doesn't give us, the system, what testing showed, and where it falls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Lead with the example, not the abstraction — it makes everything afterwards concrete. The cookie detail matters: the site's consent platform behaves correctly on cookies, which is why a cookie-only audit finds little here. Say the word 'recipients' — it maps to Article 13(1)(e), which comes back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Define notice and practice explicitly here — the external may not use those terms. The research question is on the slide; read it out, it anchors everything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Do not read the table. The line to deliver is the last one — PrivacyQA is why NOT_ADDRESSED exists as a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[2:45] This group proves the comparison is automatable — that is why it matters. Their weakness is my argument: static analysis invents violations from dead code. Runtime evidence does not have that failure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 Be ready to justify each of the three conditions — this is the single most likely detailed question about a borrowed method. The invariance result is what justifies auditing from one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[4:15] End the literature section on Xie's own admission. It is the cleanest possible hand-off into the contribution.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 Deliver the headline line and pause before moving to the table. The closing sentence pre-empts 'why this design?' — worth saying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[5:45] Walk left to right. Justify chunking by article: a verdict must quote a specific provision, so a fixed-size chunk would make citation meaningless. Note the traps wrap the original function so nothing breaks.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[6:45] Do not read the table. Name two: har_extractor, where the deterministic rules live, and verify_report, which answers 'how do you know it isn't inventing things'. Then invite them to open any module — but only say that if you have actually rehearsed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[7:30] The last sentence is the one to land — counting failures is a methodological choice, not an accident.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[8:15] Lead with the box on the right, not the sector table. This is the most interesting result in the project because it updates the earlier literature rather than reproducing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[9:00] Deliver the zero clearly, then immediately volunteer the two verifier defects. Conceding before being asked is much stronger than being caught. If pressed on whether the checker is weak: it was validated against planted faults — a fabricated domain, an invented cookie, an ungrounded citation — and caught all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[10:00] This slide exists to pre-empt the sharpest question available — that grounding is not accuracy. Volunteering the CDN example shows you know exactly where your evaluation stops. Do not skip this slide even if running 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[11:00] Frame the first one as the most useful result of the evaluation: a limitation of my own tool, found by my own instrumentation. That framing is what turns a weakness into evidence of rigour.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[11:45] Close on the post-login idea as the natural continuation, then the two summary lines. Then stop — the remaining eighteen minutes are where the marks are. Do not fill silence.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94360" y="1463040"/>
            <a:ext cx="10058400" cy="1371600"/>
          </a:xfrm>
          <a:prstGeom prst="rect">
            <a:avLst/>
          </a:prstGeom>
          <a:noFill/>
          <a:ln/>
        </p:spPr>
        <p:txBody>
          <a:bodyPr wrap="square" lIns="0" tIns="0" rIns="0" bIns="0" rtlCol="0" anchor="ctr"/>
          <a:lstStyle/>
          <a:p>
            <a:pPr indent="0" marL="0">
              <a:lnSpc>
                <a:spcPts val="4200"/>
              </a:lnSpc>
              <a:buNone/>
            </a:pPr>
            <a:r>
              <a:rPr lang="en-US" sz="3800" b="1" dirty="0">
                <a:solidFill>
                  <a:srgbClr val="A6093D"/>
                </a:solidFill>
                <a:latin typeface="Calibri" pitchFamily="34" charset="0"/>
                <a:ea typeface="Calibri" pitchFamily="34" charset="-122"/>
                <a:cs typeface="Calibri" pitchFamily="34" charset="-120"/>
              </a:rPr>
              <a:t>What a website says,</a:t>
            </a:r>
            <a:endParaRPr lang="en-US" sz="3800" dirty="0"/>
          </a:p>
          <a:p>
            <a:pPr indent="0" marL="0">
              <a:lnSpc>
                <a:spcPts val="4200"/>
              </a:lnSpc>
              <a:buNone/>
            </a:pPr>
            <a:r>
              <a:rPr lang="en-US" sz="3800" b="1" dirty="0">
                <a:solidFill>
                  <a:srgbClr val="A6093D"/>
                </a:solidFill>
                <a:latin typeface="Calibri" pitchFamily="34" charset="0"/>
                <a:ea typeface="Calibri" pitchFamily="34" charset="-122"/>
                <a:cs typeface="Calibri" pitchFamily="34" charset="-120"/>
              </a:rPr>
              <a:t>and what it actually does</a:t>
            </a:r>
            <a:endParaRPr lang="en-US" sz="3800" dirty="0"/>
          </a:p>
        </p:txBody>
      </p:sp>
      <p:sp>
        <p:nvSpPr>
          <p:cNvPr id="3" name="Text 1"/>
          <p:cNvSpPr/>
          <p:nvPr/>
        </p:nvSpPr>
        <p:spPr>
          <a:xfrm>
            <a:off x="594360" y="2971800"/>
            <a:ext cx="10515600" cy="411480"/>
          </a:xfrm>
          <a:prstGeom prst="rect">
            <a:avLst/>
          </a:prstGeom>
          <a:noFill/>
          <a:ln/>
        </p:spPr>
        <p:txBody>
          <a:bodyPr wrap="square" lIns="0" tIns="0" rIns="0" bIns="0" rtlCol="0" anchor="ctr"/>
          <a:lstStyle/>
          <a:p>
            <a:pPr indent="0" marL="0">
              <a:buNone/>
            </a:pPr>
            <a:r>
              <a:rPr lang="en-US" sz="1800" dirty="0">
                <a:solidFill>
                  <a:srgbClr val="222222"/>
                </a:solidFill>
                <a:latin typeface="Calibri" pitchFamily="34" charset="0"/>
                <a:ea typeface="Calibri" pitchFamily="34" charset="-122"/>
                <a:cs typeface="Calibri" pitchFamily="34" charset="-120"/>
              </a:rPr>
              <a:t>Retrieval-augmented compliance auditing for the web</a:t>
            </a:r>
            <a:endParaRPr lang="en-US" sz="1800" dirty="0"/>
          </a:p>
        </p:txBody>
      </p:sp>
      <p:sp>
        <p:nvSpPr>
          <p:cNvPr id="4" name="Shape 2"/>
          <p:cNvSpPr/>
          <p:nvPr/>
        </p:nvSpPr>
        <p:spPr>
          <a:xfrm>
            <a:off x="594360" y="4937760"/>
            <a:ext cx="3840480" cy="0"/>
          </a:xfrm>
          <a:prstGeom prst="line">
            <a:avLst/>
          </a:prstGeom>
          <a:noFill/>
          <a:ln w="19050">
            <a:solidFill>
              <a:srgbClr val="A6093D"/>
            </a:solidFill>
            <a:prstDash val="solid"/>
          </a:ln>
        </p:spPr>
      </p:sp>
      <p:sp>
        <p:nvSpPr>
          <p:cNvPr id="5" name="Text 3"/>
          <p:cNvSpPr/>
          <p:nvPr/>
        </p:nvSpPr>
        <p:spPr>
          <a:xfrm>
            <a:off x="594360" y="5074920"/>
            <a:ext cx="8229600" cy="731520"/>
          </a:xfrm>
          <a:prstGeom prst="rect">
            <a:avLst/>
          </a:prstGeom>
          <a:noFill/>
          <a:ln/>
        </p:spPr>
        <p:txBody>
          <a:bodyPr wrap="square" lIns="0" tIns="0" rIns="0" bIns="0" rtlCol="0" anchor="ctr"/>
          <a:lstStyle/>
          <a:p>
            <a:pPr indent="0" marL="0">
              <a:buNone/>
            </a:pPr>
            <a:r>
              <a:rPr lang="en-US" sz="1300" dirty="0">
                <a:solidFill>
                  <a:srgbClr val="222222"/>
                </a:solidFill>
                <a:latin typeface="Calibri" pitchFamily="34" charset="0"/>
                <a:ea typeface="Calibri" pitchFamily="34" charset="-122"/>
                <a:cs typeface="Calibri" pitchFamily="34" charset="-120"/>
              </a:rPr>
              <a:t>Aaron Joseph Jean · 25233118</a:t>
            </a:r>
            <a:endParaRPr lang="en-US" sz="1300" dirty="0"/>
          </a:p>
          <a:p>
            <a:pPr indent="0" marL="0">
              <a:buNone/>
            </a:pPr>
            <a:r>
              <a:rPr lang="en-US" sz="1300" dirty="0">
                <a:solidFill>
                  <a:srgbClr val="222222"/>
                </a:solidFill>
                <a:latin typeface="Calibri" pitchFamily="34" charset="0"/>
                <a:ea typeface="Calibri" pitchFamily="34" charset="-122"/>
                <a:cs typeface="Calibri" pitchFamily="34" charset="-120"/>
              </a:rPr>
              <a:t>MSc Computer Science, University of Galway · supervised by Dr. Ihsan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94360" y="329184"/>
            <a:ext cx="11000232" cy="548640"/>
          </a:xfrm>
          <a:prstGeom prst="rect">
            <a:avLst/>
          </a:prstGeom>
          <a:noFill/>
          <a:ln/>
        </p:spPr>
        <p:txBody>
          <a:bodyPr wrap="square" lIns="0" tIns="0" rIns="0" bIns="0" rtlCol="0" anchor="ctr"/>
          <a:lstStyle/>
          <a:p>
            <a:pPr indent="0" marL="0">
              <a:buNone/>
            </a:pPr>
            <a:r>
              <a:rPr lang="en-US" sz="2700" b="1" dirty="0">
                <a:solidFill>
                  <a:srgbClr val="222222"/>
                </a:solidFill>
                <a:latin typeface="Calibri" pitchFamily="34" charset="0"/>
                <a:ea typeface="Calibri" pitchFamily="34" charset="-122"/>
                <a:cs typeface="Calibri" pitchFamily="34" charset="-120"/>
              </a:rPr>
              <a:t>A concrete case first</a:t>
            </a:r>
            <a:endParaRPr lang="en-US" sz="2700" dirty="0"/>
          </a:p>
        </p:txBody>
      </p:sp>
      <p:sp>
        <p:nvSpPr>
          <p:cNvPr id="3" name="Text 1"/>
          <p:cNvSpPr/>
          <p:nvPr/>
        </p:nvSpPr>
        <p:spPr>
          <a:xfrm>
            <a:off x="594360" y="896112"/>
            <a:ext cx="11000232" cy="310896"/>
          </a:xfrm>
          <a:prstGeom prst="rect">
            <a:avLst/>
          </a:prstGeom>
          <a:noFill/>
          <a:ln/>
        </p:spPr>
        <p:txBody>
          <a:bodyPr wrap="square" lIns="0" tIns="0" rIns="0" bIns="0" rtlCol="0" anchor="ctr"/>
          <a:lstStyle/>
          <a:p>
            <a:pPr indent="0" marL="0">
              <a:buNone/>
            </a:pPr>
            <a:r>
              <a:rPr lang="en-US" sz="1250" dirty="0">
                <a:solidFill>
                  <a:srgbClr val="666666"/>
                </a:solidFill>
                <a:latin typeface="Calibri" pitchFamily="34" charset="0"/>
                <a:ea typeface="Calibri" pitchFamily="34" charset="-122"/>
                <a:cs typeface="Calibri" pitchFamily="34" charset="-120"/>
              </a:rPr>
              <a:t>www.independent.ie, audited on a clean browser profile with no interaction</a:t>
            </a:r>
            <a:endParaRPr lang="en-US" sz="1250" dirty="0"/>
          </a:p>
        </p:txBody>
      </p:sp>
      <p:sp>
        <p:nvSpPr>
          <p:cNvPr id="4" name="Shape 2"/>
          <p:cNvSpPr/>
          <p:nvPr/>
        </p:nvSpPr>
        <p:spPr>
          <a:xfrm>
            <a:off x="594360" y="1417320"/>
            <a:ext cx="5577840" cy="1417320"/>
          </a:xfrm>
          <a:prstGeom prst="rect">
            <a:avLst/>
          </a:prstGeom>
          <a:solidFill>
            <a:srgbClr val="FBFBFB"/>
          </a:solidFill>
          <a:ln w="12700">
            <a:solidFill>
              <a:srgbClr val="CCCCCC"/>
            </a:solidFill>
            <a:prstDash val="solid"/>
          </a:ln>
        </p:spPr>
      </p:sp>
      <p:sp>
        <p:nvSpPr>
          <p:cNvPr id="5" name="Shape 3"/>
          <p:cNvSpPr/>
          <p:nvPr/>
        </p:nvSpPr>
        <p:spPr>
          <a:xfrm>
            <a:off x="594360" y="1417320"/>
            <a:ext cx="54864" cy="1417320"/>
          </a:xfrm>
          <a:prstGeom prst="rect">
            <a:avLst/>
          </a:prstGeom>
          <a:solidFill>
            <a:srgbClr val="A6093D"/>
          </a:solidFill>
          <a:ln w="12700">
            <a:solidFill>
              <a:srgbClr val="333333"/>
            </a:solidFill>
            <a:prstDash val="solid"/>
          </a:ln>
        </p:spPr>
      </p:sp>
      <p:sp>
        <p:nvSpPr>
          <p:cNvPr id="6" name="Text 4"/>
          <p:cNvSpPr/>
          <p:nvPr/>
        </p:nvSpPr>
        <p:spPr>
          <a:xfrm>
            <a:off x="822960" y="1417320"/>
            <a:ext cx="5166360" cy="1417320"/>
          </a:xfrm>
          <a:prstGeom prst="rect">
            <a:avLst/>
          </a:prstGeom>
          <a:noFill/>
          <a:ln/>
        </p:spPr>
        <p:txBody>
          <a:bodyPr wrap="square" lIns="0" tIns="0" rIns="0" bIns="0" rtlCol="0" anchor="ctr"/>
          <a:lstStyle/>
          <a:p>
            <a:pPr indent="0" marL="0">
              <a:buNone/>
            </a:pPr>
            <a:r>
              <a:rPr lang="en-US" sz="1300" i="1" dirty="0">
                <a:solidFill>
                  <a:srgbClr val="1A1A2E"/>
                </a:solidFill>
                <a:latin typeface="Calibri" pitchFamily="34" charset="0"/>
                <a:ea typeface="Calibri" pitchFamily="34" charset="-122"/>
                <a:cs typeface="Calibri" pitchFamily="34" charset="-120"/>
              </a:rPr>
              <a:t>“We may partner with or receive services from third parties which you can visit from our Site.”
</a:t>
            </a:r>
            <a:pPr indent="0" marL="0">
              <a:buNone/>
            </a:pPr>
            <a:r>
              <a:rPr lang="en-US" sz="1050" dirty="0">
                <a:solidFill>
                  <a:srgbClr val="666666"/>
                </a:solidFill>
                <a:latin typeface="Calibri" pitchFamily="34" charset="0"/>
                <a:ea typeface="Calibri" pitchFamily="34" charset="-122"/>
                <a:cs typeface="Calibri" pitchFamily="34" charset="-120"/>
              </a:rPr>
              <a:t>— Mediahuis cookie policy, the section covering third parties</a:t>
            </a:r>
            <a:endParaRPr lang="en-US" sz="1300" dirty="0"/>
          </a:p>
        </p:txBody>
      </p:sp>
      <p:sp>
        <p:nvSpPr>
          <p:cNvPr id="7" name="Text 5"/>
          <p:cNvSpPr/>
          <p:nvPr/>
        </p:nvSpPr>
        <p:spPr>
          <a:xfrm>
            <a:off x="594360" y="3063240"/>
            <a:ext cx="5577840" cy="365760"/>
          </a:xfrm>
          <a:prstGeom prst="rect">
            <a:avLst/>
          </a:prstGeom>
          <a:noFill/>
          <a:ln/>
        </p:spPr>
        <p:txBody>
          <a:bodyPr wrap="square" lIns="0" tIns="0" rIns="0" bIns="0" rtlCol="0" anchor="ctr"/>
          <a:lstStyle/>
          <a:p>
            <a:pPr indent="0" marL="0">
              <a:buNone/>
            </a:pPr>
            <a:r>
              <a:rPr lang="en-US" sz="1250" b="1" dirty="0">
                <a:solidFill>
                  <a:srgbClr val="222222"/>
                </a:solidFill>
                <a:latin typeface="Calibri" pitchFamily="34" charset="0"/>
                <a:ea typeface="Calibri" pitchFamily="34" charset="-122"/>
                <a:cs typeface="Calibri" pitchFamily="34" charset="-120"/>
              </a:rPr>
              <a:t>What the browser recorded in the same visit, before anything was clicked:</a:t>
            </a:r>
            <a:endParaRPr lang="en-US" sz="1250" dirty="0"/>
          </a:p>
        </p:txBody>
      </p:sp>
      <p:sp>
        <p:nvSpPr>
          <p:cNvPr id="8" name="Text 6"/>
          <p:cNvSpPr/>
          <p:nvPr/>
        </p:nvSpPr>
        <p:spPr>
          <a:xfrm>
            <a:off x="594360" y="3429000"/>
            <a:ext cx="5577840" cy="2103120"/>
          </a:xfrm>
          <a:prstGeom prst="rect">
            <a:avLst/>
          </a:prstGeom>
          <a:noFill/>
          <a:ln/>
        </p:spPr>
        <p:txBody>
          <a:bodyPr wrap="square" lIns="0" tIns="0" rIns="0" bIns="0" rtlCol="0" anchor="t"/>
          <a:lstStyle/>
          <a:p>
            <a:pPr marL="152400" indent="-152400">
              <a:spcAft>
                <a:spcPts val="700"/>
              </a:spcAft>
              <a:buSzPct val="100000"/>
              <a:buChar char="–"/>
            </a:pPr>
            <a:r>
              <a:rPr lang="en-US" sz="1250" dirty="0">
                <a:solidFill>
                  <a:srgbClr val="222222"/>
                </a:solidFill>
                <a:latin typeface="Calibri" pitchFamily="34" charset="0"/>
                <a:ea typeface="Calibri" pitchFamily="34" charset="-122"/>
                <a:cs typeface="Calibri" pitchFamily="34" charset="-120"/>
              </a:rPr>
              <a:t>doubleclick.net, taboola.com, google-analytics.com and twelve others contacted</a:t>
            </a:r>
            <a:endParaRPr lang="en-US" sz="1250" dirty="0"/>
          </a:p>
          <a:p>
            <a:pPr marL="152400" indent="-152400">
              <a:spcAft>
                <a:spcPts val="700"/>
              </a:spcAft>
              <a:buSzPct val="100000"/>
              <a:buChar char="–"/>
            </a:pPr>
            <a:r>
              <a:rPr lang="en-US" sz="1250" dirty="0">
                <a:solidFill>
                  <a:srgbClr val="222222"/>
                </a:solidFill>
                <a:latin typeface="Calibri" pitchFamily="34" charset="0"/>
                <a:ea typeface="Calibri" pitchFamily="34" charset="-122"/>
                <a:cs typeface="Calibri" pitchFamily="34" charset="-120"/>
              </a:rPr>
              <a:t>three WebRTC peer connections opened and the battery API queried</a:t>
            </a:r>
            <a:endParaRPr lang="en-US" sz="1250" dirty="0"/>
          </a:p>
          <a:p>
            <a:pPr marL="152400" indent="-152400">
              <a:spcAft>
                <a:spcPts val="700"/>
              </a:spcAft>
              <a:buSzPct val="100000"/>
              <a:buChar char="–"/>
            </a:pPr>
            <a:r>
              <a:rPr lang="en-US" sz="1250" dirty="0">
                <a:solidFill>
                  <a:srgbClr val="222222"/>
                </a:solidFill>
                <a:latin typeface="Calibri" pitchFamily="34" charset="0"/>
                <a:ea typeface="Calibri" pitchFamily="34" charset="-122"/>
                <a:cs typeface="Calibri" pitchFamily="34" charset="-120"/>
              </a:rPr>
              <a:t>no advertising cookie stored — the consent platform does hold those back</a:t>
            </a:r>
            <a:endParaRPr lang="en-US" sz="1250" dirty="0"/>
          </a:p>
        </p:txBody>
      </p:sp>
      <p:sp>
        <p:nvSpPr>
          <p:cNvPr id="9" name="Shape 7"/>
          <p:cNvSpPr/>
          <p:nvPr/>
        </p:nvSpPr>
        <p:spPr>
          <a:xfrm>
            <a:off x="6446520" y="1417320"/>
            <a:ext cx="5120640" cy="4114800"/>
          </a:xfrm>
          <a:prstGeom prst="rect">
            <a:avLst/>
          </a:prstGeom>
          <a:solidFill>
            <a:srgbClr val="F4F4F4"/>
          </a:solidFill>
          <a:ln w="12700">
            <a:solidFill>
              <a:srgbClr val="CCCCCC"/>
            </a:solidFill>
            <a:prstDash val="solid"/>
          </a:ln>
        </p:spPr>
      </p:sp>
      <p:sp>
        <p:nvSpPr>
          <p:cNvPr id="10" name="Text 8"/>
          <p:cNvSpPr/>
          <p:nvPr/>
        </p:nvSpPr>
        <p:spPr>
          <a:xfrm>
            <a:off x="6675120" y="1645920"/>
            <a:ext cx="4663440" cy="3657600"/>
          </a:xfrm>
          <a:prstGeom prst="rect">
            <a:avLst/>
          </a:prstGeom>
          <a:noFill/>
          <a:ln/>
        </p:spPr>
        <p:txBody>
          <a:bodyPr wrap="square" lIns="0" tIns="0" rIns="0" bIns="0" rtlCol="0" anchor="t"/>
          <a:lstStyle/>
          <a:p>
            <a:pPr indent="0" marL="0">
              <a:buNone/>
            </a:pPr>
            <a:r>
              <a:rPr lang="en-US" sz="1500" b="1" dirty="0">
                <a:solidFill>
                  <a:srgbClr val="A6093D"/>
                </a:solidFill>
                <a:latin typeface="Calibri" pitchFamily="34" charset="0"/>
                <a:ea typeface="Calibri" pitchFamily="34" charset="-122"/>
                <a:cs typeface="Calibri" pitchFamily="34" charset="-120"/>
              </a:rPr>
              <a:t>The policy names no recipients.
</a:t>
            </a:r>
            <a:pPr indent="0" marL="0">
              <a:buNone/>
            </a:pPr>
            <a:r>
              <a:rPr lang="en-US" sz="1500" b="1" dirty="0">
                <a:solidFill>
                  <a:srgbClr val="A6093D"/>
                </a:solidFill>
                <a:latin typeface="Calibri" pitchFamily="34" charset="0"/>
                <a:ea typeface="Calibri" pitchFamily="34" charset="-122"/>
                <a:cs typeface="Calibri" pitchFamily="34" charset="-120"/>
              </a:rPr>
              <a:t>Fifteen were contacted.
</a:t>
            </a:r>
            <a:pPr indent="0" marL="0">
              <a:buNone/>
            </a:pPr>
            <a:r>
              <a:rPr lang="en-US" sz="1300" dirty="0">
                <a:solidFill>
                  <a:srgbClr val="222222"/>
                </a:solidFill>
                <a:latin typeface="Calibri" pitchFamily="34" charset="0"/>
                <a:ea typeface="Calibri" pitchFamily="34" charset="-122"/>
                <a:cs typeface="Calibri" pitchFamily="34" charset="-120"/>
              </a:rPr>
              <a:t>Reading the policy alone would not find this. Watching the traffic alone would not either — you need the sentence and the network log side by side, and the article that says recipients must be disclosed.
</a:t>
            </a:r>
            <a:pPr indent="0" marL="0">
              <a:buNone/>
            </a:pPr>
            <a:r>
              <a:rPr lang="en-US" sz="1300" i="1" dirty="0">
                <a:solidFill>
                  <a:srgbClr val="222222"/>
                </a:solidFill>
                <a:latin typeface="Calibri" pitchFamily="34" charset="0"/>
                <a:ea typeface="Calibri" pitchFamily="34" charset="-122"/>
                <a:cs typeface="Calibri" pitchFamily="34" charset="-120"/>
              </a:rPr>
              <a:t>That is the whole thesis in one example.</a:t>
            </a:r>
            <a:endParaRPr lang="en-US" sz="1500" dirty="0"/>
          </a:p>
        </p:txBody>
      </p:sp>
      <p:sp>
        <p:nvSpPr>
          <p:cNvPr id="11" name="Text 9"/>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94360" y="329184"/>
            <a:ext cx="11000232" cy="548640"/>
          </a:xfrm>
          <a:prstGeom prst="rect">
            <a:avLst/>
          </a:prstGeom>
          <a:noFill/>
          <a:ln/>
        </p:spPr>
        <p:txBody>
          <a:bodyPr wrap="square" lIns="0" tIns="0" rIns="0" bIns="0" rtlCol="0" anchor="ctr"/>
          <a:lstStyle/>
          <a:p>
            <a:pPr indent="0" marL="0">
              <a:buNone/>
            </a:pPr>
            <a:r>
              <a:rPr lang="en-US" sz="2700" b="1" dirty="0">
                <a:solidFill>
                  <a:srgbClr val="222222"/>
                </a:solidFill>
                <a:latin typeface="Calibri" pitchFamily="34" charset="0"/>
                <a:ea typeface="Calibri" pitchFamily="34" charset="-122"/>
                <a:cs typeface="Calibri" pitchFamily="34" charset="-120"/>
              </a:rPr>
              <a:t>The problem</a:t>
            </a:r>
            <a:endParaRPr lang="en-US" sz="2700" dirty="0"/>
          </a:p>
        </p:txBody>
      </p:sp>
      <p:sp>
        <p:nvSpPr>
          <p:cNvPr id="3" name="Text 1"/>
          <p:cNvSpPr/>
          <p:nvPr/>
        </p:nvSpPr>
        <p:spPr>
          <a:xfrm>
            <a:off x="594360" y="896112"/>
            <a:ext cx="11000232" cy="310896"/>
          </a:xfrm>
          <a:prstGeom prst="rect">
            <a:avLst/>
          </a:prstGeom>
          <a:noFill/>
          <a:ln/>
        </p:spPr>
        <p:txBody>
          <a:bodyPr wrap="square" lIns="0" tIns="0" rIns="0" bIns="0" rtlCol="0" anchor="ctr"/>
          <a:lstStyle/>
          <a:p>
            <a:pPr indent="0" marL="0">
              <a:buNone/>
            </a:pPr>
            <a:r>
              <a:rPr lang="en-US" sz="1250" dirty="0">
                <a:solidFill>
                  <a:srgbClr val="666666"/>
                </a:solidFill>
                <a:latin typeface="Calibri" pitchFamily="34" charset="0"/>
                <a:ea typeface="Calibri" pitchFamily="34" charset="-122"/>
                <a:cs typeface="Calibri" pitchFamily="34" charset="-120"/>
              </a:rPr>
              <a:t>Section I</a:t>
            </a:r>
            <a:endParaRPr lang="en-US" sz="1250" dirty="0"/>
          </a:p>
        </p:txBody>
      </p:sp>
      <p:sp>
        <p:nvSpPr>
          <p:cNvPr id="4" name="Text 2"/>
          <p:cNvSpPr/>
          <p:nvPr/>
        </p:nvSpPr>
        <p:spPr>
          <a:xfrm>
            <a:off x="594360" y="1371600"/>
            <a:ext cx="1737360" cy="868680"/>
          </a:xfrm>
          <a:prstGeom prst="rect">
            <a:avLst/>
          </a:prstGeom>
          <a:noFill/>
          <a:ln/>
        </p:spPr>
        <p:txBody>
          <a:bodyPr wrap="square" lIns="0" tIns="0" rIns="0" bIns="0" rtlCol="0" anchor="ctr"/>
          <a:lstStyle/>
          <a:p>
            <a:pPr indent="0" marL="0">
              <a:buNone/>
            </a:pPr>
            <a:r>
              <a:rPr lang="en-US" sz="1500" b="1" dirty="0">
                <a:solidFill>
                  <a:srgbClr val="A6093D"/>
                </a:solidFill>
                <a:latin typeface="Calibri" pitchFamily="34" charset="0"/>
                <a:ea typeface="Calibri" pitchFamily="34" charset="-122"/>
                <a:cs typeface="Calibri" pitchFamily="34" charset="-120"/>
              </a:rPr>
              <a:t>The law</a:t>
            </a:r>
            <a:endParaRPr lang="en-US" sz="1500" dirty="0"/>
          </a:p>
        </p:txBody>
      </p:sp>
      <p:sp>
        <p:nvSpPr>
          <p:cNvPr id="5" name="Text 3"/>
          <p:cNvSpPr/>
          <p:nvPr/>
        </p:nvSpPr>
        <p:spPr>
          <a:xfrm>
            <a:off x="2377440" y="1371600"/>
            <a:ext cx="6583680" cy="868680"/>
          </a:xfrm>
          <a:prstGeom prst="rect">
            <a:avLst/>
          </a:prstGeom>
          <a:noFill/>
          <a:ln/>
        </p:spPr>
        <p:txBody>
          <a:bodyPr wrap="square" lIns="0" tIns="0" rIns="0" bIns="0" rtlCol="0" anchor="ctr"/>
          <a:lstStyle/>
          <a:p>
            <a:pPr indent="0" marL="0">
              <a:buNone/>
            </a:pPr>
            <a:r>
              <a:rPr lang="en-US" sz="1300" dirty="0">
                <a:solidFill>
                  <a:srgbClr val="222222"/>
                </a:solidFill>
                <a:latin typeface="Calibri" pitchFamily="34" charset="0"/>
                <a:ea typeface="Calibri" pitchFamily="34" charset="-122"/>
                <a:cs typeface="Calibri" pitchFamily="34" charset="-120"/>
              </a:rPr>
              <a:t>GDPR, and the national ePrivacy rules — Ireland's S.I. 336/2011, the UK's PECR</a:t>
            </a:r>
            <a:endParaRPr lang="en-US" sz="1300" dirty="0"/>
          </a:p>
        </p:txBody>
      </p:sp>
      <p:sp>
        <p:nvSpPr>
          <p:cNvPr id="6" name="Text 4"/>
          <p:cNvSpPr/>
          <p:nvPr/>
        </p:nvSpPr>
        <p:spPr>
          <a:xfrm>
            <a:off x="9144000" y="1371600"/>
            <a:ext cx="2377440" cy="868680"/>
          </a:xfrm>
          <a:prstGeom prst="rect">
            <a:avLst/>
          </a:prstGeom>
          <a:noFill/>
          <a:ln/>
        </p:spPr>
        <p:txBody>
          <a:bodyPr wrap="square" lIns="0" tIns="0" rIns="0" bIns="0" rtlCol="0" anchor="ctr"/>
          <a:lstStyle/>
          <a:p>
            <a:pPr indent="0" marL="0">
              <a:buNone/>
            </a:pPr>
            <a:r>
              <a:rPr lang="en-US" sz="1200" i="1" dirty="0">
                <a:solidFill>
                  <a:srgbClr val="666666"/>
                </a:solidFill>
                <a:latin typeface="Calibri" pitchFamily="34" charset="0"/>
                <a:ea typeface="Calibri" pitchFamily="34" charset="-122"/>
                <a:cs typeface="Calibri" pitchFamily="34" charset="-120"/>
              </a:rPr>
              <a:t>what is required</a:t>
            </a:r>
            <a:endParaRPr lang="en-US" sz="1200" dirty="0"/>
          </a:p>
        </p:txBody>
      </p:sp>
      <p:sp>
        <p:nvSpPr>
          <p:cNvPr id="7" name="Shape 5"/>
          <p:cNvSpPr/>
          <p:nvPr/>
        </p:nvSpPr>
        <p:spPr>
          <a:xfrm>
            <a:off x="594360" y="2286000"/>
            <a:ext cx="11000232" cy="0"/>
          </a:xfrm>
          <a:prstGeom prst="line">
            <a:avLst/>
          </a:prstGeom>
          <a:noFill/>
          <a:ln w="9525">
            <a:solidFill>
              <a:srgbClr val="E5E5E5"/>
            </a:solidFill>
            <a:prstDash val="solid"/>
          </a:ln>
        </p:spPr>
      </p:sp>
      <p:sp>
        <p:nvSpPr>
          <p:cNvPr id="8" name="Text 6"/>
          <p:cNvSpPr/>
          <p:nvPr/>
        </p:nvSpPr>
        <p:spPr>
          <a:xfrm>
            <a:off x="594360" y="2331720"/>
            <a:ext cx="1737360" cy="868680"/>
          </a:xfrm>
          <a:prstGeom prst="rect">
            <a:avLst/>
          </a:prstGeom>
          <a:noFill/>
          <a:ln/>
        </p:spPr>
        <p:txBody>
          <a:bodyPr wrap="square" lIns="0" tIns="0" rIns="0" bIns="0" rtlCol="0" anchor="ctr"/>
          <a:lstStyle/>
          <a:p>
            <a:pPr indent="0" marL="0">
              <a:buNone/>
            </a:pPr>
            <a:r>
              <a:rPr lang="en-US" sz="1500" b="1" dirty="0">
                <a:solidFill>
                  <a:srgbClr val="A6093D"/>
                </a:solidFill>
                <a:latin typeface="Calibri" pitchFamily="34" charset="0"/>
                <a:ea typeface="Calibri" pitchFamily="34" charset="-122"/>
                <a:cs typeface="Calibri" pitchFamily="34" charset="-120"/>
              </a:rPr>
              <a:t>The notice</a:t>
            </a:r>
            <a:endParaRPr lang="en-US" sz="1500" dirty="0"/>
          </a:p>
        </p:txBody>
      </p:sp>
      <p:sp>
        <p:nvSpPr>
          <p:cNvPr id="9" name="Text 7"/>
          <p:cNvSpPr/>
          <p:nvPr/>
        </p:nvSpPr>
        <p:spPr>
          <a:xfrm>
            <a:off x="2377440" y="2331720"/>
            <a:ext cx="6583680" cy="868680"/>
          </a:xfrm>
          <a:prstGeom prst="rect">
            <a:avLst/>
          </a:prstGeom>
          <a:noFill/>
          <a:ln/>
        </p:spPr>
        <p:txBody>
          <a:bodyPr wrap="square" lIns="0" tIns="0" rIns="0" bIns="0" rtlCol="0" anchor="ctr"/>
          <a:lstStyle/>
          <a:p>
            <a:pPr indent="0" marL="0">
              <a:buNone/>
            </a:pPr>
            <a:r>
              <a:rPr lang="en-US" sz="1300" dirty="0">
                <a:solidFill>
                  <a:srgbClr val="222222"/>
                </a:solidFill>
                <a:latin typeface="Calibri" pitchFamily="34" charset="0"/>
                <a:ea typeface="Calibri" pitchFamily="34" charset="-122"/>
                <a:cs typeface="Calibri" pitchFamily="34" charset="-120"/>
              </a:rPr>
              <a:t>the site's own privacy and cookie policy</a:t>
            </a:r>
            <a:endParaRPr lang="en-US" sz="1300" dirty="0"/>
          </a:p>
        </p:txBody>
      </p:sp>
      <p:sp>
        <p:nvSpPr>
          <p:cNvPr id="10" name="Text 8"/>
          <p:cNvSpPr/>
          <p:nvPr/>
        </p:nvSpPr>
        <p:spPr>
          <a:xfrm>
            <a:off x="9144000" y="2331720"/>
            <a:ext cx="2377440" cy="868680"/>
          </a:xfrm>
          <a:prstGeom prst="rect">
            <a:avLst/>
          </a:prstGeom>
          <a:noFill/>
          <a:ln/>
        </p:spPr>
        <p:txBody>
          <a:bodyPr wrap="square" lIns="0" tIns="0" rIns="0" bIns="0" rtlCol="0" anchor="ctr"/>
          <a:lstStyle/>
          <a:p>
            <a:pPr indent="0" marL="0">
              <a:buNone/>
            </a:pPr>
            <a:r>
              <a:rPr lang="en-US" sz="1200" i="1" dirty="0">
                <a:solidFill>
                  <a:srgbClr val="666666"/>
                </a:solidFill>
                <a:latin typeface="Calibri" pitchFamily="34" charset="0"/>
                <a:ea typeface="Calibri" pitchFamily="34" charset="-122"/>
                <a:cs typeface="Calibri" pitchFamily="34" charset="-120"/>
              </a:rPr>
              <a:t>what it claims</a:t>
            </a:r>
            <a:endParaRPr lang="en-US" sz="1200" dirty="0"/>
          </a:p>
        </p:txBody>
      </p:sp>
      <p:sp>
        <p:nvSpPr>
          <p:cNvPr id="11" name="Shape 9"/>
          <p:cNvSpPr/>
          <p:nvPr/>
        </p:nvSpPr>
        <p:spPr>
          <a:xfrm>
            <a:off x="594360" y="3246120"/>
            <a:ext cx="11000232" cy="0"/>
          </a:xfrm>
          <a:prstGeom prst="line">
            <a:avLst/>
          </a:prstGeom>
          <a:noFill/>
          <a:ln w="9525">
            <a:solidFill>
              <a:srgbClr val="E5E5E5"/>
            </a:solidFill>
            <a:prstDash val="solid"/>
          </a:ln>
        </p:spPr>
      </p:sp>
      <p:sp>
        <p:nvSpPr>
          <p:cNvPr id="12" name="Text 10"/>
          <p:cNvSpPr/>
          <p:nvPr/>
        </p:nvSpPr>
        <p:spPr>
          <a:xfrm>
            <a:off x="594360" y="3291840"/>
            <a:ext cx="1737360" cy="868680"/>
          </a:xfrm>
          <a:prstGeom prst="rect">
            <a:avLst/>
          </a:prstGeom>
          <a:noFill/>
          <a:ln/>
        </p:spPr>
        <p:txBody>
          <a:bodyPr wrap="square" lIns="0" tIns="0" rIns="0" bIns="0" rtlCol="0" anchor="ctr"/>
          <a:lstStyle/>
          <a:p>
            <a:pPr indent="0" marL="0">
              <a:buNone/>
            </a:pPr>
            <a:r>
              <a:rPr lang="en-US" sz="1500" b="1" dirty="0">
                <a:solidFill>
                  <a:srgbClr val="A6093D"/>
                </a:solidFill>
                <a:latin typeface="Calibri" pitchFamily="34" charset="0"/>
                <a:ea typeface="Calibri" pitchFamily="34" charset="-122"/>
                <a:cs typeface="Calibri" pitchFamily="34" charset="-120"/>
              </a:rPr>
              <a:t>The practice</a:t>
            </a:r>
            <a:endParaRPr lang="en-US" sz="1500" dirty="0"/>
          </a:p>
        </p:txBody>
      </p:sp>
      <p:sp>
        <p:nvSpPr>
          <p:cNvPr id="13" name="Text 11"/>
          <p:cNvSpPr/>
          <p:nvPr/>
        </p:nvSpPr>
        <p:spPr>
          <a:xfrm>
            <a:off x="2377440" y="3291840"/>
            <a:ext cx="6583680" cy="868680"/>
          </a:xfrm>
          <a:prstGeom prst="rect">
            <a:avLst/>
          </a:prstGeom>
          <a:noFill/>
          <a:ln/>
        </p:spPr>
        <p:txBody>
          <a:bodyPr wrap="square" lIns="0" tIns="0" rIns="0" bIns="0" rtlCol="0" anchor="ctr"/>
          <a:lstStyle/>
          <a:p>
            <a:pPr indent="0" marL="0">
              <a:buNone/>
            </a:pPr>
            <a:r>
              <a:rPr lang="en-US" sz="1300" dirty="0">
                <a:solidFill>
                  <a:srgbClr val="222222"/>
                </a:solidFill>
                <a:latin typeface="Calibri" pitchFamily="34" charset="0"/>
                <a:ea typeface="Calibri" pitchFamily="34" charset="-122"/>
                <a:cs typeface="Calibri" pitchFamily="34" charset="-120"/>
              </a:rPr>
              <a:t>requests, cookies, fingerprinting, at page load</a:t>
            </a:r>
            <a:endParaRPr lang="en-US" sz="1300" dirty="0"/>
          </a:p>
        </p:txBody>
      </p:sp>
      <p:sp>
        <p:nvSpPr>
          <p:cNvPr id="14" name="Text 12"/>
          <p:cNvSpPr/>
          <p:nvPr/>
        </p:nvSpPr>
        <p:spPr>
          <a:xfrm>
            <a:off x="9144000" y="3291840"/>
            <a:ext cx="2377440" cy="868680"/>
          </a:xfrm>
          <a:prstGeom prst="rect">
            <a:avLst/>
          </a:prstGeom>
          <a:noFill/>
          <a:ln/>
        </p:spPr>
        <p:txBody>
          <a:bodyPr wrap="square" lIns="0" tIns="0" rIns="0" bIns="0" rtlCol="0" anchor="ctr"/>
          <a:lstStyle/>
          <a:p>
            <a:pPr indent="0" marL="0">
              <a:buNone/>
            </a:pPr>
            <a:r>
              <a:rPr lang="en-US" sz="1200" i="1" dirty="0">
                <a:solidFill>
                  <a:srgbClr val="666666"/>
                </a:solidFill>
                <a:latin typeface="Calibri" pitchFamily="34" charset="0"/>
                <a:ea typeface="Calibri" pitchFamily="34" charset="-122"/>
                <a:cs typeface="Calibri" pitchFamily="34" charset="-120"/>
              </a:rPr>
              <a:t>what it does</a:t>
            </a:r>
            <a:endParaRPr lang="en-US" sz="1200" dirty="0"/>
          </a:p>
        </p:txBody>
      </p:sp>
      <p:sp>
        <p:nvSpPr>
          <p:cNvPr id="15" name="Text 13"/>
          <p:cNvSpPr/>
          <p:nvPr/>
        </p:nvSpPr>
        <p:spPr>
          <a:xfrm>
            <a:off x="594360" y="4434840"/>
            <a:ext cx="11000232" cy="731520"/>
          </a:xfrm>
          <a:prstGeom prst="rect">
            <a:avLst/>
          </a:prstGeom>
          <a:noFill/>
          <a:ln/>
        </p:spPr>
        <p:txBody>
          <a:bodyPr wrap="square" lIns="0" tIns="0" rIns="0" bIns="0" rtlCol="0" anchor="ctr"/>
          <a:lstStyle/>
          <a:p>
            <a:pPr indent="0" marL="0">
              <a:buNone/>
            </a:pPr>
            <a:r>
              <a:rPr lang="en-US" sz="1400" dirty="0">
                <a:solidFill>
                  <a:srgbClr val="222222"/>
                </a:solidFill>
                <a:latin typeface="Calibri" pitchFamily="34" charset="0"/>
                <a:ea typeface="Calibri" pitchFamily="34" charset="-122"/>
                <a:cs typeface="Calibri" pitchFamily="34" charset="-120"/>
              </a:rPr>
              <a:t>A compliance judgement needs all three at once. Today that work is manual: an auditor reads the policy, watches the traffic, and forms a view. It is slow, expensive, and it does not scale to the number of sites the law covers.</a:t>
            </a:r>
            <a:endParaRPr lang="en-US" sz="1400" dirty="0"/>
          </a:p>
        </p:txBody>
      </p:sp>
      <p:sp>
        <p:nvSpPr>
          <p:cNvPr id="16" name="Text 14"/>
          <p:cNvSpPr/>
          <p:nvPr/>
        </p:nvSpPr>
        <p:spPr>
          <a:xfrm>
            <a:off x="594360" y="5303520"/>
            <a:ext cx="11000232" cy="731520"/>
          </a:xfrm>
          <a:prstGeom prst="rect">
            <a:avLst/>
          </a:prstGeom>
          <a:noFill/>
          <a:ln/>
        </p:spPr>
        <p:txBody>
          <a:bodyPr wrap="square" lIns="0" tIns="0" rIns="0" bIns="0" rtlCol="0" anchor="ctr"/>
          <a:lstStyle/>
          <a:p>
            <a:pPr indent="0" marL="0">
              <a:buNone/>
            </a:pPr>
            <a:r>
              <a:rPr lang="en-US" sz="1450" b="1" i="1" dirty="0">
                <a:solidFill>
                  <a:srgbClr val="A6093D"/>
                </a:solidFill>
                <a:latin typeface="Calibri" pitchFamily="34" charset="0"/>
                <a:ea typeface="Calibri" pitchFamily="34" charset="-122"/>
                <a:cs typeface="Calibri" pitchFamily="34" charset="-120"/>
              </a:rPr>
              <a:t>How can privacy compliance be measured continuously, in context, and explainably —</a:t>
            </a:r>
            <a:endParaRPr lang="en-US" sz="1450" dirty="0"/>
          </a:p>
          <a:p>
            <a:pPr indent="0" marL="0">
              <a:buNone/>
            </a:pPr>
            <a:r>
              <a:rPr lang="en-US" sz="1450" b="1" i="1" dirty="0">
                <a:solidFill>
                  <a:srgbClr val="A6093D"/>
                </a:solidFill>
                <a:latin typeface="Calibri" pitchFamily="34" charset="0"/>
                <a:ea typeface="Calibri" pitchFamily="34" charset="-122"/>
                <a:cs typeface="Calibri" pitchFamily="34" charset="-120"/>
              </a:rPr>
              <a:t>connecting what a site discloses to what it actually executes?</a:t>
            </a:r>
            <a:endParaRPr lang="en-US" sz="1450" dirty="0"/>
          </a:p>
        </p:txBody>
      </p:sp>
      <p:sp>
        <p:nvSpPr>
          <p:cNvPr id="17" name="Text 15"/>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94360" y="329184"/>
            <a:ext cx="11000232" cy="548640"/>
          </a:xfrm>
          <a:prstGeom prst="rect">
            <a:avLst/>
          </a:prstGeom>
          <a:noFill/>
          <a:ln/>
        </p:spPr>
        <p:txBody>
          <a:bodyPr wrap="square" lIns="0" tIns="0" rIns="0" bIns="0" rtlCol="0" anchor="ctr"/>
          <a:lstStyle/>
          <a:p>
            <a:pPr indent="0" marL="0">
              <a:buNone/>
            </a:pPr>
            <a:r>
              <a:rPr lang="en-US" sz="2700" b="1" dirty="0">
                <a:solidFill>
                  <a:srgbClr val="222222"/>
                </a:solidFill>
                <a:latin typeface="Calibri" pitchFamily="34" charset="0"/>
                <a:ea typeface="Calibri" pitchFamily="34" charset="-122"/>
                <a:cs typeface="Calibri" pitchFamily="34" charset="-120"/>
              </a:rPr>
              <a:t>Four bodies of work, each solving one third of it</a:t>
            </a:r>
            <a:endParaRPr lang="en-US" sz="2700" dirty="0"/>
          </a:p>
        </p:txBody>
      </p:sp>
      <p:sp>
        <p:nvSpPr>
          <p:cNvPr id="3" name="Text 1"/>
          <p:cNvSpPr/>
          <p:nvPr/>
        </p:nvSpPr>
        <p:spPr>
          <a:xfrm>
            <a:off x="594360" y="896112"/>
            <a:ext cx="11000232" cy="310896"/>
          </a:xfrm>
          <a:prstGeom prst="rect">
            <a:avLst/>
          </a:prstGeom>
          <a:noFill/>
          <a:ln/>
        </p:spPr>
        <p:txBody>
          <a:bodyPr wrap="square" lIns="0" tIns="0" rIns="0" bIns="0" rtlCol="0" anchor="ctr"/>
          <a:lstStyle/>
          <a:p>
            <a:pPr indent="0" marL="0">
              <a:buNone/>
            </a:pPr>
            <a:r>
              <a:rPr lang="en-US" sz="1250" dirty="0">
                <a:solidFill>
                  <a:srgbClr val="666666"/>
                </a:solidFill>
                <a:latin typeface="Calibri" pitchFamily="34" charset="0"/>
                <a:ea typeface="Calibri" pitchFamily="34" charset="-122"/>
                <a:cs typeface="Calibri" pitchFamily="34" charset="-120"/>
              </a:rPr>
              <a:t>Wave 1 · reading the policy text (Section II-A)</a:t>
            </a:r>
            <a:endParaRPr lang="en-US" sz="12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94360" y="1371600"/>
          <a:ext cx="11000232" cy="914400"/>
        </p:xfrm>
        <a:graphic>
          <a:graphicData uri="http://schemas.openxmlformats.org/drawingml/2006/table">
            <a:tbl>
              <a:tblPr/>
              <a:tblGrid>
                <a:gridCol w="2286000"/>
                <a:gridCol w="5669280"/>
                <a:gridCol w="3044952"/>
              </a:tblGrid>
              <a:tr h="91440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Paper</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A6093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it established</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A6093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it cannot do</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A6093D"/>
                    </a:solidFill>
                  </a:tcPr>
                </a:tc>
              </a:tr>
              <a:tr h="914400">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Wilson '16</a:t>
                      </a:r>
                      <a:endParaRPr lang="en-US" sz="1050" dirty="0">
                        <a:latin typeface="Calibri" charset="0"/>
                        <a:ea typeface="Calibri" charset="0"/>
                        <a:cs typeface="Calibri" charset="0"/>
                      </a:endParaRPr>
                    </a:p>
                    <a:p>
                      <a:pPr indent="0" marL="0">
                        <a:buNone/>
                      </a:pPr>
                      <a:r>
                        <a:rPr lang="en-US" sz="1050" dirty="0">
                          <a:solidFill>
                            <a:srgbClr val="222222"/>
                          </a:solidFill>
                          <a:latin typeface="Calibri" pitchFamily="34" charset="0"/>
                          <a:ea typeface="Calibri" pitchFamily="34" charset="-122"/>
                          <a:cs typeface="Calibri" pitchFamily="34" charset="-120"/>
                        </a:rPr>
                        <a:t>OPP-115 (ACL)</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115 policies annotated by law students; 23,000 labelled data practices across 10 categories. The corpus everything since is built on.</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classifiers learned vocabulary, not meaning</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914400">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Harkous '18</a:t>
                      </a:r>
                      <a:endParaRPr lang="en-US" sz="1050" dirty="0">
                        <a:latin typeface="Calibri" charset="0"/>
                        <a:ea typeface="Calibri" charset="0"/>
                        <a:cs typeface="Calibri" charset="0"/>
                      </a:endParaRPr>
                    </a:p>
                    <a:p>
                      <a:pPr indent="0" marL="0">
                        <a:buNone/>
                      </a:pPr>
                      <a:r>
                        <a:rPr lang="en-US" sz="1050" dirty="0">
                          <a:solidFill>
                            <a:srgbClr val="222222"/>
                          </a:solidFill>
                          <a:latin typeface="Calibri" pitchFamily="34" charset="0"/>
                          <a:ea typeface="Calibri" pitchFamily="34" charset="-122"/>
                          <a:cs typeface="Calibri" pitchFamily="34" charset="-120"/>
                        </a:rPr>
                        <a:t>Polisis (USENIX Sec)</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Privacy-specific embeddings over 130k policies; hierarchical CNN reaching 88.4% on segment classification.</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tells you what a policy says, never whether the site obeys it</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914400">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Ravichander '19</a:t>
                      </a:r>
                      <a:endParaRPr lang="en-US" sz="1050" dirty="0">
                        <a:latin typeface="Calibri" charset="0"/>
                        <a:ea typeface="Calibri" charset="0"/>
                        <a:cs typeface="Calibri" charset="0"/>
                      </a:endParaRPr>
                    </a:p>
                    <a:p>
                      <a:pPr indent="0" marL="0">
                        <a:buNone/>
                      </a:pPr>
                      <a:r>
                        <a:rPr lang="en-US" sz="1050" dirty="0">
                          <a:solidFill>
                            <a:srgbClr val="222222"/>
                          </a:solidFill>
                          <a:latin typeface="Calibri" pitchFamily="34" charset="0"/>
                          <a:ea typeface="Calibri" pitchFamily="34" charset="-122"/>
                          <a:cs typeface="Calibri" pitchFamily="34" charset="-120"/>
                        </a:rPr>
                        <a:t>PrivacyQA (EMNLP)</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1,750 questions answered by legal experts. Many questions are simply unanswerable from the policy, and the experts disagreed with each other.</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no notion of behaviour at all</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5" name="Text 2"/>
          <p:cNvSpPr/>
          <p:nvPr/>
        </p:nvSpPr>
        <p:spPr>
          <a:xfrm>
            <a:off x="594360" y="4434840"/>
            <a:ext cx="11000232" cy="914400"/>
          </a:xfrm>
          <a:prstGeom prst="rect">
            <a:avLst/>
          </a:prstGeom>
          <a:noFill/>
          <a:ln/>
        </p:spPr>
        <p:txBody>
          <a:bodyPr wrap="square" lIns="0" tIns="0" rIns="0" bIns="0" rtlCol="0" anchor="t"/>
          <a:lstStyle/>
          <a:p>
            <a:pPr indent="0" marL="0">
              <a:buNone/>
            </a:pPr>
            <a:r>
              <a:rPr lang="en-US" sz="1300" b="1" dirty="0">
                <a:solidFill>
                  <a:srgbClr val="A6093D"/>
                </a:solidFill>
                <a:latin typeface="Calibri" pitchFamily="34" charset="0"/>
                <a:ea typeface="Calibri" pitchFamily="34" charset="-122"/>
                <a:cs typeface="Calibri" pitchFamily="34" charset="-120"/>
              </a:rPr>
              <a:t>Taken:  </a:t>
            </a:r>
            <a:pPr indent="0" marL="0">
              <a:buNone/>
            </a:pPr>
            <a:r>
              <a:rPr lang="en-US" sz="1300" dirty="0">
                <a:solidFill>
                  <a:srgbClr val="222222"/>
                </a:solidFill>
                <a:latin typeface="Calibri" pitchFamily="34" charset="0"/>
                <a:ea typeface="Calibri" pitchFamily="34" charset="-122"/>
                <a:cs typeface="Calibri" pitchFamily="34" charset="-120"/>
              </a:rPr>
              <a:t>the OPP-115 categories became my requirement-type tags. PrivacyQA is the reason my scorer is allowed to abstain — if experts disagree and some questions cannot be answered from the document, a system that always returns pass or fail is misrepresenting its own certainty.</a:t>
            </a:r>
            <a:endParaRPr lang="en-US" sz="1300" dirty="0"/>
          </a:p>
        </p:txBody>
      </p:sp>
      <p:sp>
        <p:nvSpPr>
          <p:cNvPr id="6" name="Text 3"/>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94360" y="329184"/>
            <a:ext cx="11000232" cy="548640"/>
          </a:xfrm>
          <a:prstGeom prst="rect">
            <a:avLst/>
          </a:prstGeom>
          <a:noFill/>
          <a:ln/>
        </p:spPr>
        <p:txBody>
          <a:bodyPr wrap="square" lIns="0" tIns="0" rIns="0" bIns="0" rtlCol="0" anchor="ctr"/>
          <a:lstStyle/>
          <a:p>
            <a:pPr indent="0" marL="0">
              <a:buNone/>
            </a:pPr>
            <a:r>
              <a:rPr lang="en-US" sz="2700" b="1" dirty="0">
                <a:solidFill>
                  <a:srgbClr val="222222"/>
                </a:solidFill>
                <a:latin typeface="Calibri" pitchFamily="34" charset="0"/>
                <a:ea typeface="Calibri" pitchFamily="34" charset="-122"/>
                <a:cs typeface="Calibri" pitchFamily="34" charset="-120"/>
              </a:rPr>
              <a:t>Wave 2: the closest ancestors, on the wrong platform</a:t>
            </a:r>
            <a:endParaRPr lang="en-US" sz="2700" dirty="0"/>
          </a:p>
        </p:txBody>
      </p:sp>
      <p:sp>
        <p:nvSpPr>
          <p:cNvPr id="3" name="Text 1"/>
          <p:cNvSpPr/>
          <p:nvPr/>
        </p:nvSpPr>
        <p:spPr>
          <a:xfrm>
            <a:off x="594360" y="896112"/>
            <a:ext cx="11000232" cy="310896"/>
          </a:xfrm>
          <a:prstGeom prst="rect">
            <a:avLst/>
          </a:prstGeom>
          <a:noFill/>
          <a:ln/>
        </p:spPr>
        <p:txBody>
          <a:bodyPr wrap="square" lIns="0" tIns="0" rIns="0" bIns="0" rtlCol="0" anchor="ctr"/>
          <a:lstStyle/>
          <a:p>
            <a:pPr indent="0" marL="0">
              <a:buNone/>
            </a:pPr>
            <a:r>
              <a:rPr lang="en-US" sz="1250" dirty="0">
                <a:solidFill>
                  <a:srgbClr val="666666"/>
                </a:solidFill>
                <a:latin typeface="Calibri" pitchFamily="34" charset="0"/>
                <a:ea typeface="Calibri" pitchFamily="34" charset="-122"/>
                <a:cs typeface="Calibri" pitchFamily="34" charset="-120"/>
              </a:rPr>
              <a:t>Notice versus practice, for mobile apps (Section II-B)</a:t>
            </a:r>
            <a:endParaRPr lang="en-US" sz="12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94360" y="1371600"/>
          <a:ext cx="11000232" cy="914400"/>
        </p:xfrm>
        <a:graphic>
          <a:graphicData uri="http://schemas.openxmlformats.org/drawingml/2006/table">
            <a:tbl>
              <a:tblPr/>
              <a:tblGrid>
                <a:gridCol w="2286000"/>
                <a:gridCol w="5669280"/>
                <a:gridCol w="3044952"/>
              </a:tblGrid>
              <a:tr h="91440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Paper</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A6093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it established</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A6093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it cannot do</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A6093D"/>
                    </a:solidFill>
                  </a:tcPr>
                </a:tc>
              </a:tr>
              <a:tr h="914400">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Zimmeck '17</a:t>
                      </a:r>
                      <a:endParaRPr lang="en-US" sz="1050" dirty="0">
                        <a:latin typeface="Calibri" charset="0"/>
                        <a:ea typeface="Calibri" charset="0"/>
                        <a:cs typeface="Calibri" charset="0"/>
                      </a:endParaRPr>
                    </a:p>
                    <a:p>
                      <a:pPr indent="0" marL="0">
                        <a:buNone/>
                      </a:pPr>
                      <a:r>
                        <a:rPr lang="en-US" sz="1050" dirty="0">
                          <a:solidFill>
                            <a:srgbClr val="222222"/>
                          </a:solidFill>
                          <a:latin typeface="Calibri" pitchFamily="34" charset="0"/>
                          <a:ea typeface="Calibri" pitchFamily="34" charset="-122"/>
                          <a:cs typeface="Calibri" pitchFamily="34" charset="-120"/>
                        </a:rPr>
                        <a:t>(NDSS)</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Policy classifiers plus static bytecode analysis over ~18,000 Android apps — the first system to genuinely compare disclosure against behaviour.</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static analysis flags libraries that ship but never run</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914400">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Zimmeck '19</a:t>
                      </a:r>
                      <a:endParaRPr lang="en-US" sz="1050" dirty="0">
                        <a:latin typeface="Calibri" charset="0"/>
                        <a:ea typeface="Calibri" charset="0"/>
                        <a:cs typeface="Calibri" charset="0"/>
                      </a:endParaRPr>
                    </a:p>
                    <a:p>
                      <a:pPr indent="0" marL="0">
                        <a:buNone/>
                      </a:pPr>
                      <a:r>
                        <a:rPr lang="en-US" sz="1050" dirty="0">
                          <a:solidFill>
                            <a:srgbClr val="222222"/>
                          </a:solidFill>
                          <a:latin typeface="Calibri" pitchFamily="34" charset="0"/>
                          <a:ea typeface="Calibri" pitchFamily="34" charset="-122"/>
                          <a:cs typeface="Calibri" pitchFamily="34" charset="-120"/>
                        </a:rPr>
                        <a:t>MAPS (PoPETs)</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Same design scaled past a million apps by running cheap classifiers first.</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still static; cannot see consent change state</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914400">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Xiao '23</a:t>
                      </a:r>
                      <a:endParaRPr lang="en-US" sz="1050" dirty="0">
                        <a:latin typeface="Calibri" charset="0"/>
                        <a:ea typeface="Calibri" charset="0"/>
                        <a:cs typeface="Calibri" charset="0"/>
                      </a:endParaRPr>
                    </a:p>
                    <a:p>
                      <a:pPr indent="0" marL="0">
                        <a:buNone/>
                      </a:pPr>
                      <a:r>
                        <a:rPr lang="en-US" sz="1050" dirty="0">
                          <a:solidFill>
                            <a:srgbClr val="222222"/>
                          </a:solidFill>
                          <a:latin typeface="Calibri" pitchFamily="34" charset="0"/>
                          <a:ea typeface="Calibri" pitchFamily="34" charset="-122"/>
                          <a:cs typeface="Calibri" pitchFamily="34" charset="-120"/>
                        </a:rPr>
                        <a:t>Lalaine (USENIX Sec)</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5,102 iOS apps checked against their privacy labels; roughly 3,400 non-compliant, sorted into three kinds of failure.</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store labels, not web telemetry</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5" name="Text 2"/>
          <p:cNvSpPr/>
          <p:nvPr/>
        </p:nvSpPr>
        <p:spPr>
          <a:xfrm>
            <a:off x="594360" y="4434840"/>
            <a:ext cx="11000232" cy="1097280"/>
          </a:xfrm>
          <a:prstGeom prst="rect">
            <a:avLst/>
          </a:prstGeom>
          <a:noFill/>
          <a:ln/>
        </p:spPr>
        <p:txBody>
          <a:bodyPr wrap="square" lIns="0" tIns="0" rIns="0" bIns="0" rtlCol="0" anchor="t"/>
          <a:lstStyle/>
          <a:p>
            <a:pPr indent="0" marL="0">
              <a:buNone/>
            </a:pPr>
            <a:r>
              <a:rPr lang="en-US" sz="1300" b="1" dirty="0">
                <a:solidFill>
                  <a:srgbClr val="A6093D"/>
                </a:solidFill>
                <a:latin typeface="Calibri" pitchFamily="34" charset="0"/>
                <a:ea typeface="Calibri" pitchFamily="34" charset="-122"/>
                <a:cs typeface="Calibri" pitchFamily="34" charset="-120"/>
              </a:rPr>
              <a:t>Taken:  </a:t>
            </a:r>
            <a:pPr indent="0" marL="0">
              <a:buNone/>
            </a:pPr>
            <a:r>
              <a:rPr lang="en-US" sz="1300" dirty="0">
                <a:solidFill>
                  <a:srgbClr val="222222"/>
                </a:solidFill>
                <a:latin typeface="Calibri" pitchFamily="34" charset="0"/>
                <a:ea typeface="Calibri" pitchFamily="34" charset="-122"/>
                <a:cs typeface="Calibri" pitchFamily="34" charset="-120"/>
              </a:rPr>
              <a:t>Zimmeck's principle that you work from a closed set of practices checkable on both sides — which is why each of my dimensions declares exactly which evidence it may use. MAPS' insistence on the phrase “potential non-compliance”. And Lalaine's vocabulary for how disclosure fails: neglect, contrary, inadequate. Every verdict I emit carries one of those three.</a:t>
            </a:r>
            <a:endParaRPr lang="en-US" sz="1300" dirty="0"/>
          </a:p>
        </p:txBody>
      </p:sp>
      <p:sp>
        <p:nvSpPr>
          <p:cNvPr id="6" name="Text 3"/>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94360" y="329184"/>
            <a:ext cx="11000232" cy="548640"/>
          </a:xfrm>
          <a:prstGeom prst="rect">
            <a:avLst/>
          </a:prstGeom>
          <a:noFill/>
          <a:ln/>
        </p:spPr>
        <p:txBody>
          <a:bodyPr wrap="square" lIns="0" tIns="0" rIns="0" bIns="0" rtlCol="0" anchor="ctr"/>
          <a:lstStyle/>
          <a:p>
            <a:pPr indent="0" marL="0">
              <a:buNone/>
            </a:pPr>
            <a:r>
              <a:rPr lang="en-US" sz="2700" b="1" dirty="0">
                <a:solidFill>
                  <a:srgbClr val="222222"/>
                </a:solidFill>
                <a:latin typeface="Calibri" pitchFamily="34" charset="0"/>
                <a:ea typeface="Calibri" pitchFamily="34" charset="-122"/>
                <a:cs typeface="Calibri" pitchFamily="34" charset="-120"/>
              </a:rPr>
              <a:t>Wave 3: measuring what sites actually do</a:t>
            </a:r>
            <a:endParaRPr lang="en-US" sz="2700" dirty="0"/>
          </a:p>
        </p:txBody>
      </p:sp>
      <p:sp>
        <p:nvSpPr>
          <p:cNvPr id="3" name="Text 1"/>
          <p:cNvSpPr/>
          <p:nvPr/>
        </p:nvSpPr>
        <p:spPr>
          <a:xfrm>
            <a:off x="594360" y="896112"/>
            <a:ext cx="11000232" cy="310896"/>
          </a:xfrm>
          <a:prstGeom prst="rect">
            <a:avLst/>
          </a:prstGeom>
          <a:noFill/>
          <a:ln/>
        </p:spPr>
        <p:txBody>
          <a:bodyPr wrap="square" lIns="0" tIns="0" rIns="0" bIns="0" rtlCol="0" anchor="ctr"/>
          <a:lstStyle/>
          <a:p>
            <a:pPr indent="0" marL="0">
              <a:buNone/>
            </a:pPr>
            <a:r>
              <a:rPr lang="en-US" sz="1250" dirty="0">
                <a:solidFill>
                  <a:srgbClr val="666666"/>
                </a:solidFill>
                <a:latin typeface="Calibri" pitchFamily="34" charset="0"/>
                <a:ea typeface="Calibri" pitchFamily="34" charset="-122"/>
                <a:cs typeface="Calibri" pitchFamily="34" charset="-120"/>
              </a:rPr>
              <a:t>Large-scale web measurement (Section II-C)</a:t>
            </a:r>
            <a:endParaRPr lang="en-US" sz="12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94360" y="1371600"/>
          <a:ext cx="11000232" cy="914400"/>
        </p:xfrm>
        <a:graphic>
          <a:graphicData uri="http://schemas.openxmlformats.org/drawingml/2006/table">
            <a:tbl>
              <a:tblPr/>
              <a:tblGrid>
                <a:gridCol w="2286000"/>
                <a:gridCol w="5669280"/>
                <a:gridCol w="3044952"/>
              </a:tblGrid>
              <a:tr h="105156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Paper</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A6093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it established</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A6093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it cannot do</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A6093D"/>
                    </a:solidFill>
                  </a:tcPr>
                </a:tc>
              </a:tr>
              <a:tr h="1051560">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Trevisan '19</a:t>
                      </a:r>
                      <a:endParaRPr lang="en-US" sz="1050" dirty="0">
                        <a:latin typeface="Calibri" charset="0"/>
                        <a:ea typeface="Calibri" charset="0"/>
                        <a:cs typeface="Calibri" charset="0"/>
                      </a:endParaRPr>
                    </a:p>
                    <a:p>
                      <a:pPr indent="0" marL="0">
                        <a:buNone/>
                      </a:pPr>
                      <a:r>
                        <a:rPr lang="en-US" sz="1050" dirty="0">
                          <a:solidFill>
                            <a:srgbClr val="222222"/>
                          </a:solidFill>
                          <a:latin typeface="Calibri" pitchFamily="34" charset="0"/>
                          <a:ea typeface="Calibri" pitchFamily="34" charset="-122"/>
                          <a:cs typeface="Calibri" pitchFamily="34" charset="-120"/>
                        </a:rPr>
                        <a:t>CookieCheck (PoPETs)</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35,862 sites, 179,000 visits. 49% set profiling cookies before any consent; 86% among news media. Violations did not vary by browser or by country.</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never reads the policy; sees only header-set cookies</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1051560">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Bouhoula '24</a:t>
                      </a:r>
                      <a:endParaRPr lang="en-US" sz="1050" dirty="0">
                        <a:latin typeface="Calibri" charset="0"/>
                        <a:ea typeface="Calibri" charset="0"/>
                        <a:cs typeface="Calibri" charset="0"/>
                      </a:endParaRPr>
                    </a:p>
                    <a:p>
                      <a:pPr indent="0" marL="0">
                        <a:buNone/>
                      </a:pPr>
                      <a:r>
                        <a:rPr lang="en-US" sz="1050" dirty="0">
                          <a:solidFill>
                            <a:srgbClr val="222222"/>
                          </a:solidFill>
                          <a:latin typeface="Calibri" pitchFamily="34" charset="0"/>
                          <a:ea typeface="Calibri" pitchFamily="34" charset="-122"/>
                          <a:cs typeface="Calibri" pitchFamily="34" charset="-120"/>
                        </a:rPr>
                        <a:t>alsacnc (USENIX Sec)</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~97,000 EU sites, and it interacts with the banner rather than only observing. Of sites offering a reject option, 65.4% still collect data afterwards.</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population statistics, not per-site evidence; no policy text</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5" name="Text 2"/>
          <p:cNvSpPr/>
          <p:nvPr/>
        </p:nvSpPr>
        <p:spPr>
          <a:xfrm>
            <a:off x="594360" y="4297680"/>
            <a:ext cx="11000232" cy="1463040"/>
          </a:xfrm>
          <a:prstGeom prst="rect">
            <a:avLst/>
          </a:prstGeom>
          <a:noFill/>
          <a:ln/>
        </p:spPr>
        <p:txBody>
          <a:bodyPr wrap="square" lIns="0" tIns="0" rIns="0" bIns="0" rtlCol="0" anchor="t"/>
          <a:lstStyle/>
          <a:p>
            <a:pPr indent="0" marL="0">
              <a:buNone/>
            </a:pPr>
            <a:r>
              <a:rPr lang="en-US" sz="1300" b="1" dirty="0">
                <a:solidFill>
                  <a:srgbClr val="A6093D"/>
                </a:solidFill>
                <a:latin typeface="Calibri" pitchFamily="34" charset="0"/>
                <a:ea typeface="Calibri" pitchFamily="34" charset="-122"/>
                <a:cs typeface="Calibri" pitchFamily="34" charset="-120"/>
              </a:rPr>
              <a:t>Taken:  </a:t>
            </a:r>
            <a:pPr indent="0" marL="0">
              <a:buNone/>
            </a:pPr>
            <a:r>
              <a:rPr lang="en-US" sz="1250" dirty="0">
                <a:solidFill>
                  <a:srgbClr val="222222"/>
                </a:solidFill>
                <a:latin typeface="Calibri" pitchFamily="34" charset="0"/>
                <a:ea typeface="Calibri" pitchFamily="34" charset="-122"/>
                <a:cs typeface="Calibri" pitchFamily="34" charset="-120"/>
              </a:rPr>
              <a:t>Trevisan's definition of a profiling cookie, essentially unchanged — third-party, present in both of two independent tracker lists, and living at least thirty days. Each condition earns its place: third-party excludes the site's own session cookies, two lists mean one list's error cannot condemn a domain alone, and the thirty-day threshold is empirical — they measured the distribution and about 80% of tracker cookies last a month or more. I also copied the visit protocol: clean profile, nothing clicked, nothing scrolled, because interaction could be read as implied consent.</a:t>
            </a:r>
            <a:endParaRPr lang="en-US" sz="1300" dirty="0"/>
          </a:p>
        </p:txBody>
      </p:sp>
      <p:sp>
        <p:nvSpPr>
          <p:cNvPr id="6" name="Text 3"/>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94360" y="329184"/>
            <a:ext cx="11000232" cy="548640"/>
          </a:xfrm>
          <a:prstGeom prst="rect">
            <a:avLst/>
          </a:prstGeom>
          <a:noFill/>
          <a:ln/>
        </p:spPr>
        <p:txBody>
          <a:bodyPr wrap="square" lIns="0" tIns="0" rIns="0" bIns="0" rtlCol="0" anchor="ctr"/>
          <a:lstStyle/>
          <a:p>
            <a:pPr indent="0" marL="0">
              <a:buNone/>
            </a:pPr>
            <a:r>
              <a:rPr lang="en-US" sz="2700" b="1" dirty="0">
                <a:solidFill>
                  <a:srgbClr val="222222"/>
                </a:solidFill>
                <a:latin typeface="Calibri" pitchFamily="34" charset="0"/>
                <a:ea typeface="Calibri" pitchFamily="34" charset="-122"/>
                <a:cs typeface="Calibri" pitchFamily="34" charset="-120"/>
              </a:rPr>
              <a:t>Wave 4: language models applied to law</a:t>
            </a:r>
            <a:endParaRPr lang="en-US" sz="2700" dirty="0"/>
          </a:p>
        </p:txBody>
      </p:sp>
      <p:sp>
        <p:nvSpPr>
          <p:cNvPr id="3" name="Text 1"/>
          <p:cNvSpPr/>
          <p:nvPr/>
        </p:nvSpPr>
        <p:spPr>
          <a:xfrm>
            <a:off x="594360" y="896112"/>
            <a:ext cx="11000232" cy="310896"/>
          </a:xfrm>
          <a:prstGeom prst="rect">
            <a:avLst/>
          </a:prstGeom>
          <a:noFill/>
          <a:ln/>
        </p:spPr>
        <p:txBody>
          <a:bodyPr wrap="square" lIns="0" tIns="0" rIns="0" bIns="0" rtlCol="0" anchor="ctr"/>
          <a:lstStyle/>
          <a:p>
            <a:pPr indent="0" marL="0">
              <a:buNone/>
            </a:pPr>
            <a:r>
              <a:rPr lang="en-US" sz="1250" dirty="0">
                <a:solidFill>
                  <a:srgbClr val="666666"/>
                </a:solidFill>
                <a:latin typeface="Calibri" pitchFamily="34" charset="0"/>
                <a:ea typeface="Calibri" pitchFamily="34" charset="-122"/>
                <a:cs typeface="Calibri" pitchFamily="34" charset="-120"/>
              </a:rPr>
              <a:t>Reasoning over legal text (Section II-D)</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94360" y="1371600"/>
          <a:ext cx="11000232" cy="914400"/>
        </p:xfrm>
        <a:graphic>
          <a:graphicData uri="http://schemas.openxmlformats.org/drawingml/2006/table">
            <a:tbl>
              <a:tblPr/>
              <a:tblGrid>
                <a:gridCol w="2286000"/>
                <a:gridCol w="5669280"/>
                <a:gridCol w="3044952"/>
              </a:tblGrid>
              <a:tr h="105156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Paper</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A6093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it established</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A6093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it cannot do</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A6093D"/>
                    </a:solidFill>
                  </a:tcPr>
                </a:tc>
              </a:tr>
              <a:tr h="1051560">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Guha '23</a:t>
                      </a:r>
                      <a:endParaRPr lang="en-US" sz="1050" dirty="0">
                        <a:latin typeface="Calibri" charset="0"/>
                        <a:ea typeface="Calibri" charset="0"/>
                        <a:cs typeface="Calibri" charset="0"/>
                      </a:endParaRPr>
                    </a:p>
                    <a:p>
                      <a:pPr indent="0" marL="0">
                        <a:buNone/>
                      </a:pPr>
                      <a:r>
                        <a:rPr lang="en-US" sz="1050" dirty="0">
                          <a:solidFill>
                            <a:srgbClr val="222222"/>
                          </a:solidFill>
                          <a:latin typeface="Calibri" pitchFamily="34" charset="0"/>
                          <a:ea typeface="Calibri" pitchFamily="34" charset="-122"/>
                          <a:cs typeface="Calibri" pitchFamily="34" charset="-120"/>
                        </a:rPr>
                        <a:t>LegalBench (NeurIPS)</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162 legal-reasoning tasks from 40 contributors, organised around IRAC — issue, rule, application, conclusion.</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clean isolated text; no real-world facts</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1051560">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Xie '25</a:t>
                      </a:r>
                      <a:endParaRPr lang="en-US" sz="1050" dirty="0">
                        <a:latin typeface="Calibri" charset="0"/>
                        <a:ea typeface="Calibri" charset="0"/>
                        <a:cs typeface="Calibri" charset="0"/>
                      </a:endParaRPr>
                    </a:p>
                    <a:p>
                      <a:pPr indent="0" marL="0">
                        <a:buNone/>
                      </a:pPr>
                      <a:r>
                        <a:rPr lang="en-US" sz="1050" dirty="0">
                          <a:solidFill>
                            <a:srgbClr val="222222"/>
                          </a:solidFill>
                          <a:latin typeface="Calibri" pitchFamily="34" charset="0"/>
                          <a:ea typeface="Calibri" pitchFamily="34" charset="-122"/>
                          <a:cs typeface="Calibri" pitchFamily="34" charset="-120"/>
                        </a:rPr>
                        <a:t>(USENIX Sec)</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34 clauses systematised from 10 privacy laws; over 100,000 policies scored by an LLM, averaging F1 0.94 against expert annotation.</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policy text only — the authors state they have no behavioural evidence</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5" name="Text 2"/>
          <p:cNvSpPr/>
          <p:nvPr/>
        </p:nvSpPr>
        <p:spPr>
          <a:xfrm>
            <a:off x="594360" y="4297680"/>
            <a:ext cx="11000232" cy="1188720"/>
          </a:xfrm>
          <a:prstGeom prst="rect">
            <a:avLst/>
          </a:prstGeom>
          <a:noFill/>
          <a:ln/>
        </p:spPr>
        <p:txBody>
          <a:bodyPr wrap="square" lIns="0" tIns="0" rIns="0" bIns="0" rtlCol="0" anchor="t"/>
          <a:lstStyle/>
          <a:p>
            <a:pPr indent="0" marL="0">
              <a:buNone/>
            </a:pPr>
            <a:r>
              <a:rPr lang="en-US" sz="1300" b="1" dirty="0">
                <a:solidFill>
                  <a:srgbClr val="A6093D"/>
                </a:solidFill>
                <a:latin typeface="Calibri" pitchFamily="34" charset="0"/>
                <a:ea typeface="Calibri" pitchFamily="34" charset="-122"/>
                <a:cs typeface="Calibri" pitchFamily="34" charset="-120"/>
              </a:rPr>
              <a:t>Taken:  </a:t>
            </a:r>
            <a:pPr indent="0" marL="0">
              <a:buNone/>
            </a:pPr>
            <a:r>
              <a:rPr lang="en-US" sz="1300" dirty="0">
                <a:solidFill>
                  <a:srgbClr val="222222"/>
                </a:solidFill>
                <a:latin typeface="Calibri" pitchFamily="34" charset="0"/>
                <a:ea typeface="Calibri" pitchFamily="34" charset="-122"/>
                <a:cs typeface="Calibri" pitchFamily="34" charset="-120"/>
              </a:rPr>
              <a:t>IRAC is literally the structure of my prompt — the issue is the dimension, the rule is the retrieved article, the application is the policy plus the telemetry, the conclusion is the verdict. Xie's 34 clauses were used to check my dimension coverage, and their protocol of annotating a sample and reporting per-clause F1 is my evaluation design.</a:t>
            </a:r>
            <a:endParaRPr lang="en-US" sz="1300" dirty="0"/>
          </a:p>
        </p:txBody>
      </p:sp>
      <p:sp>
        <p:nvSpPr>
          <p:cNvPr id="6" name="Text 3"/>
          <p:cNvSpPr/>
          <p:nvPr/>
        </p:nvSpPr>
        <p:spPr>
          <a:xfrm>
            <a:off x="594360" y="5486400"/>
            <a:ext cx="11000232" cy="457200"/>
          </a:xfrm>
          <a:prstGeom prst="rect">
            <a:avLst/>
          </a:prstGeom>
          <a:noFill/>
          <a:ln/>
        </p:spPr>
        <p:txBody>
          <a:bodyPr wrap="square" lIns="0" tIns="0" rIns="0" bIns="0" rtlCol="0" anchor="ctr"/>
          <a:lstStyle/>
          <a:p>
            <a:pPr indent="0" marL="0">
              <a:buNone/>
            </a:pPr>
            <a:r>
              <a:rPr lang="en-US" sz="1300" i="1" dirty="0">
                <a:solidFill>
                  <a:srgbClr val="A6093D"/>
                </a:solidFill>
                <a:latin typeface="Calibri" pitchFamily="34" charset="0"/>
                <a:ea typeface="Calibri" pitchFamily="34" charset="-122"/>
                <a:cs typeface="Calibri" pitchFamily="34" charset="-120"/>
              </a:rPr>
              <a:t>Xie is the closest work on the text side, and it proves the idea scales. The gap it leaves open — no behavioural evidence — is where this project sits.</a:t>
            </a:r>
            <a:endParaRPr lang="en-US" sz="1300" dirty="0"/>
          </a:p>
        </p:txBody>
      </p:sp>
      <p:sp>
        <p:nvSpPr>
          <p:cNvPr id="7" name="Text 4"/>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94360" y="1371600"/>
            <a:ext cx="10972800" cy="731520"/>
          </a:xfrm>
          <a:prstGeom prst="rect">
            <a:avLst/>
          </a:prstGeom>
          <a:noFill/>
          <a:ln/>
        </p:spPr>
        <p:txBody>
          <a:bodyPr wrap="square" lIns="0" tIns="0" rIns="0" bIns="0" rtlCol="0" anchor="ctr"/>
          <a:lstStyle/>
          <a:p>
            <a:pPr indent="0" marL="0">
              <a:buNone/>
            </a:pPr>
            <a:r>
              <a:rPr lang="en-US" sz="3000" b="1" dirty="0">
                <a:solidFill>
                  <a:srgbClr val="A6093D"/>
                </a:solidFill>
                <a:latin typeface="Calibri" pitchFamily="34" charset="0"/>
                <a:ea typeface="Calibri" pitchFamily="34" charset="-122"/>
                <a:cs typeface="Calibri" pitchFamily="34" charset="-120"/>
              </a:rPr>
              <a:t>Nobody combines all three for the live web.</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94360" y="2331720"/>
          <a:ext cx="11000232" cy="914400"/>
        </p:xfrm>
        <a:graphic>
          <a:graphicData uri="http://schemas.openxmlformats.org/drawingml/2006/table">
            <a:tbl>
              <a:tblPr/>
              <a:tblGrid>
                <a:gridCol w="640080"/>
                <a:gridCol w="4572000"/>
                <a:gridCol w="5788152"/>
              </a:tblGrid>
              <a:tr h="777240">
                <a:tc>
                  <a:txBody>
                    <a:bodyPr/>
                    <a:lstStyle/>
                    <a:p>
                      <a:pPr indent="0" marL="0">
                        <a:buNone/>
                      </a:pP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A6093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Gap left open</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A6093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I built in response</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A6093D"/>
                    </a:solidFill>
                  </a:tcPr>
                </a:tc>
              </a:tr>
              <a:tr h="777240">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G1</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Text-only analysis cannot verify behaviour</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policy claims cross-referenced against runtime telemetry</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777240">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G2</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Notice-versus-practice exists only for static mobile binaries</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instrumented browser: HTTP archive, JavaScript events, consent-UI state</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777240">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G3</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Web measurement ignores the written policy</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the scraped policy injected in full, alongside the evidence</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777240">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G4</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LLMs reason over law without grounded facts</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retrieval over a legal store; the model may quote only what it was given</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4" name="Text 1"/>
          <p:cNvSpPr/>
          <p:nvPr/>
        </p:nvSpPr>
        <p:spPr>
          <a:xfrm>
            <a:off x="594360" y="5623560"/>
            <a:ext cx="11000232" cy="457200"/>
          </a:xfrm>
          <a:prstGeom prst="rect">
            <a:avLst/>
          </a:prstGeom>
          <a:noFill/>
          <a:ln/>
        </p:spPr>
        <p:txBody>
          <a:bodyPr wrap="square" lIns="0" tIns="0" rIns="0" bIns="0" rtlCol="0" anchor="ctr"/>
          <a:lstStyle/>
          <a:p>
            <a:pPr indent="0" marL="0">
              <a:buNone/>
            </a:pPr>
            <a:r>
              <a:rPr lang="en-US" sz="1300" i="1" dirty="0">
                <a:solidFill>
                  <a:srgbClr val="222222"/>
                </a:solidFill>
                <a:latin typeface="Calibri" pitchFamily="34" charset="0"/>
                <a:ea typeface="Calibri" pitchFamily="34" charset="-122"/>
                <a:cs typeface="Calibri" pitchFamily="34" charset="-120"/>
              </a:rPr>
              <a:t>Each component exists because a specific gap demanded it. I did not pick an architecture and then look for justification.</a:t>
            </a:r>
            <a:endParaRPr lang="en-US" sz="1300" dirty="0"/>
          </a:p>
        </p:txBody>
      </p:sp>
      <p:sp>
        <p:nvSpPr>
          <p:cNvPr id="5" name="Text 2"/>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94360" y="329184"/>
            <a:ext cx="11000232" cy="548640"/>
          </a:xfrm>
          <a:prstGeom prst="rect">
            <a:avLst/>
          </a:prstGeom>
          <a:noFill/>
          <a:ln/>
        </p:spPr>
        <p:txBody>
          <a:bodyPr wrap="square" lIns="0" tIns="0" rIns="0" bIns="0" rtlCol="0" anchor="ctr"/>
          <a:lstStyle/>
          <a:p>
            <a:pPr indent="0" marL="0">
              <a:buNone/>
            </a:pPr>
            <a:r>
              <a:rPr lang="en-US" sz="2700" b="1" dirty="0">
                <a:solidFill>
                  <a:srgbClr val="222222"/>
                </a:solidFill>
                <a:latin typeface="Calibri" pitchFamily="34" charset="0"/>
                <a:ea typeface="Calibri" pitchFamily="34" charset="-122"/>
                <a:cs typeface="Calibri" pitchFamily="34" charset="-120"/>
              </a:rPr>
              <a:t>How it fits together</a:t>
            </a:r>
            <a:endParaRPr lang="en-US" sz="2700" dirty="0"/>
          </a:p>
        </p:txBody>
      </p:sp>
      <p:sp>
        <p:nvSpPr>
          <p:cNvPr id="3" name="Text 1"/>
          <p:cNvSpPr/>
          <p:nvPr/>
        </p:nvSpPr>
        <p:spPr>
          <a:xfrm>
            <a:off x="594360" y="896112"/>
            <a:ext cx="11000232" cy="310896"/>
          </a:xfrm>
          <a:prstGeom prst="rect">
            <a:avLst/>
          </a:prstGeom>
          <a:noFill/>
          <a:ln/>
        </p:spPr>
        <p:txBody>
          <a:bodyPr wrap="square" lIns="0" tIns="0" rIns="0" bIns="0" rtlCol="0" anchor="ctr"/>
          <a:lstStyle/>
          <a:p>
            <a:pPr indent="0" marL="0">
              <a:buNone/>
            </a:pPr>
            <a:r>
              <a:rPr lang="en-US" sz="1250" dirty="0">
                <a:solidFill>
                  <a:srgbClr val="666666"/>
                </a:solidFill>
                <a:latin typeface="Calibri" pitchFamily="34" charset="0"/>
                <a:ea typeface="Calibri" pitchFamily="34" charset="-122"/>
                <a:cs typeface="Calibri" pitchFamily="34" charset="-120"/>
              </a:rPr>
              <a:t>Three phases (Section III)</a:t>
            </a:r>
            <a:endParaRPr lang="en-US" sz="1250" dirty="0"/>
          </a:p>
        </p:txBody>
      </p:sp>
      <p:sp>
        <p:nvSpPr>
          <p:cNvPr id="4" name="Text 2"/>
          <p:cNvSpPr/>
          <p:nvPr/>
        </p:nvSpPr>
        <p:spPr>
          <a:xfrm>
            <a:off x="594360" y="1371600"/>
            <a:ext cx="3474720" cy="274320"/>
          </a:xfrm>
          <a:prstGeom prst="rect">
            <a:avLst/>
          </a:prstGeom>
          <a:noFill/>
          <a:ln/>
        </p:spPr>
        <p:txBody>
          <a:bodyPr wrap="square" lIns="0" tIns="0" rIns="0" bIns="0" rtlCol="0" anchor="ctr"/>
          <a:lstStyle/>
          <a:p>
            <a:pPr indent="0" marL="0">
              <a:buNone/>
            </a:pPr>
            <a:r>
              <a:rPr lang="en-US" sz="1350" b="1" dirty="0">
                <a:solidFill>
                  <a:srgbClr val="A6093D"/>
                </a:solidFill>
                <a:latin typeface="Calibri" pitchFamily="34" charset="0"/>
                <a:ea typeface="Calibri" pitchFamily="34" charset="-122"/>
                <a:cs typeface="Calibri" pitchFamily="34" charset="-120"/>
              </a:rPr>
              <a:t>1 · Load the law, once</a:t>
            </a:r>
            <a:endParaRPr lang="en-US" sz="1350" dirty="0"/>
          </a:p>
        </p:txBody>
      </p:sp>
      <p:sp>
        <p:nvSpPr>
          <p:cNvPr id="5" name="Shape 3"/>
          <p:cNvSpPr/>
          <p:nvPr/>
        </p:nvSpPr>
        <p:spPr>
          <a:xfrm>
            <a:off x="594360" y="1719072"/>
            <a:ext cx="3383280" cy="640080"/>
          </a:xfrm>
          <a:prstGeom prst="rect">
            <a:avLst/>
          </a:prstGeom>
          <a:solidFill>
            <a:srgbClr val="F4F4F4"/>
          </a:solidFill>
          <a:ln w="12700">
            <a:solidFill>
              <a:srgbClr val="CCCCCC"/>
            </a:solidFill>
            <a:prstDash val="solid"/>
          </a:ln>
        </p:spPr>
      </p:sp>
      <p:sp>
        <p:nvSpPr>
          <p:cNvPr id="6" name="Text 4"/>
          <p:cNvSpPr/>
          <p:nvPr/>
        </p:nvSpPr>
        <p:spPr>
          <a:xfrm>
            <a:off x="667512" y="1719072"/>
            <a:ext cx="3236976" cy="640080"/>
          </a:xfrm>
          <a:prstGeom prst="rect">
            <a:avLst/>
          </a:prstGeom>
          <a:noFill/>
          <a:ln/>
        </p:spPr>
        <p:txBody>
          <a:bodyPr wrap="square" lIns="0" tIns="0" rIns="0" bIns="0" rtlCol="0" anchor="ctr"/>
          <a:lstStyle/>
          <a:p>
            <a:pPr indent="0" marL="0">
              <a:buNone/>
            </a:pPr>
            <a:r>
              <a:rPr lang="en-US" sz="1150" b="1" dirty="0">
                <a:solidFill>
                  <a:srgbClr val="222222"/>
                </a:solidFill>
                <a:latin typeface="Calibri" pitchFamily="34" charset="0"/>
                <a:ea typeface="Calibri" pitchFamily="34" charset="-122"/>
                <a:cs typeface="Calibri" pitchFamily="34" charset="-120"/>
              </a:rPr>
              <a:t>GDPR · S.I. 336/2011 · PECR · DPDP
</a:t>
            </a:r>
            <a:pPr indent="0" marL="0">
              <a:buNone/>
            </a:pPr>
            <a:r>
              <a:rPr lang="en-US" sz="900" dirty="0">
                <a:solidFill>
                  <a:srgbClr val="666666"/>
                </a:solidFill>
                <a:latin typeface="Calibri" pitchFamily="34" charset="0"/>
                <a:ea typeface="Calibri" pitchFamily="34" charset="-122"/>
                <a:cs typeface="Calibri" pitchFamily="34" charset="-120"/>
              </a:rPr>
              <a:t>from official sources</a:t>
            </a:r>
            <a:endParaRPr lang="en-US" sz="1150" dirty="0"/>
          </a:p>
        </p:txBody>
      </p:sp>
      <p:sp>
        <p:nvSpPr>
          <p:cNvPr id="7" name="Shape 5"/>
          <p:cNvSpPr/>
          <p:nvPr/>
        </p:nvSpPr>
        <p:spPr>
          <a:xfrm>
            <a:off x="594360" y="2468880"/>
            <a:ext cx="3383280" cy="640080"/>
          </a:xfrm>
          <a:prstGeom prst="rect">
            <a:avLst/>
          </a:prstGeom>
          <a:solidFill>
            <a:srgbClr val="F4F4F4"/>
          </a:solidFill>
          <a:ln w="12700">
            <a:solidFill>
              <a:srgbClr val="CCCCCC"/>
            </a:solidFill>
            <a:prstDash val="solid"/>
          </a:ln>
        </p:spPr>
      </p:sp>
      <p:sp>
        <p:nvSpPr>
          <p:cNvPr id="8" name="Text 6"/>
          <p:cNvSpPr/>
          <p:nvPr/>
        </p:nvSpPr>
        <p:spPr>
          <a:xfrm>
            <a:off x="667512" y="2468880"/>
            <a:ext cx="3236976" cy="640080"/>
          </a:xfrm>
          <a:prstGeom prst="rect">
            <a:avLst/>
          </a:prstGeom>
          <a:noFill/>
          <a:ln/>
        </p:spPr>
        <p:txBody>
          <a:bodyPr wrap="square" lIns="0" tIns="0" rIns="0" bIns="0" rtlCol="0" anchor="ctr"/>
          <a:lstStyle/>
          <a:p>
            <a:pPr indent="0" marL="0">
              <a:buNone/>
            </a:pPr>
            <a:r>
              <a:rPr lang="en-US" sz="1150" b="1" dirty="0">
                <a:solidFill>
                  <a:srgbClr val="222222"/>
                </a:solidFill>
                <a:latin typeface="Calibri" pitchFamily="34" charset="0"/>
                <a:ea typeface="Calibri" pitchFamily="34" charset="-122"/>
                <a:cs typeface="Calibri" pitchFamily="34" charset="-120"/>
              </a:rPr>
              <a:t>Split by legal unit
</a:t>
            </a:r>
            <a:pPr indent="0" marL="0">
              <a:buNone/>
            </a:pPr>
            <a:r>
              <a:rPr lang="en-US" sz="900" dirty="0">
                <a:solidFill>
                  <a:srgbClr val="666666"/>
                </a:solidFill>
                <a:latin typeface="Calibri" pitchFamily="34" charset="0"/>
                <a:ea typeface="Calibri" pitchFamily="34" charset="-122"/>
                <a:cs typeface="Calibri" pitchFamily="34" charset="-120"/>
              </a:rPr>
              <a:t>one chunk = one article. GDPR → 99</a:t>
            </a:r>
            <a:endParaRPr lang="en-US" sz="1150" dirty="0"/>
          </a:p>
        </p:txBody>
      </p:sp>
      <p:sp>
        <p:nvSpPr>
          <p:cNvPr id="9" name="Shape 7"/>
          <p:cNvSpPr/>
          <p:nvPr/>
        </p:nvSpPr>
        <p:spPr>
          <a:xfrm>
            <a:off x="594360" y="3218688"/>
            <a:ext cx="3383280" cy="640080"/>
          </a:xfrm>
          <a:prstGeom prst="rect">
            <a:avLst/>
          </a:prstGeom>
          <a:solidFill>
            <a:srgbClr val="F4F4F4"/>
          </a:solidFill>
          <a:ln w="12700">
            <a:solidFill>
              <a:srgbClr val="CCCCCC"/>
            </a:solidFill>
            <a:prstDash val="solid"/>
          </a:ln>
        </p:spPr>
      </p:sp>
      <p:sp>
        <p:nvSpPr>
          <p:cNvPr id="10" name="Text 8"/>
          <p:cNvSpPr/>
          <p:nvPr/>
        </p:nvSpPr>
        <p:spPr>
          <a:xfrm>
            <a:off x="667512" y="3218688"/>
            <a:ext cx="3236976" cy="640080"/>
          </a:xfrm>
          <a:prstGeom prst="rect">
            <a:avLst/>
          </a:prstGeom>
          <a:noFill/>
          <a:ln/>
        </p:spPr>
        <p:txBody>
          <a:bodyPr wrap="square" lIns="0" tIns="0" rIns="0" bIns="0" rtlCol="0" anchor="ctr"/>
          <a:lstStyle/>
          <a:p>
            <a:pPr indent="0" marL="0">
              <a:buNone/>
            </a:pPr>
            <a:r>
              <a:rPr lang="en-US" sz="1150" b="1" dirty="0">
                <a:solidFill>
                  <a:srgbClr val="222222"/>
                </a:solidFill>
                <a:latin typeface="Calibri" pitchFamily="34" charset="0"/>
                <a:ea typeface="Calibri" pitchFamily="34" charset="-122"/>
                <a:cs typeface="Calibri" pitchFamily="34" charset="-120"/>
              </a:rPr>
              <a:t>Sentence embeddings
</a:t>
            </a:r>
            <a:pPr indent="0" marL="0">
              <a:buNone/>
            </a:pPr>
            <a:r>
              <a:rPr lang="en-US" sz="900" dirty="0">
                <a:solidFill>
                  <a:srgbClr val="666666"/>
                </a:solidFill>
                <a:latin typeface="Calibri" pitchFamily="34" charset="0"/>
                <a:ea typeface="Calibri" pitchFamily="34" charset="-122"/>
                <a:cs typeface="Calibri" pitchFamily="34" charset="-120"/>
              </a:rPr>
              <a:t>tagged: regulation, article, type</a:t>
            </a:r>
            <a:endParaRPr lang="en-US" sz="1150" dirty="0"/>
          </a:p>
        </p:txBody>
      </p:sp>
      <p:sp>
        <p:nvSpPr>
          <p:cNvPr id="11" name="Shape 9"/>
          <p:cNvSpPr/>
          <p:nvPr/>
        </p:nvSpPr>
        <p:spPr>
          <a:xfrm>
            <a:off x="594360" y="3968496"/>
            <a:ext cx="3383280" cy="640080"/>
          </a:xfrm>
          <a:prstGeom prst="rect">
            <a:avLst/>
          </a:prstGeom>
          <a:solidFill>
            <a:srgbClr val="F4F4F4"/>
          </a:solidFill>
          <a:ln w="12700">
            <a:solidFill>
              <a:srgbClr val="CCCCCC"/>
            </a:solidFill>
            <a:prstDash val="solid"/>
          </a:ln>
        </p:spPr>
      </p:sp>
      <p:sp>
        <p:nvSpPr>
          <p:cNvPr id="12" name="Text 10"/>
          <p:cNvSpPr/>
          <p:nvPr/>
        </p:nvSpPr>
        <p:spPr>
          <a:xfrm>
            <a:off x="667512" y="3968496"/>
            <a:ext cx="3236976" cy="640080"/>
          </a:xfrm>
          <a:prstGeom prst="rect">
            <a:avLst/>
          </a:prstGeom>
          <a:noFill/>
          <a:ln/>
        </p:spPr>
        <p:txBody>
          <a:bodyPr wrap="square" lIns="0" tIns="0" rIns="0" bIns="0" rtlCol="0" anchor="ctr"/>
          <a:lstStyle/>
          <a:p>
            <a:pPr indent="0" marL="0">
              <a:buNone/>
            </a:pPr>
            <a:r>
              <a:rPr lang="en-US" sz="1150" b="1" dirty="0">
                <a:solidFill>
                  <a:srgbClr val="222222"/>
                </a:solidFill>
                <a:latin typeface="Calibri" pitchFamily="34" charset="0"/>
                <a:ea typeface="Calibri" pitchFamily="34" charset="-122"/>
                <a:cs typeface="Calibri" pitchFamily="34" charset="-120"/>
              </a:rPr>
              <a:t>Vector store
</a:t>
            </a:r>
            <a:pPr indent="0" marL="0">
              <a:buNone/>
            </a:pPr>
            <a:r>
              <a:rPr lang="en-US" sz="900" dirty="0">
                <a:solidFill>
                  <a:srgbClr val="666666"/>
                </a:solidFill>
                <a:latin typeface="Calibri" pitchFamily="34" charset="0"/>
                <a:ea typeface="Calibri" pitchFamily="34" charset="-122"/>
                <a:cs typeface="Calibri" pitchFamily="34" charset="-120"/>
              </a:rPr>
              <a:t>queried per dimension</a:t>
            </a:r>
            <a:endParaRPr lang="en-US" sz="1150" dirty="0"/>
          </a:p>
        </p:txBody>
      </p:sp>
      <p:sp>
        <p:nvSpPr>
          <p:cNvPr id="13" name="Text 11"/>
          <p:cNvSpPr/>
          <p:nvPr/>
        </p:nvSpPr>
        <p:spPr>
          <a:xfrm>
            <a:off x="4434840" y="1371600"/>
            <a:ext cx="3566160" cy="274320"/>
          </a:xfrm>
          <a:prstGeom prst="rect">
            <a:avLst/>
          </a:prstGeom>
          <a:noFill/>
          <a:ln/>
        </p:spPr>
        <p:txBody>
          <a:bodyPr wrap="square" lIns="0" tIns="0" rIns="0" bIns="0" rtlCol="0" anchor="ctr"/>
          <a:lstStyle/>
          <a:p>
            <a:pPr indent="0" marL="0">
              <a:buNone/>
            </a:pPr>
            <a:r>
              <a:rPr lang="en-US" sz="1350" b="1" dirty="0">
                <a:solidFill>
                  <a:srgbClr val="A6093D"/>
                </a:solidFill>
                <a:latin typeface="Calibri" pitchFamily="34" charset="0"/>
                <a:ea typeface="Calibri" pitchFamily="34" charset="-122"/>
                <a:cs typeface="Calibri" pitchFamily="34" charset="-120"/>
              </a:rPr>
              <a:t>2 · Watch the site, per audit</a:t>
            </a:r>
            <a:endParaRPr lang="en-US" sz="1350" dirty="0"/>
          </a:p>
        </p:txBody>
      </p:sp>
      <p:sp>
        <p:nvSpPr>
          <p:cNvPr id="14" name="Shape 12"/>
          <p:cNvSpPr/>
          <p:nvPr/>
        </p:nvSpPr>
        <p:spPr>
          <a:xfrm>
            <a:off x="4434840" y="1719072"/>
            <a:ext cx="3383280" cy="640080"/>
          </a:xfrm>
          <a:prstGeom prst="rect">
            <a:avLst/>
          </a:prstGeom>
          <a:solidFill>
            <a:srgbClr val="F4F4F4"/>
          </a:solidFill>
          <a:ln w="12700">
            <a:solidFill>
              <a:srgbClr val="CCCCCC"/>
            </a:solidFill>
            <a:prstDash val="solid"/>
          </a:ln>
        </p:spPr>
      </p:sp>
      <p:sp>
        <p:nvSpPr>
          <p:cNvPr id="15" name="Text 13"/>
          <p:cNvSpPr/>
          <p:nvPr/>
        </p:nvSpPr>
        <p:spPr>
          <a:xfrm>
            <a:off x="4507992" y="1719072"/>
            <a:ext cx="3236976" cy="640080"/>
          </a:xfrm>
          <a:prstGeom prst="rect">
            <a:avLst/>
          </a:prstGeom>
          <a:noFill/>
          <a:ln/>
        </p:spPr>
        <p:txBody>
          <a:bodyPr wrap="square" lIns="0" tIns="0" rIns="0" bIns="0" rtlCol="0" anchor="ctr"/>
          <a:lstStyle/>
          <a:p>
            <a:pPr indent="0" marL="0">
              <a:buNone/>
            </a:pPr>
            <a:r>
              <a:rPr lang="en-US" sz="1150" b="1" dirty="0">
                <a:solidFill>
                  <a:srgbClr val="222222"/>
                </a:solidFill>
                <a:latin typeface="Calibri" pitchFamily="34" charset="0"/>
                <a:ea typeface="Calibri" pitchFamily="34" charset="-122"/>
                <a:cs typeface="Calibri" pitchFamily="34" charset="-120"/>
              </a:rPr>
              <a:t>Clean-profile visit
</a:t>
            </a:r>
            <a:pPr indent="0" marL="0">
              <a:buNone/>
            </a:pPr>
            <a:r>
              <a:rPr lang="en-US" sz="900" dirty="0">
                <a:solidFill>
                  <a:srgbClr val="666666"/>
                </a:solidFill>
                <a:latin typeface="Calibri" pitchFamily="34" charset="0"/>
                <a:ea typeface="Calibri" pitchFamily="34" charset="-122"/>
                <a:cs typeface="Calibri" pitchFamily="34" charset="-120"/>
              </a:rPr>
              <a:t>nothing clicked, nothing scrolled</a:t>
            </a:r>
            <a:endParaRPr lang="en-US" sz="1150" dirty="0"/>
          </a:p>
        </p:txBody>
      </p:sp>
      <p:sp>
        <p:nvSpPr>
          <p:cNvPr id="16" name="Shape 14"/>
          <p:cNvSpPr/>
          <p:nvPr/>
        </p:nvSpPr>
        <p:spPr>
          <a:xfrm>
            <a:off x="4434840" y="2468880"/>
            <a:ext cx="3383280" cy="640080"/>
          </a:xfrm>
          <a:prstGeom prst="rect">
            <a:avLst/>
          </a:prstGeom>
          <a:solidFill>
            <a:srgbClr val="F4F4F4"/>
          </a:solidFill>
          <a:ln w="12700">
            <a:solidFill>
              <a:srgbClr val="CCCCCC"/>
            </a:solidFill>
            <a:prstDash val="solid"/>
          </a:ln>
        </p:spPr>
      </p:sp>
      <p:sp>
        <p:nvSpPr>
          <p:cNvPr id="17" name="Text 15"/>
          <p:cNvSpPr/>
          <p:nvPr/>
        </p:nvSpPr>
        <p:spPr>
          <a:xfrm>
            <a:off x="4507992" y="2468880"/>
            <a:ext cx="3236976" cy="640080"/>
          </a:xfrm>
          <a:prstGeom prst="rect">
            <a:avLst/>
          </a:prstGeom>
          <a:noFill/>
          <a:ln/>
        </p:spPr>
        <p:txBody>
          <a:bodyPr wrap="square" lIns="0" tIns="0" rIns="0" bIns="0" rtlCol="0" anchor="ctr"/>
          <a:lstStyle/>
          <a:p>
            <a:pPr indent="0" marL="0">
              <a:buNone/>
            </a:pPr>
            <a:r>
              <a:rPr lang="en-US" sz="1150" b="1" dirty="0">
                <a:solidFill>
                  <a:srgbClr val="222222"/>
                </a:solidFill>
                <a:latin typeface="Calibri" pitchFamily="34" charset="0"/>
                <a:ea typeface="Calibri" pitchFamily="34" charset="-122"/>
                <a:cs typeface="Calibri" pitchFamily="34" charset="-120"/>
              </a:rPr>
              <a:t>HTTP archive + API traps
</a:t>
            </a:r>
            <a:pPr indent="0" marL="0">
              <a:buNone/>
            </a:pPr>
            <a:r>
              <a:rPr lang="en-US" sz="900" dirty="0">
                <a:solidFill>
                  <a:srgbClr val="666666"/>
                </a:solidFill>
                <a:latin typeface="Calibri" pitchFamily="34" charset="0"/>
                <a:ea typeface="Calibri" pitchFamily="34" charset="-122"/>
                <a:cs typeface="Calibri" pitchFamily="34" charset="-120"/>
              </a:rPr>
              <a:t>canvas, WebGL, audio, WebRTC, battery, fonts</a:t>
            </a:r>
            <a:endParaRPr lang="en-US" sz="1150" dirty="0"/>
          </a:p>
        </p:txBody>
      </p:sp>
      <p:sp>
        <p:nvSpPr>
          <p:cNvPr id="18" name="Shape 16"/>
          <p:cNvSpPr/>
          <p:nvPr/>
        </p:nvSpPr>
        <p:spPr>
          <a:xfrm>
            <a:off x="4434840" y="3218688"/>
            <a:ext cx="3383280" cy="640080"/>
          </a:xfrm>
          <a:prstGeom prst="rect">
            <a:avLst/>
          </a:prstGeom>
          <a:solidFill>
            <a:srgbClr val="F4F4F4"/>
          </a:solidFill>
          <a:ln w="12700">
            <a:solidFill>
              <a:srgbClr val="CCCCCC"/>
            </a:solidFill>
            <a:prstDash val="solid"/>
          </a:ln>
        </p:spPr>
      </p:sp>
      <p:sp>
        <p:nvSpPr>
          <p:cNvPr id="19" name="Text 17"/>
          <p:cNvSpPr/>
          <p:nvPr/>
        </p:nvSpPr>
        <p:spPr>
          <a:xfrm>
            <a:off x="4507992" y="3218688"/>
            <a:ext cx="3236976" cy="640080"/>
          </a:xfrm>
          <a:prstGeom prst="rect">
            <a:avLst/>
          </a:prstGeom>
          <a:noFill/>
          <a:ln/>
        </p:spPr>
        <p:txBody>
          <a:bodyPr wrap="square" lIns="0" tIns="0" rIns="0" bIns="0" rtlCol="0" anchor="ctr"/>
          <a:lstStyle/>
          <a:p>
            <a:pPr indent="0" marL="0">
              <a:buNone/>
            </a:pPr>
            <a:r>
              <a:rPr lang="en-US" sz="1150" b="1" dirty="0">
                <a:solidFill>
                  <a:srgbClr val="222222"/>
                </a:solidFill>
                <a:latin typeface="Calibri" pitchFamily="34" charset="0"/>
                <a:ea typeface="Calibri" pitchFamily="34" charset="-122"/>
                <a:cs typeface="Calibri" pitchFamily="34" charset="-120"/>
              </a:rPr>
              <a:t>Evidence extraction
</a:t>
            </a:r>
            <a:pPr indent="0" marL="0">
              <a:buNone/>
            </a:pPr>
            <a:r>
              <a:rPr lang="en-US" sz="900" dirty="0">
                <a:solidFill>
                  <a:srgbClr val="666666"/>
                </a:solidFill>
                <a:latin typeface="Calibri" pitchFamily="34" charset="0"/>
                <a:ea typeface="Calibri" pitchFamily="34" charset="-122"/>
                <a:cs typeface="Calibri" pitchFamily="34" charset="-120"/>
              </a:rPr>
              <a:t>profiling-cookie rule; JS-set cookies recovered</a:t>
            </a:r>
            <a:endParaRPr lang="en-US" sz="1150" dirty="0"/>
          </a:p>
        </p:txBody>
      </p:sp>
      <p:sp>
        <p:nvSpPr>
          <p:cNvPr id="20" name="Shape 18"/>
          <p:cNvSpPr/>
          <p:nvPr/>
        </p:nvSpPr>
        <p:spPr>
          <a:xfrm>
            <a:off x="4434840" y="3968496"/>
            <a:ext cx="3383280" cy="640080"/>
          </a:xfrm>
          <a:prstGeom prst="rect">
            <a:avLst/>
          </a:prstGeom>
          <a:solidFill>
            <a:srgbClr val="F4F4F4"/>
          </a:solidFill>
          <a:ln w="12700">
            <a:solidFill>
              <a:srgbClr val="CCCCCC"/>
            </a:solidFill>
            <a:prstDash val="solid"/>
          </a:ln>
        </p:spPr>
      </p:sp>
      <p:sp>
        <p:nvSpPr>
          <p:cNvPr id="21" name="Text 19"/>
          <p:cNvSpPr/>
          <p:nvPr/>
        </p:nvSpPr>
        <p:spPr>
          <a:xfrm>
            <a:off x="4507992" y="3968496"/>
            <a:ext cx="3236976" cy="640080"/>
          </a:xfrm>
          <a:prstGeom prst="rect">
            <a:avLst/>
          </a:prstGeom>
          <a:noFill/>
          <a:ln/>
        </p:spPr>
        <p:txBody>
          <a:bodyPr wrap="square" lIns="0" tIns="0" rIns="0" bIns="0" rtlCol="0" anchor="ctr"/>
          <a:lstStyle/>
          <a:p>
            <a:pPr indent="0" marL="0">
              <a:buNone/>
            </a:pPr>
            <a:r>
              <a:rPr lang="en-US" sz="1150" b="1" dirty="0">
                <a:solidFill>
                  <a:srgbClr val="222222"/>
                </a:solidFill>
                <a:latin typeface="Calibri" pitchFamily="34" charset="0"/>
                <a:ea typeface="Calibri" pitchFamily="34" charset="-122"/>
                <a:cs typeface="Calibri" pitchFamily="34" charset="-120"/>
              </a:rPr>
              <a:t>Policy retrieval
</a:t>
            </a:r>
            <a:pPr indent="0" marL="0">
              <a:buNone/>
            </a:pPr>
            <a:r>
              <a:rPr lang="en-US" sz="900" dirty="0">
                <a:solidFill>
                  <a:srgbClr val="666666"/>
                </a:solidFill>
                <a:latin typeface="Calibri" pitchFamily="34" charset="0"/>
                <a:ea typeface="Calibri" pitchFamily="34" charset="-122"/>
                <a:cs typeface="Calibri" pitchFamily="34" charset="-120"/>
              </a:rPr>
              <a:t>privacy and cookie policy as text</a:t>
            </a:r>
            <a:endParaRPr lang="en-US" sz="1150" dirty="0"/>
          </a:p>
        </p:txBody>
      </p:sp>
      <p:sp>
        <p:nvSpPr>
          <p:cNvPr id="22" name="Text 20"/>
          <p:cNvSpPr/>
          <p:nvPr/>
        </p:nvSpPr>
        <p:spPr>
          <a:xfrm>
            <a:off x="8275320" y="1371600"/>
            <a:ext cx="3291840" cy="274320"/>
          </a:xfrm>
          <a:prstGeom prst="rect">
            <a:avLst/>
          </a:prstGeom>
          <a:noFill/>
          <a:ln/>
        </p:spPr>
        <p:txBody>
          <a:bodyPr wrap="square" lIns="0" tIns="0" rIns="0" bIns="0" rtlCol="0" anchor="ctr"/>
          <a:lstStyle/>
          <a:p>
            <a:pPr indent="0" marL="0">
              <a:buNone/>
            </a:pPr>
            <a:r>
              <a:rPr lang="en-US" sz="1350" b="1" dirty="0">
                <a:solidFill>
                  <a:srgbClr val="A6093D"/>
                </a:solidFill>
                <a:latin typeface="Calibri" pitchFamily="34" charset="0"/>
                <a:ea typeface="Calibri" pitchFamily="34" charset="-122"/>
                <a:cs typeface="Calibri" pitchFamily="34" charset="-120"/>
              </a:rPr>
              <a:t>3 · Judge, per dimension</a:t>
            </a:r>
            <a:endParaRPr lang="en-US" sz="1350" dirty="0"/>
          </a:p>
        </p:txBody>
      </p:sp>
      <p:sp>
        <p:nvSpPr>
          <p:cNvPr id="23" name="Shape 21"/>
          <p:cNvSpPr/>
          <p:nvPr/>
        </p:nvSpPr>
        <p:spPr>
          <a:xfrm>
            <a:off x="8275320" y="1719072"/>
            <a:ext cx="3291840" cy="640080"/>
          </a:xfrm>
          <a:prstGeom prst="rect">
            <a:avLst/>
          </a:prstGeom>
          <a:solidFill>
            <a:srgbClr val="F4F4F4"/>
          </a:solidFill>
          <a:ln w="12700">
            <a:solidFill>
              <a:srgbClr val="CCCCCC"/>
            </a:solidFill>
            <a:prstDash val="solid"/>
          </a:ln>
        </p:spPr>
      </p:sp>
      <p:sp>
        <p:nvSpPr>
          <p:cNvPr id="24" name="Text 22"/>
          <p:cNvSpPr/>
          <p:nvPr/>
        </p:nvSpPr>
        <p:spPr>
          <a:xfrm>
            <a:off x="8348472" y="1719072"/>
            <a:ext cx="3145536" cy="640080"/>
          </a:xfrm>
          <a:prstGeom prst="rect">
            <a:avLst/>
          </a:prstGeom>
          <a:noFill/>
          <a:ln/>
        </p:spPr>
        <p:txBody>
          <a:bodyPr wrap="square" lIns="0" tIns="0" rIns="0" bIns="0" rtlCol="0" anchor="ctr"/>
          <a:lstStyle/>
          <a:p>
            <a:pPr indent="0" marL="0">
              <a:buNone/>
            </a:pPr>
            <a:r>
              <a:rPr lang="en-US" sz="1150" b="1" dirty="0">
                <a:solidFill>
                  <a:srgbClr val="222222"/>
                </a:solidFill>
                <a:latin typeface="Calibri" pitchFamily="34" charset="0"/>
                <a:ea typeface="Calibri" pitchFamily="34" charset="-122"/>
                <a:cs typeface="Calibri" pitchFamily="34" charset="-120"/>
              </a:rPr>
              <a:t>Retrieve the rule
</a:t>
            </a:r>
            <a:pPr indent="0" marL="0">
              <a:buNone/>
            </a:pPr>
            <a:r>
              <a:rPr lang="en-US" sz="900" dirty="0">
                <a:solidFill>
                  <a:srgbClr val="666666"/>
                </a:solidFill>
                <a:latin typeface="Calibri" pitchFamily="34" charset="0"/>
                <a:ea typeface="Calibri" pitchFamily="34" charset="-122"/>
                <a:cs typeface="Calibri" pitchFamily="34" charset="-120"/>
              </a:rPr>
              <a:t>article anchors + filtered search</a:t>
            </a:r>
            <a:endParaRPr lang="en-US" sz="1150" dirty="0"/>
          </a:p>
        </p:txBody>
      </p:sp>
      <p:sp>
        <p:nvSpPr>
          <p:cNvPr id="25" name="Shape 23"/>
          <p:cNvSpPr/>
          <p:nvPr/>
        </p:nvSpPr>
        <p:spPr>
          <a:xfrm>
            <a:off x="8275320" y="2468880"/>
            <a:ext cx="3291840" cy="640080"/>
          </a:xfrm>
          <a:prstGeom prst="rect">
            <a:avLst/>
          </a:prstGeom>
          <a:solidFill>
            <a:srgbClr val="F4F4F4"/>
          </a:solidFill>
          <a:ln w="12700">
            <a:solidFill>
              <a:srgbClr val="CCCCCC"/>
            </a:solidFill>
            <a:prstDash val="solid"/>
          </a:ln>
        </p:spPr>
      </p:sp>
      <p:sp>
        <p:nvSpPr>
          <p:cNvPr id="26" name="Text 24"/>
          <p:cNvSpPr/>
          <p:nvPr/>
        </p:nvSpPr>
        <p:spPr>
          <a:xfrm>
            <a:off x="8348472" y="2468880"/>
            <a:ext cx="3145536" cy="640080"/>
          </a:xfrm>
          <a:prstGeom prst="rect">
            <a:avLst/>
          </a:prstGeom>
          <a:noFill/>
          <a:ln/>
        </p:spPr>
        <p:txBody>
          <a:bodyPr wrap="square" lIns="0" tIns="0" rIns="0" bIns="0" rtlCol="0" anchor="ctr"/>
          <a:lstStyle/>
          <a:p>
            <a:pPr indent="0" marL="0">
              <a:buNone/>
            </a:pPr>
            <a:r>
              <a:rPr lang="en-US" sz="1150" b="1" dirty="0">
                <a:solidFill>
                  <a:srgbClr val="222222"/>
                </a:solidFill>
                <a:latin typeface="Calibri" pitchFamily="34" charset="0"/>
                <a:ea typeface="Calibri" pitchFamily="34" charset="-122"/>
                <a:cs typeface="Calibri" pitchFamily="34" charset="-120"/>
              </a:rPr>
              <a:t>IRAC prompt, temperature 0
</a:t>
            </a:r>
            <a:pPr indent="0" marL="0">
              <a:buNone/>
            </a:pPr>
            <a:r>
              <a:rPr lang="en-US" sz="900" dirty="0">
                <a:solidFill>
                  <a:srgbClr val="666666"/>
                </a:solidFill>
                <a:latin typeface="Calibri" pitchFamily="34" charset="0"/>
                <a:ea typeface="Calibri" pitchFamily="34" charset="-122"/>
                <a:cs typeface="Calibri" pitchFamily="34" charset="-120"/>
              </a:rPr>
              <a:t>law + notice + practice together</a:t>
            </a:r>
            <a:endParaRPr lang="en-US" sz="1150" dirty="0"/>
          </a:p>
        </p:txBody>
      </p:sp>
      <p:sp>
        <p:nvSpPr>
          <p:cNvPr id="27" name="Shape 25"/>
          <p:cNvSpPr/>
          <p:nvPr/>
        </p:nvSpPr>
        <p:spPr>
          <a:xfrm>
            <a:off x="8275320" y="3218688"/>
            <a:ext cx="3291840" cy="640080"/>
          </a:xfrm>
          <a:prstGeom prst="rect">
            <a:avLst/>
          </a:prstGeom>
          <a:solidFill>
            <a:srgbClr val="F4F4F4"/>
          </a:solidFill>
          <a:ln w="12700">
            <a:solidFill>
              <a:srgbClr val="CCCCCC"/>
            </a:solidFill>
            <a:prstDash val="solid"/>
          </a:ln>
        </p:spPr>
      </p:sp>
      <p:sp>
        <p:nvSpPr>
          <p:cNvPr id="28" name="Text 26"/>
          <p:cNvSpPr/>
          <p:nvPr/>
        </p:nvSpPr>
        <p:spPr>
          <a:xfrm>
            <a:off x="8348472" y="3218688"/>
            <a:ext cx="3145536" cy="640080"/>
          </a:xfrm>
          <a:prstGeom prst="rect">
            <a:avLst/>
          </a:prstGeom>
          <a:noFill/>
          <a:ln/>
        </p:spPr>
        <p:txBody>
          <a:bodyPr wrap="square" lIns="0" tIns="0" rIns="0" bIns="0" rtlCol="0" anchor="ctr"/>
          <a:lstStyle/>
          <a:p>
            <a:pPr indent="0" marL="0">
              <a:buNone/>
            </a:pPr>
            <a:r>
              <a:rPr lang="en-US" sz="1150" b="1" dirty="0">
                <a:solidFill>
                  <a:srgbClr val="222222"/>
                </a:solidFill>
                <a:latin typeface="Calibri" pitchFamily="34" charset="0"/>
                <a:ea typeface="Calibri" pitchFamily="34" charset="-122"/>
                <a:cs typeface="Calibri" pitchFamily="34" charset="-120"/>
              </a:rPr>
              <a:t>Structured verdict
</a:t>
            </a:r>
            <a:pPr indent="0" marL="0">
              <a:buNone/>
            </a:pPr>
            <a:r>
              <a:rPr lang="en-US" sz="900" dirty="0">
                <a:solidFill>
                  <a:srgbClr val="666666"/>
                </a:solidFill>
                <a:latin typeface="Calibri" pitchFamily="34" charset="0"/>
                <a:ea typeface="Calibri" pitchFamily="34" charset="-122"/>
                <a:cs typeface="Calibri" pitchFamily="34" charset="-120"/>
              </a:rPr>
              <a:t>score, article, both quotes, discrepancy</a:t>
            </a:r>
            <a:endParaRPr lang="en-US" sz="1150" dirty="0"/>
          </a:p>
        </p:txBody>
      </p:sp>
      <p:sp>
        <p:nvSpPr>
          <p:cNvPr id="29" name="Shape 27"/>
          <p:cNvSpPr/>
          <p:nvPr/>
        </p:nvSpPr>
        <p:spPr>
          <a:xfrm>
            <a:off x="8275320" y="3968496"/>
            <a:ext cx="3291840" cy="640080"/>
          </a:xfrm>
          <a:prstGeom prst="rect">
            <a:avLst/>
          </a:prstGeom>
          <a:solidFill>
            <a:srgbClr val="F4F4F4"/>
          </a:solidFill>
          <a:ln w="12700">
            <a:solidFill>
              <a:srgbClr val="CCCCCC"/>
            </a:solidFill>
            <a:prstDash val="solid"/>
          </a:ln>
        </p:spPr>
      </p:sp>
      <p:sp>
        <p:nvSpPr>
          <p:cNvPr id="30" name="Text 28"/>
          <p:cNvSpPr/>
          <p:nvPr/>
        </p:nvSpPr>
        <p:spPr>
          <a:xfrm>
            <a:off x="8348472" y="3968496"/>
            <a:ext cx="3145536" cy="640080"/>
          </a:xfrm>
          <a:prstGeom prst="rect">
            <a:avLst/>
          </a:prstGeom>
          <a:noFill/>
          <a:ln/>
        </p:spPr>
        <p:txBody>
          <a:bodyPr wrap="square" lIns="0" tIns="0" rIns="0" bIns="0" rtlCol="0" anchor="ctr"/>
          <a:lstStyle/>
          <a:p>
            <a:pPr indent="0" marL="0">
              <a:buNone/>
            </a:pPr>
            <a:r>
              <a:rPr lang="en-US" sz="1150" b="1" dirty="0">
                <a:solidFill>
                  <a:srgbClr val="222222"/>
                </a:solidFill>
                <a:latin typeface="Calibri" pitchFamily="34" charset="0"/>
                <a:ea typeface="Calibri" pitchFamily="34" charset="-122"/>
                <a:cs typeface="Calibri" pitchFamily="34" charset="-120"/>
              </a:rPr>
              <a:t>Weighted report
</a:t>
            </a:r>
            <a:pPr indent="0" marL="0">
              <a:buNone/>
            </a:pPr>
            <a:r>
              <a:rPr lang="en-US" sz="900" dirty="0">
                <a:solidFill>
                  <a:srgbClr val="666666"/>
                </a:solidFill>
                <a:latin typeface="Calibri" pitchFamily="34" charset="0"/>
                <a:ea typeface="Calibri" pitchFamily="34" charset="-122"/>
                <a:cs typeface="Calibri" pitchFamily="34" charset="-120"/>
              </a:rPr>
              <a:t>abstentions excluded</a:t>
            </a:r>
            <a:endParaRPr lang="en-US" sz="1150" dirty="0"/>
          </a:p>
        </p:txBody>
      </p:sp>
      <p:sp>
        <p:nvSpPr>
          <p:cNvPr id="31" name="Shape 29"/>
          <p:cNvSpPr/>
          <p:nvPr/>
        </p:nvSpPr>
        <p:spPr>
          <a:xfrm>
            <a:off x="4023360" y="2834640"/>
            <a:ext cx="365760" cy="0"/>
          </a:xfrm>
          <a:prstGeom prst="line">
            <a:avLst/>
          </a:prstGeom>
          <a:noFill/>
          <a:ln w="19050">
            <a:solidFill>
              <a:srgbClr val="222222"/>
            </a:solidFill>
            <a:prstDash val="solid"/>
            <a:tailEnd type="arrow"/>
          </a:ln>
        </p:spPr>
      </p:sp>
      <p:sp>
        <p:nvSpPr>
          <p:cNvPr id="32" name="Shape 30"/>
          <p:cNvSpPr/>
          <p:nvPr/>
        </p:nvSpPr>
        <p:spPr>
          <a:xfrm>
            <a:off x="7863840" y="2834640"/>
            <a:ext cx="365760" cy="0"/>
          </a:xfrm>
          <a:prstGeom prst="line">
            <a:avLst/>
          </a:prstGeom>
          <a:noFill/>
          <a:ln w="19050">
            <a:solidFill>
              <a:srgbClr val="222222"/>
            </a:solidFill>
            <a:prstDash val="solid"/>
            <a:tailEnd type="arrow"/>
          </a:ln>
        </p:spPr>
      </p:sp>
      <p:sp>
        <p:nvSpPr>
          <p:cNvPr id="33" name="Text 31"/>
          <p:cNvSpPr/>
          <p:nvPr/>
        </p:nvSpPr>
        <p:spPr>
          <a:xfrm>
            <a:off x="594360" y="4846320"/>
            <a:ext cx="11000232" cy="822960"/>
          </a:xfrm>
          <a:prstGeom prst="rect">
            <a:avLst/>
          </a:prstGeom>
          <a:noFill/>
          <a:ln/>
        </p:spPr>
        <p:txBody>
          <a:bodyPr wrap="square" lIns="0" tIns="0" rIns="0" bIns="0" rtlCol="0" anchor="ctr"/>
          <a:lstStyle/>
          <a:p>
            <a:pPr indent="0" marL="0">
              <a:buNone/>
            </a:pPr>
            <a:r>
              <a:rPr lang="en-US" sz="1300" dirty="0">
                <a:solidFill>
                  <a:srgbClr val="222222"/>
                </a:solidFill>
                <a:latin typeface="Calibri" pitchFamily="34" charset="0"/>
                <a:ea typeface="Calibri" pitchFamily="34" charset="-122"/>
                <a:cs typeface="Calibri" pitchFamily="34" charset="-120"/>
              </a:rPr>
              <a:t>Two guards stop it before it can guess. A degenerate capture — a handful of requests and no interface elements, which is what bot-blocking looks like — is refused outright. And a dimension with no policy text and no relevant events returns “not addressed” without the model being called at all.</a:t>
            </a:r>
            <a:endParaRPr lang="en-US" sz="1300" dirty="0"/>
          </a:p>
        </p:txBody>
      </p:sp>
      <p:sp>
        <p:nvSpPr>
          <p:cNvPr id="34" name="Text 32"/>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94360" y="329184"/>
            <a:ext cx="11000232" cy="548640"/>
          </a:xfrm>
          <a:prstGeom prst="rect">
            <a:avLst/>
          </a:prstGeom>
          <a:noFill/>
          <a:ln/>
        </p:spPr>
        <p:txBody>
          <a:bodyPr wrap="square" lIns="0" tIns="0" rIns="0" bIns="0" rtlCol="0" anchor="ctr"/>
          <a:lstStyle/>
          <a:p>
            <a:pPr indent="0" marL="0">
              <a:buNone/>
            </a:pPr>
            <a:r>
              <a:rPr lang="en-US" sz="2700" b="1" dirty="0">
                <a:solidFill>
                  <a:srgbClr val="222222"/>
                </a:solidFill>
                <a:latin typeface="Calibri" pitchFamily="34" charset="0"/>
                <a:ea typeface="Calibri" pitchFamily="34" charset="-122"/>
                <a:cs typeface="Calibri" pitchFamily="34" charset="-120"/>
              </a:rPr>
              <a:t>The code</a:t>
            </a:r>
            <a:endParaRPr lang="en-US" sz="2700" dirty="0"/>
          </a:p>
        </p:txBody>
      </p:sp>
      <p:sp>
        <p:nvSpPr>
          <p:cNvPr id="3" name="Text 1"/>
          <p:cNvSpPr/>
          <p:nvPr/>
        </p:nvSpPr>
        <p:spPr>
          <a:xfrm>
            <a:off x="594360" y="896112"/>
            <a:ext cx="11000232" cy="310896"/>
          </a:xfrm>
          <a:prstGeom prst="rect">
            <a:avLst/>
          </a:prstGeom>
          <a:noFill/>
          <a:ln/>
        </p:spPr>
        <p:txBody>
          <a:bodyPr wrap="square" lIns="0" tIns="0" rIns="0" bIns="0" rtlCol="0" anchor="ctr"/>
          <a:lstStyle/>
          <a:p>
            <a:pPr indent="0" marL="0">
              <a:buNone/>
            </a:pPr>
            <a:r>
              <a:rPr lang="en-US" sz="1250" dirty="0">
                <a:solidFill>
                  <a:srgbClr val="666666"/>
                </a:solidFill>
                <a:latin typeface="Calibri" pitchFamily="34" charset="0"/>
                <a:ea typeface="Calibri" pitchFamily="34" charset="-122"/>
                <a:cs typeface="Calibri" pitchFamily="34" charset="-120"/>
              </a:rPr>
              <a:t>Eight modules, each runnable and testable on its own</a:t>
            </a:r>
            <a:endParaRPr lang="en-US" sz="12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94360" y="1371600"/>
          <a:ext cx="11000232" cy="914400"/>
        </p:xfrm>
        <a:graphic>
          <a:graphicData uri="http://schemas.openxmlformats.org/drawingml/2006/table">
            <a:tbl>
              <a:tblPr/>
              <a:tblGrid>
                <a:gridCol w="2468880"/>
                <a:gridCol w="3200400"/>
                <a:gridCol w="5330952"/>
              </a:tblGrid>
              <a:tr h="54864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Module</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A6093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Responsibility</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A6093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The part worth knowing</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A6093D"/>
                    </a:solidFill>
                  </a:tcPr>
                </a:tc>
              </a:tr>
              <a:tr h="548640">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telemetry_collector</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instrumented browser visit</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traps injected before page scripts; clean profile, no interaction</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548640">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policy_scraper</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finds and saves the policies</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now falls through to the next candidate when a URL 403s</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548640">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compliance_loader + ingest</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statutes → retrievable chunks</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handles Article, UK/Irish SI, and Californian numbering</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548640">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har_extractor</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traffic → structured evidence</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the profiling-cookie rule lives here; recovers JS-set cookies</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548640">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retriever</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fetches the applicable law</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deterministic article anchors placed ahead of semantic hits</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548640">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scorer</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prompt, validation, aggregation</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records which articles were retrieved — this is what makes audit possible</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548640">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verify_report</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re-checks every claim</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no LLM anywhere in it, so it cannot fabricate</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548640">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batch_audit</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runs and verifies across a site list</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counts failures instead of dropping them</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5" name="Text 2"/>
          <p:cNvSpPr/>
          <p:nvPr/>
        </p:nvSpPr>
        <p:spPr>
          <a:xfrm>
            <a:off x="594360" y="5806440"/>
            <a:ext cx="7315200" cy="365760"/>
          </a:xfrm>
          <a:prstGeom prst="rect">
            <a:avLst/>
          </a:prstGeom>
          <a:noFill/>
          <a:ln/>
        </p:spPr>
        <p:txBody>
          <a:bodyPr wrap="square" lIns="0" tIns="0" rIns="0" bIns="0" rtlCol="0" anchor="ctr"/>
          <a:lstStyle/>
          <a:p>
            <a:pPr indent="0" marL="0">
              <a:buNone/>
            </a:pPr>
            <a:r>
              <a:rPr lang="en-US" sz="1250" i="1" dirty="0">
                <a:solidFill>
                  <a:srgbClr val="666666"/>
                </a:solidFill>
                <a:latin typeface="Calibri" pitchFamily="34" charset="0"/>
                <a:ea typeface="Calibri" pitchFamily="34" charset="-122"/>
                <a:cs typeface="Calibri" pitchFamily="34" charset="-120"/>
              </a:rPr>
              <a:t>Roughly 4,000 lines. Happy to open any of these.</a:t>
            </a:r>
            <a:endParaRPr lang="en-US" sz="1250" dirty="0"/>
          </a:p>
        </p:txBody>
      </p:sp>
      <p:sp>
        <p:nvSpPr>
          <p:cNvPr id="6" name="Text 3"/>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94360" y="329184"/>
            <a:ext cx="11000232" cy="548640"/>
          </a:xfrm>
          <a:prstGeom prst="rect">
            <a:avLst/>
          </a:prstGeom>
          <a:noFill/>
          <a:ln/>
        </p:spPr>
        <p:txBody>
          <a:bodyPr wrap="square" lIns="0" tIns="0" rIns="0" bIns="0" rtlCol="0" anchor="ctr"/>
          <a:lstStyle/>
          <a:p>
            <a:pPr indent="0" marL="0">
              <a:buNone/>
            </a:pPr>
            <a:r>
              <a:rPr lang="en-US" sz="2700" b="1" dirty="0">
                <a:solidFill>
                  <a:srgbClr val="222222"/>
                </a:solidFill>
                <a:latin typeface="Calibri" pitchFamily="34" charset="0"/>
                <a:ea typeface="Calibri" pitchFamily="34" charset="-122"/>
                <a:cs typeface="Calibri" pitchFamily="34" charset="-120"/>
              </a:rPr>
              <a:t>How I tested it</a:t>
            </a:r>
            <a:endParaRPr lang="en-US" sz="2700" dirty="0"/>
          </a:p>
        </p:txBody>
      </p:sp>
      <p:sp>
        <p:nvSpPr>
          <p:cNvPr id="3" name="Text 1"/>
          <p:cNvSpPr/>
          <p:nvPr/>
        </p:nvSpPr>
        <p:spPr>
          <a:xfrm>
            <a:off x="594360" y="896112"/>
            <a:ext cx="11000232" cy="310896"/>
          </a:xfrm>
          <a:prstGeom prst="rect">
            <a:avLst/>
          </a:prstGeom>
          <a:noFill/>
          <a:ln/>
        </p:spPr>
        <p:txBody>
          <a:bodyPr wrap="square" lIns="0" tIns="0" rIns="0" bIns="0" rtlCol="0" anchor="ctr"/>
          <a:lstStyle/>
          <a:p>
            <a:pPr indent="0" marL="0">
              <a:buNone/>
            </a:pPr>
            <a:r>
              <a:rPr lang="en-US" sz="1250" dirty="0">
                <a:solidFill>
                  <a:srgbClr val="666666"/>
                </a:solidFill>
                <a:latin typeface="Calibri" pitchFamily="34" charset="0"/>
                <a:ea typeface="Calibri" pitchFamily="34" charset="-122"/>
                <a:cs typeface="Calibri" pitchFamily="34" charset="-120"/>
              </a:rPr>
              <a:t>Section IV</a:t>
            </a:r>
            <a:endParaRPr lang="en-US" sz="1250" dirty="0"/>
          </a:p>
        </p:txBody>
      </p:sp>
      <p:sp>
        <p:nvSpPr>
          <p:cNvPr id="4" name="Text 2"/>
          <p:cNvSpPr/>
          <p:nvPr/>
        </p:nvSpPr>
        <p:spPr>
          <a:xfrm>
            <a:off x="594360" y="1371600"/>
            <a:ext cx="6766560" cy="2560320"/>
          </a:xfrm>
          <a:prstGeom prst="rect">
            <a:avLst/>
          </a:prstGeom>
          <a:noFill/>
          <a:ln/>
        </p:spPr>
        <p:txBody>
          <a:bodyPr wrap="square" lIns="0" tIns="0" rIns="0" bIns="0" rtlCol="0" anchor="t"/>
          <a:lstStyle/>
          <a:p>
            <a:pPr marL="152400" indent="-152400">
              <a:spcAft>
                <a:spcPts val="700"/>
              </a:spcAft>
              <a:buSzPct val="100000"/>
              <a:buChar char="–"/>
            </a:pPr>
            <a:r>
              <a:rPr lang="en-US" sz="1350" dirty="0">
                <a:solidFill>
                  <a:srgbClr val="222222"/>
                </a:solidFill>
                <a:latin typeface="Calibri" pitchFamily="34" charset="0"/>
                <a:ea typeface="Calibri" pitchFamily="34" charset="-122"/>
                <a:cs typeface="Calibri" pitchFamily="34" charset="-120"/>
              </a:rPr>
              <a:t>One site in depth, to establish the pipeline produces usable findings.</a:t>
            </a:r>
            <a:endParaRPr lang="en-US" sz="1350" dirty="0"/>
          </a:p>
          <a:p>
            <a:pPr marL="152400" indent="-152400">
              <a:spcAft>
                <a:spcPts val="700"/>
              </a:spcAft>
              <a:buSzPct val="100000"/>
              <a:buChar char="–"/>
            </a:pPr>
            <a:r>
              <a:rPr lang="en-US" sz="1350" dirty="0">
                <a:solidFill>
                  <a:srgbClr val="222222"/>
                </a:solidFill>
                <a:latin typeface="Calibri" pitchFamily="34" charset="0"/>
                <a:ea typeface="Calibri" pitchFamily="34" charset="-122"/>
                <a:cs typeface="Calibri" pitchFamily="34" charset="-120"/>
              </a:rPr>
              <a:t>Then twenty sites across six sectors and four jurisdictions — deliberately including two that use bot protection, so the failure path was exercised rather than avoided.</a:t>
            </a:r>
            <a:endParaRPr lang="en-US" sz="1350" dirty="0"/>
          </a:p>
          <a:p>
            <a:pPr marL="152400" indent="-152400">
              <a:spcAft>
                <a:spcPts val="700"/>
              </a:spcAft>
              <a:buSzPct val="100000"/>
              <a:buChar char="–"/>
            </a:pPr>
            <a:r>
              <a:rPr lang="en-US" sz="1350" dirty="0">
                <a:solidFill>
                  <a:srgbClr val="222222"/>
                </a:solidFill>
                <a:latin typeface="Calibri" pitchFamily="34" charset="0"/>
                <a:ea typeface="Calibri" pitchFamily="34" charset="-122"/>
                <a:cs typeface="Calibri" pitchFamily="34" charset="-120"/>
              </a:rPr>
              <a:t>Then every verdict re-checked mechanically against the telemetry it came from.</a:t>
            </a:r>
            <a:endParaRPr lang="en-US" sz="1350" dirty="0"/>
          </a:p>
        </p:txBody>
      </p:sp>
      <p:sp>
        <p:nvSpPr>
          <p:cNvPr id="5" name="Shape 3"/>
          <p:cNvSpPr/>
          <p:nvPr/>
        </p:nvSpPr>
        <p:spPr>
          <a:xfrm>
            <a:off x="7635240" y="1371600"/>
            <a:ext cx="3931920" cy="2560320"/>
          </a:xfrm>
          <a:prstGeom prst="rect">
            <a:avLst/>
          </a:prstGeom>
          <a:solidFill>
            <a:srgbClr val="F4F4F4"/>
          </a:solidFill>
          <a:ln w="12700">
            <a:solidFill>
              <a:srgbClr val="CCCCCC"/>
            </a:solidFill>
            <a:prstDash val="solid"/>
          </a:ln>
        </p:spPr>
      </p:sp>
      <p:sp>
        <p:nvSpPr>
          <p:cNvPr id="6" name="Text 4"/>
          <p:cNvSpPr/>
          <p:nvPr/>
        </p:nvSpPr>
        <p:spPr>
          <a:xfrm>
            <a:off x="7818120" y="1554480"/>
            <a:ext cx="3566160" cy="2194560"/>
          </a:xfrm>
          <a:prstGeom prst="rect">
            <a:avLst/>
          </a:prstGeom>
          <a:noFill/>
          <a:ln/>
        </p:spPr>
        <p:txBody>
          <a:bodyPr wrap="square" lIns="0" tIns="0" rIns="0" bIns="0" rtlCol="0" anchor="t"/>
          <a:lstStyle/>
          <a:p>
            <a:pPr indent="0" marL="0">
              <a:buNone/>
            </a:pPr>
            <a:r>
              <a:rPr lang="en-US" sz="1400" b="1" dirty="0">
                <a:solidFill>
                  <a:srgbClr val="A6093D"/>
                </a:solidFill>
                <a:latin typeface="Calibri" pitchFamily="34" charset="0"/>
                <a:ea typeface="Calibri" pitchFamily="34" charset="-122"/>
                <a:cs typeface="Calibri" pitchFamily="34" charset="-120"/>
              </a:rPr>
              <a:t>Why the third stage
</a:t>
            </a:r>
            <a:pPr indent="0" marL="0">
              <a:buNone/>
            </a:pPr>
            <a:r>
              <a:rPr lang="en-US" sz="1250" dirty="0">
                <a:solidFill>
                  <a:srgbClr val="222222"/>
                </a:solidFill>
                <a:latin typeface="Calibri" pitchFamily="34" charset="0"/>
                <a:ea typeface="Calibri" pitchFamily="34" charset="-122"/>
                <a:cs typeface="Calibri" pitchFamily="34" charset="-120"/>
              </a:rPr>
              <a:t>A language model doing the reasoning is only useful if you can show the findings came from the evidence and not from the model. Measuring that had to be part of the method, not an afterthought.</a:t>
            </a:r>
            <a:endParaRPr lang="en-US" sz="1400" dirty="0"/>
          </a:p>
        </p:txBody>
      </p:sp>
      <p:sp>
        <p:nvSpPr>
          <p:cNvPr id="7" name="Text 5"/>
          <p:cNvSpPr/>
          <p:nvPr/>
        </p:nvSpPr>
        <p:spPr>
          <a:xfrm>
            <a:off x="594360" y="4206240"/>
            <a:ext cx="11000232" cy="731520"/>
          </a:xfrm>
          <a:prstGeom prst="rect">
            <a:avLst/>
          </a:prstGeom>
          <a:noFill/>
          <a:ln/>
        </p:spPr>
        <p:txBody>
          <a:bodyPr wrap="square" lIns="0" tIns="0" rIns="0" bIns="0" rtlCol="0" anchor="ctr"/>
          <a:lstStyle/>
          <a:p>
            <a:pPr indent="0" marL="0">
              <a:buNone/>
            </a:pPr>
            <a:r>
              <a:rPr lang="en-US" sz="1300" dirty="0">
                <a:solidFill>
                  <a:srgbClr val="222222"/>
                </a:solidFill>
                <a:latin typeface="Calibri" pitchFamily="34" charset="0"/>
                <a:ea typeface="Calibri" pitchFamily="34" charset="-122"/>
                <a:cs typeface="Calibri" pitchFamily="34" charset="-120"/>
              </a:rPr>
              <a:t>Temperature zero, pinned tracker lists, versioned prompts, per-site logs retained. Every stage outcome recorded — a tool that quietly drops the sites it cannot handle reports a flattering and false picture.</a:t>
            </a:r>
            <a:endParaRPr lang="en-US" sz="1300" dirty="0"/>
          </a:p>
        </p:txBody>
      </p:sp>
      <p:sp>
        <p:nvSpPr>
          <p:cNvPr id="8" name="Text 6"/>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94360" y="329184"/>
            <a:ext cx="11000232" cy="548640"/>
          </a:xfrm>
          <a:prstGeom prst="rect">
            <a:avLst/>
          </a:prstGeom>
          <a:noFill/>
          <a:ln/>
        </p:spPr>
        <p:txBody>
          <a:bodyPr wrap="square" lIns="0" tIns="0" rIns="0" bIns="0" rtlCol="0" anchor="ctr"/>
          <a:lstStyle/>
          <a:p>
            <a:pPr indent="0" marL="0">
              <a:buNone/>
            </a:pPr>
            <a:r>
              <a:rPr lang="en-US" sz="2700" b="1" dirty="0">
                <a:solidFill>
                  <a:srgbClr val="222222"/>
                </a:solidFill>
                <a:latin typeface="Calibri" pitchFamily="34" charset="0"/>
                <a:ea typeface="Calibri" pitchFamily="34" charset="-122"/>
                <a:cs typeface="Calibri" pitchFamily="34" charset="-120"/>
              </a:rPr>
              <a:t>What twenty sites showed</a:t>
            </a:r>
            <a:endParaRPr lang="en-US" sz="2700" dirty="0"/>
          </a:p>
        </p:txBody>
      </p:sp>
      <p:sp>
        <p:nvSpPr>
          <p:cNvPr id="3" name="Text 1"/>
          <p:cNvSpPr/>
          <p:nvPr/>
        </p:nvSpPr>
        <p:spPr>
          <a:xfrm>
            <a:off x="594360" y="896112"/>
            <a:ext cx="11000232" cy="310896"/>
          </a:xfrm>
          <a:prstGeom prst="rect">
            <a:avLst/>
          </a:prstGeom>
          <a:noFill/>
          <a:ln/>
        </p:spPr>
        <p:txBody>
          <a:bodyPr wrap="square" lIns="0" tIns="0" rIns="0" bIns="0" rtlCol="0" anchor="ctr"/>
          <a:lstStyle/>
          <a:p>
            <a:pPr indent="0" marL="0">
              <a:buNone/>
            </a:pPr>
            <a:r>
              <a:rPr lang="en-US" sz="1250" dirty="0">
                <a:solidFill>
                  <a:srgbClr val="666666"/>
                </a:solidFill>
                <a:latin typeface="Calibri" pitchFamily="34" charset="0"/>
                <a:ea typeface="Calibri" pitchFamily="34" charset="-122"/>
                <a:cs typeface="Calibri" pitchFamily="34" charset="-120"/>
              </a:rPr>
              <a:t>15 scored · 2 refused · 2 timed out · 1 insufficient data</a:t>
            </a:r>
            <a:endParaRPr lang="en-US" sz="12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94360" y="1371600"/>
          <a:ext cx="5212080" cy="914400"/>
        </p:xfrm>
        <a:graphic>
          <a:graphicData uri="http://schemas.openxmlformats.org/drawingml/2006/table">
            <a:tbl>
              <a:tblPr/>
              <a:tblGrid>
                <a:gridCol w="2011680"/>
                <a:gridCol w="731520"/>
                <a:gridCol w="914400"/>
                <a:gridCol w="1554480"/>
              </a:tblGrid>
              <a:tr h="512064">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Sector</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A6093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Sites</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A6093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Mean</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A6093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FAIL verdicts</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A6093D"/>
                    </a:solidFill>
                  </a:tcPr>
                </a:tc>
              </a:tr>
              <a:tr h="512064">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Government</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53.0</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0 / 3</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512064">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SaaS</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44.0</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0 / 3</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512064">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Education</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29.2</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7 / 12</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512064">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News</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24.3</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8 / 18</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512064">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E-commerce</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3.0</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4 / 6</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5" name="Text 2"/>
          <p:cNvSpPr/>
          <p:nvPr/>
        </p:nvSpPr>
        <p:spPr>
          <a:xfrm>
            <a:off x="594360" y="4206240"/>
            <a:ext cx="5212080" cy="731520"/>
          </a:xfrm>
          <a:prstGeom prst="rect">
            <a:avLst/>
          </a:prstGeom>
          <a:noFill/>
          <a:ln/>
        </p:spPr>
        <p:txBody>
          <a:bodyPr wrap="square" lIns="0" tIns="0" rIns="0" bIns="0" rtlCol="0" anchor="ctr"/>
          <a:lstStyle/>
          <a:p>
            <a:pPr indent="0" marL="0">
              <a:buNone/>
            </a:pPr>
            <a:r>
              <a:rPr lang="en-US" sz="1200" i="1" dirty="0">
                <a:solidFill>
                  <a:srgbClr val="666666"/>
                </a:solidFill>
                <a:latin typeface="Calibri" pitchFamily="34" charset="0"/>
                <a:ea typeface="Calibri" pitchFamily="34" charset="-122"/>
                <a:cs typeface="Calibri" pitchFamily="34" charset="-120"/>
              </a:rPr>
              <a:t>Ordering matches the published pattern — government highest, news low. Not to be over-read: three sectors have a single site.</a:t>
            </a:r>
            <a:endParaRPr lang="en-US" sz="1200" dirty="0"/>
          </a:p>
        </p:txBody>
      </p:sp>
      <p:sp>
        <p:nvSpPr>
          <p:cNvPr id="6" name="Shape 3"/>
          <p:cNvSpPr/>
          <p:nvPr/>
        </p:nvSpPr>
        <p:spPr>
          <a:xfrm>
            <a:off x="6035040" y="1371600"/>
            <a:ext cx="5532120" cy="2743200"/>
          </a:xfrm>
          <a:prstGeom prst="rect">
            <a:avLst/>
          </a:prstGeom>
          <a:solidFill>
            <a:srgbClr val="F4F4F4"/>
          </a:solidFill>
          <a:ln w="12700">
            <a:solidFill>
              <a:srgbClr val="CCCCCC"/>
            </a:solidFill>
            <a:prstDash val="solid"/>
          </a:ln>
        </p:spPr>
      </p:sp>
      <p:sp>
        <p:nvSpPr>
          <p:cNvPr id="7" name="Text 4"/>
          <p:cNvSpPr/>
          <p:nvPr/>
        </p:nvSpPr>
        <p:spPr>
          <a:xfrm>
            <a:off x="6263640" y="1554480"/>
            <a:ext cx="5074920" cy="2468880"/>
          </a:xfrm>
          <a:prstGeom prst="rect">
            <a:avLst/>
          </a:prstGeom>
          <a:noFill/>
          <a:ln/>
        </p:spPr>
        <p:txBody>
          <a:bodyPr wrap="square" lIns="0" tIns="0" rIns="0" bIns="0" rtlCol="0" anchor="t"/>
          <a:lstStyle/>
          <a:p>
            <a:pPr indent="0" marL="0">
              <a:buNone/>
            </a:pPr>
            <a:r>
              <a:rPr lang="en-US" sz="1500" b="1" dirty="0">
                <a:solidFill>
                  <a:srgbClr val="A6093D"/>
                </a:solidFill>
                <a:latin typeface="Calibri" pitchFamily="34" charset="0"/>
                <a:ea typeface="Calibri" pitchFamily="34" charset="-122"/>
                <a:cs typeface="Calibri" pitchFamily="34" charset="-120"/>
              </a:rPr>
              <a:t>The finding I did not expect
</a:t>
            </a:r>
            <a:pPr indent="0" marL="0">
              <a:buNone/>
            </a:pPr>
            <a:r>
              <a:rPr lang="en-US" sz="1250" dirty="0">
                <a:solidFill>
                  <a:srgbClr val="222222"/>
                </a:solidFill>
                <a:latin typeface="Calibri" pitchFamily="34" charset="0"/>
                <a:ea typeface="Calibri" pitchFamily="34" charset="-122"/>
                <a:cs typeface="Calibri" pitchFamily="34" charset="-120"/>
              </a:rPr>
              <a:t>Only 3 of 15 sites failed the pre-consent cookie test — the test the earlier literature is built on. Consent platforms genuinely do hold cookies back now.
</a:t>
            </a:r>
            <a:pPr indent="0" marL="0">
              <a:buNone/>
            </a:pPr>
            <a:r>
              <a:rPr lang="en-US" sz="1250" dirty="0">
                <a:solidFill>
                  <a:srgbClr val="222222"/>
                </a:solidFill>
                <a:latin typeface="Calibri" pitchFamily="34" charset="0"/>
                <a:ea typeface="Calibri" pitchFamily="34" charset="-122"/>
                <a:cs typeface="Calibri" pitchFamily="34" charset="-120"/>
              </a:rPr>
              <a:t>But 10 failed on tracker requests firing before consent, and 7 on third-party disclosure. The requests go out even when no cookie is stored.
</a:t>
            </a:r>
            <a:pPr indent="0" marL="0">
              <a:buNone/>
            </a:pPr>
            <a:r>
              <a:rPr lang="en-US" sz="1250" b="1" dirty="0">
                <a:solidFill>
                  <a:srgbClr val="222222"/>
                </a:solidFill>
                <a:latin typeface="Calibri" pitchFamily="34" charset="0"/>
                <a:ea typeface="Calibri" pitchFamily="34" charset="-122"/>
                <a:cs typeface="Calibri" pitchFamily="34" charset="-120"/>
              </a:rPr>
              <a:t>A cookie-only methodology would substantially under-report today's web.</a:t>
            </a:r>
            <a:endParaRPr lang="en-US" sz="1500" dirty="0"/>
          </a:p>
        </p:txBody>
      </p:sp>
      <p:sp>
        <p:nvSpPr>
          <p:cNvPr id="8" name="Text 5"/>
          <p:cNvSpPr/>
          <p:nvPr/>
        </p:nvSpPr>
        <p:spPr>
          <a:xfrm>
            <a:off x="6035040" y="4297680"/>
            <a:ext cx="5532120" cy="731520"/>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Capture failure rate 10%. The system declines to give an opinion on a quarter of attempts — which is the behaviour I want, not a shortfall.</a:t>
            </a:r>
            <a:endParaRPr lang="en-US" sz="1250" dirty="0"/>
          </a:p>
        </p:txBody>
      </p:sp>
      <p:sp>
        <p:nvSpPr>
          <p:cNvPr id="9" name="Text 6"/>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94360" y="329184"/>
            <a:ext cx="11000232" cy="548640"/>
          </a:xfrm>
          <a:prstGeom prst="rect">
            <a:avLst/>
          </a:prstGeom>
          <a:noFill/>
          <a:ln/>
        </p:spPr>
        <p:txBody>
          <a:bodyPr wrap="square" lIns="0" tIns="0" rIns="0" bIns="0" rtlCol="0" anchor="ctr"/>
          <a:lstStyle/>
          <a:p>
            <a:pPr indent="0" marL="0">
              <a:buNone/>
            </a:pPr>
            <a:r>
              <a:rPr lang="en-US" sz="2700" b="1" dirty="0">
                <a:solidFill>
                  <a:srgbClr val="222222"/>
                </a:solidFill>
                <a:latin typeface="Calibri" pitchFamily="34" charset="0"/>
                <a:ea typeface="Calibri" pitchFamily="34" charset="-122"/>
                <a:cs typeface="Calibri" pitchFamily="34" charset="-120"/>
              </a:rPr>
              <a:t>Is it making things up?</a:t>
            </a:r>
            <a:endParaRPr lang="en-US" sz="2700" dirty="0"/>
          </a:p>
        </p:txBody>
      </p:sp>
      <p:sp>
        <p:nvSpPr>
          <p:cNvPr id="3" name="Text 1"/>
          <p:cNvSpPr/>
          <p:nvPr/>
        </p:nvSpPr>
        <p:spPr>
          <a:xfrm>
            <a:off x="594360" y="896112"/>
            <a:ext cx="11000232" cy="310896"/>
          </a:xfrm>
          <a:prstGeom prst="rect">
            <a:avLst/>
          </a:prstGeom>
          <a:noFill/>
          <a:ln/>
        </p:spPr>
        <p:txBody>
          <a:bodyPr wrap="square" lIns="0" tIns="0" rIns="0" bIns="0" rtlCol="0" anchor="ctr"/>
          <a:lstStyle/>
          <a:p>
            <a:pPr indent="0" marL="0">
              <a:buNone/>
            </a:pPr>
            <a:r>
              <a:rPr lang="en-US" sz="1250" dirty="0">
                <a:solidFill>
                  <a:srgbClr val="666666"/>
                </a:solidFill>
                <a:latin typeface="Calibri" pitchFamily="34" charset="0"/>
                <a:ea typeface="Calibri" pitchFamily="34" charset="-122"/>
                <a:cs typeface="Calibri" pitchFamily="34" charset="-120"/>
              </a:rPr>
              <a:t>Every verdict re-checked against its own telemetry (Section IV-C)</a:t>
            </a:r>
            <a:endParaRPr lang="en-US" sz="1250" dirty="0"/>
          </a:p>
        </p:txBody>
      </p:sp>
      <p:sp>
        <p:nvSpPr>
          <p:cNvPr id="4" name="Text 2"/>
          <p:cNvSpPr/>
          <p:nvPr/>
        </p:nvSpPr>
        <p:spPr>
          <a:xfrm>
            <a:off x="594360" y="1371600"/>
            <a:ext cx="2011680" cy="1371600"/>
          </a:xfrm>
          <a:prstGeom prst="rect">
            <a:avLst/>
          </a:prstGeom>
          <a:noFill/>
          <a:ln/>
        </p:spPr>
        <p:txBody>
          <a:bodyPr wrap="square" lIns="0" tIns="0" rIns="0" bIns="0" rtlCol="0" anchor="ctr"/>
          <a:lstStyle/>
          <a:p>
            <a:pPr algn="ctr" indent="0" marL="0">
              <a:buNone/>
            </a:pPr>
            <a:r>
              <a:rPr lang="en-US" sz="8000" b="1" dirty="0">
                <a:solidFill>
                  <a:srgbClr val="2E6B34"/>
                </a:solidFill>
                <a:latin typeface="Calibri" pitchFamily="34" charset="0"/>
                <a:ea typeface="Calibri" pitchFamily="34" charset="-122"/>
                <a:cs typeface="Calibri" pitchFamily="34" charset="-120"/>
              </a:rPr>
              <a:t>0</a:t>
            </a:r>
            <a:endParaRPr lang="en-US" sz="8000" dirty="0"/>
          </a:p>
        </p:txBody>
      </p:sp>
      <p:sp>
        <p:nvSpPr>
          <p:cNvPr id="5" name="Text 3"/>
          <p:cNvSpPr/>
          <p:nvPr/>
        </p:nvSpPr>
        <p:spPr>
          <a:xfrm>
            <a:off x="594360" y="2743200"/>
            <a:ext cx="2011680" cy="822960"/>
          </a:xfrm>
          <a:prstGeom prst="rect">
            <a:avLst/>
          </a:prstGeom>
          <a:noFill/>
          <a:ln/>
        </p:spPr>
        <p:txBody>
          <a:bodyPr wrap="square" lIns="0" tIns="0" rIns="0" bIns="0" rtlCol="0" anchor="ctr"/>
          <a:lstStyle/>
          <a:p>
            <a:pPr algn="ctr" indent="0" marL="0">
              <a:buNone/>
            </a:pPr>
            <a:r>
              <a:rPr lang="en-US" sz="1200" dirty="0">
                <a:solidFill>
                  <a:srgbClr val="222222"/>
                </a:solidFill>
                <a:latin typeface="Calibri" pitchFamily="34" charset="0"/>
                <a:ea typeface="Calibri" pitchFamily="34" charset="-122"/>
                <a:cs typeface="Calibri" pitchFamily="34" charset="-120"/>
              </a:rPr>
              <a:t>fabricated behavioural claims</a:t>
            </a:r>
            <a:endParaRPr lang="en-US" sz="1200" dirty="0"/>
          </a:p>
          <a:p>
            <a:pPr algn="ctr" indent="0" marL="0">
              <a:buNone/>
            </a:pPr>
            <a:r>
              <a:rPr lang="en-US" sz="1200" dirty="0">
                <a:solidFill>
                  <a:srgbClr val="222222"/>
                </a:solidFill>
                <a:latin typeface="Calibri" pitchFamily="34" charset="0"/>
                <a:ea typeface="Calibri" pitchFamily="34" charset="-122"/>
                <a:cs typeface="Calibri" pitchFamily="34" charset="-120"/>
              </a:rPr>
              <a:t>across 15 reports</a:t>
            </a:r>
            <a:endParaRPr lang="en-US" sz="1200" dirty="0"/>
          </a:p>
        </p:txBody>
      </p:sp>
      <p:sp>
        <p:nvSpPr>
          <p:cNvPr id="6" name="Text 4"/>
          <p:cNvSpPr/>
          <p:nvPr/>
        </p:nvSpPr>
        <p:spPr>
          <a:xfrm>
            <a:off x="2926080" y="1371600"/>
            <a:ext cx="4206240" cy="2651760"/>
          </a:xfrm>
          <a:prstGeom prst="rect">
            <a:avLst/>
          </a:prstGeom>
          <a:noFill/>
          <a:ln/>
        </p:spPr>
        <p:txBody>
          <a:bodyPr wrap="square" lIns="0" tIns="0" rIns="0" bIns="0" rtlCol="0" anchor="t"/>
          <a:lstStyle/>
          <a:p>
            <a:pPr marL="152400" indent="-152400">
              <a:spcAft>
                <a:spcPts val="700"/>
              </a:spcAft>
              <a:buSzPct val="100000"/>
              <a:buChar char="–"/>
            </a:pPr>
            <a:r>
              <a:rPr lang="en-US" sz="1250" dirty="0">
                <a:solidFill>
                  <a:srgbClr val="222222"/>
                </a:solidFill>
                <a:latin typeface="Calibri" pitchFamily="34" charset="0"/>
                <a:ea typeface="Calibri" pitchFamily="34" charset="-122"/>
                <a:cs typeface="Calibri" pitchFamily="34" charset="-120"/>
              </a:rPr>
              <a:t>Was the cited article actually retrieved?</a:t>
            </a:r>
            <a:endParaRPr lang="en-US" sz="1250" dirty="0"/>
          </a:p>
          <a:p>
            <a:pPr marL="152400" indent="-152400">
              <a:spcAft>
                <a:spcPts val="700"/>
              </a:spcAft>
              <a:buSzPct val="100000"/>
              <a:buChar char="–"/>
            </a:pPr>
            <a:r>
              <a:rPr lang="en-US" sz="1250" dirty="0">
                <a:solidFill>
                  <a:srgbClr val="222222"/>
                </a:solidFill>
                <a:latin typeface="Calibri" pitchFamily="34" charset="0"/>
                <a:ea typeface="Calibri" pitchFamily="34" charset="-122"/>
                <a:cs typeface="Calibri" pitchFamily="34" charset="-120"/>
              </a:rPr>
              <a:t>Is the quoted requirement verbatim in that text?</a:t>
            </a:r>
            <a:endParaRPr lang="en-US" sz="1250" dirty="0"/>
          </a:p>
          <a:p>
            <a:pPr marL="152400" indent="-152400">
              <a:spcAft>
                <a:spcPts val="700"/>
              </a:spcAft>
              <a:buSzPct val="100000"/>
              <a:buChar char="–"/>
            </a:pPr>
            <a:r>
              <a:rPr lang="en-US" sz="1250" dirty="0">
                <a:solidFill>
                  <a:srgbClr val="222222"/>
                </a:solidFill>
                <a:latin typeface="Calibri" pitchFamily="34" charset="0"/>
                <a:ea typeface="Calibri" pitchFamily="34" charset="-122"/>
                <a:cs typeface="Calibri" pitchFamily="34" charset="-120"/>
              </a:rPr>
              <a:t>Is the quoted policy sentence verbatim in the policy?</a:t>
            </a:r>
            <a:endParaRPr lang="en-US" sz="1250" dirty="0"/>
          </a:p>
          <a:p>
            <a:pPr marL="152400" indent="-152400">
              <a:spcAft>
                <a:spcPts val="700"/>
              </a:spcAft>
              <a:buSzPct val="100000"/>
              <a:buChar char="–"/>
            </a:pPr>
            <a:r>
              <a:rPr lang="en-US" sz="1250" dirty="0">
                <a:solidFill>
                  <a:srgbClr val="222222"/>
                </a:solidFill>
                <a:latin typeface="Calibri" pitchFamily="34" charset="0"/>
                <a:ea typeface="Calibri" pitchFamily="34" charset="-122"/>
                <a:cs typeface="Calibri" pitchFamily="34" charset="-120"/>
              </a:rPr>
              <a:t>Does every domain, cookie and count exist in the archive?</a:t>
            </a:r>
            <a:endParaRPr lang="en-US" sz="1250" dirty="0"/>
          </a:p>
          <a:p>
            <a:pPr marL="152400" indent="-152400">
              <a:spcAft>
                <a:spcPts val="700"/>
              </a:spcAft>
              <a:buSzPct val="100000"/>
              <a:buChar char="–"/>
            </a:pPr>
            <a:r>
              <a:rPr lang="en-US" sz="1250" dirty="0">
                <a:solidFill>
                  <a:srgbClr val="222222"/>
                </a:solidFill>
                <a:latin typeface="Calibri" pitchFamily="34" charset="0"/>
                <a:ea typeface="Calibri" pitchFamily="34" charset="-122"/>
                <a:cs typeface="Calibri" pitchFamily="34" charset="-120"/>
              </a:rPr>
              <a:t>Do the internal consistency rules hold?</a:t>
            </a:r>
            <a:endParaRPr lang="en-US" sz="1250" dirty="0"/>
          </a:p>
        </p:txBody>
      </p:sp>
      <p:sp>
        <p:nvSpPr>
          <p:cNvPr id="7" name="Text 5"/>
          <p:cNvSpPr/>
          <p:nvPr/>
        </p:nvSpPr>
        <p:spPr>
          <a:xfrm>
            <a:off x="2926080" y="4114800"/>
            <a:ext cx="4206240" cy="1280160"/>
          </a:xfrm>
          <a:prstGeom prst="rect">
            <a:avLst/>
          </a:prstGeom>
          <a:noFill/>
          <a:ln/>
        </p:spPr>
        <p:txBody>
          <a:bodyPr wrap="square" lIns="0" tIns="0" rIns="0" bIns="0" rtlCol="0" anchor="ctr"/>
          <a:lstStyle/>
          <a:p>
            <a:pPr indent="0" marL="0">
              <a:buNone/>
            </a:pPr>
            <a:r>
              <a:rPr lang="en-US" sz="1150" i="1" dirty="0">
                <a:solidFill>
                  <a:srgbClr val="666666"/>
                </a:solidFill>
                <a:latin typeface="Calibri" pitchFamily="34" charset="0"/>
                <a:ea typeface="Calibri" pitchFamily="34" charset="-122"/>
                <a:cs typeface="Calibri" pitchFamily="34" charset="-120"/>
              </a:rPr>
              <a:t>No language model anywhere in the verifier — it is string matching and structural rules, so it cannot itself hallucinate. Made possible because the scorer records which articles it retrieved and the exact text it showed the model.</a:t>
            </a:r>
            <a:endParaRPr lang="en-US" sz="11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406640" y="1371600"/>
          <a:ext cx="4160520" cy="914400"/>
        </p:xfrm>
        <a:graphic>
          <a:graphicData uri="http://schemas.openxmlformats.org/drawingml/2006/table">
            <a:tbl>
              <a:tblPr/>
              <a:tblGrid>
                <a:gridCol w="3429000"/>
                <a:gridCol w="731520"/>
              </a:tblGrid>
              <a:tr h="56692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The five flags it did raise</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A6093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n</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A6093D"/>
                    </a:solidFill>
                  </a:tcPr>
                </a:tc>
              </a:tr>
              <a:tr h="566928">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Asserted non-disclosure with no policy retrieved</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566928">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Quoted a definition from an article not supplied</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566928">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Invented a domain, cookie or count</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b="1" dirty="0">
                          <a:solidFill>
                            <a:srgbClr val="2E6B34"/>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9" name="Text 6"/>
          <p:cNvSpPr/>
          <p:nvPr/>
        </p:nvSpPr>
        <p:spPr>
          <a:xfrm>
            <a:off x="7406640" y="3383280"/>
            <a:ext cx="4160520" cy="1828800"/>
          </a:xfrm>
          <a:prstGeom prst="rect">
            <a:avLst/>
          </a:prstGeom>
          <a:noFill/>
          <a:ln/>
        </p:spPr>
        <p:txBody>
          <a:bodyPr wrap="square" lIns="0" tIns="0" rIns="0" bIns="0" rtlCol="0" anchor="ctr"/>
          <a:lstStyle/>
          <a:p>
            <a:pPr indent="0" marL="0">
              <a:buNone/>
            </a:pPr>
            <a:r>
              <a:rPr lang="en-US" sz="1200" dirty="0">
                <a:solidFill>
                  <a:srgbClr val="222222"/>
                </a:solidFill>
                <a:latin typeface="Calibri" pitchFamily="34" charset="0"/>
                <a:ea typeface="Calibri" pitchFamily="34" charset="-122"/>
                <a:cs typeface="Calibri" pitchFamily="34" charset="-120"/>
              </a:rPr>
              <a:t>Grounding rate 87%. I also found two defects in the verifier itself — it was treating fingerprinting API names as domains, and mishandling quotations containing an ellipsis. Both had been making the model look worse than it was. The instrument needs validating too.</a:t>
            </a:r>
            <a:endParaRPr lang="en-US" sz="1200" dirty="0"/>
          </a:p>
        </p:txBody>
      </p:sp>
      <p:sp>
        <p:nvSpPr>
          <p:cNvPr id="10" name="Text 7"/>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94360" y="329184"/>
            <a:ext cx="11000232" cy="548640"/>
          </a:xfrm>
          <a:prstGeom prst="rect">
            <a:avLst/>
          </a:prstGeom>
          <a:noFill/>
          <a:ln/>
        </p:spPr>
        <p:txBody>
          <a:bodyPr wrap="square" lIns="0" tIns="0" rIns="0" bIns="0" rtlCol="0" anchor="ctr"/>
          <a:lstStyle/>
          <a:p>
            <a:pPr indent="0" marL="0">
              <a:buNone/>
            </a:pPr>
            <a:r>
              <a:rPr lang="en-US" sz="2700" b="1" dirty="0">
                <a:solidFill>
                  <a:srgbClr val="222222"/>
                </a:solidFill>
                <a:latin typeface="Calibri" pitchFamily="34" charset="0"/>
                <a:ea typeface="Calibri" pitchFamily="34" charset="-122"/>
                <a:cs typeface="Calibri" pitchFamily="34" charset="-120"/>
              </a:rPr>
              <a:t>What that number does not mean</a:t>
            </a:r>
            <a:endParaRPr lang="en-US" sz="2700" dirty="0"/>
          </a:p>
        </p:txBody>
      </p:sp>
      <p:sp>
        <p:nvSpPr>
          <p:cNvPr id="3" name="Text 1"/>
          <p:cNvSpPr/>
          <p:nvPr/>
        </p:nvSpPr>
        <p:spPr>
          <a:xfrm>
            <a:off x="594360" y="896112"/>
            <a:ext cx="11000232" cy="310896"/>
          </a:xfrm>
          <a:prstGeom prst="rect">
            <a:avLst/>
          </a:prstGeom>
          <a:noFill/>
          <a:ln/>
        </p:spPr>
        <p:txBody>
          <a:bodyPr wrap="square" lIns="0" tIns="0" rIns="0" bIns="0" rtlCol="0" anchor="ctr"/>
          <a:lstStyle/>
          <a:p>
            <a:pPr indent="0" marL="0">
              <a:buNone/>
            </a:pPr>
            <a:r>
              <a:rPr lang="en-US" sz="1250" dirty="0">
                <a:solidFill>
                  <a:srgbClr val="666666"/>
                </a:solidFill>
                <a:latin typeface="Calibri" pitchFamily="34" charset="0"/>
                <a:ea typeface="Calibri" pitchFamily="34" charset="-122"/>
                <a:cs typeface="Calibri" pitchFamily="34" charset="-120"/>
              </a:rPr>
              <a:t>The distinction I want to be precise about</a:t>
            </a:r>
            <a:endParaRPr lang="en-US" sz="1250" dirty="0"/>
          </a:p>
        </p:txBody>
      </p:sp>
      <p:sp>
        <p:nvSpPr>
          <p:cNvPr id="4" name="Shape 2"/>
          <p:cNvSpPr/>
          <p:nvPr/>
        </p:nvSpPr>
        <p:spPr>
          <a:xfrm>
            <a:off x="594360" y="1371600"/>
            <a:ext cx="5394960" cy="2011680"/>
          </a:xfrm>
          <a:prstGeom prst="rect">
            <a:avLst/>
          </a:prstGeom>
          <a:solidFill>
            <a:srgbClr val="F4F4F4"/>
          </a:solidFill>
          <a:ln w="12700">
            <a:solidFill>
              <a:srgbClr val="CCCCCC"/>
            </a:solidFill>
            <a:prstDash val="solid"/>
          </a:ln>
        </p:spPr>
      </p:sp>
      <p:sp>
        <p:nvSpPr>
          <p:cNvPr id="5" name="Text 3"/>
          <p:cNvSpPr/>
          <p:nvPr/>
        </p:nvSpPr>
        <p:spPr>
          <a:xfrm>
            <a:off x="777240" y="1554480"/>
            <a:ext cx="5029200" cy="1645920"/>
          </a:xfrm>
          <a:prstGeom prst="rect">
            <a:avLst/>
          </a:prstGeom>
          <a:noFill/>
          <a:ln/>
        </p:spPr>
        <p:txBody>
          <a:bodyPr wrap="square" lIns="0" tIns="0" rIns="0" bIns="0" rtlCol="0" anchor="t"/>
          <a:lstStyle/>
          <a:p>
            <a:pPr indent="0" marL="0">
              <a:buNone/>
            </a:pPr>
            <a:r>
              <a:rPr lang="en-US" sz="1500" b="1" dirty="0">
                <a:solidFill>
                  <a:srgbClr val="A6093D"/>
                </a:solidFill>
                <a:latin typeface="Calibri" pitchFamily="34" charset="0"/>
                <a:ea typeface="Calibri" pitchFamily="34" charset="-122"/>
                <a:cs typeface="Calibri" pitchFamily="34" charset="-120"/>
              </a:rPr>
              <a:t>Grounded
</a:t>
            </a:r>
            <a:pPr indent="0" marL="0">
              <a:buNone/>
            </a:pPr>
            <a:r>
              <a:rPr lang="en-US" sz="1250" dirty="0">
                <a:solidFill>
                  <a:srgbClr val="222222"/>
                </a:solidFill>
                <a:latin typeface="Calibri" pitchFamily="34" charset="0"/>
                <a:ea typeface="Calibri" pitchFamily="34" charset="-122"/>
                <a:cs typeface="Calibri" pitchFamily="34" charset="-120"/>
              </a:rPr>
              <a:t>Every claim traces back to a source artefact. The model did not invent evidence and quoted accurately.
</a:t>
            </a:r>
            <a:pPr indent="0" marL="0">
              <a:buNone/>
            </a:pPr>
            <a:r>
              <a:rPr lang="en-US" sz="1250" i="1" dirty="0">
                <a:solidFill>
                  <a:srgbClr val="222222"/>
                </a:solidFill>
                <a:latin typeface="Calibri" pitchFamily="34" charset="0"/>
                <a:ea typeface="Calibri" pitchFamily="34" charset="-122"/>
                <a:cs typeface="Calibri" pitchFamily="34" charset="-120"/>
              </a:rPr>
              <a:t>This is what I measured.</a:t>
            </a:r>
            <a:endParaRPr lang="en-US" sz="1500" dirty="0"/>
          </a:p>
        </p:txBody>
      </p:sp>
      <p:sp>
        <p:nvSpPr>
          <p:cNvPr id="6" name="Shape 4"/>
          <p:cNvSpPr/>
          <p:nvPr/>
        </p:nvSpPr>
        <p:spPr>
          <a:xfrm>
            <a:off x="6172200" y="1371600"/>
            <a:ext cx="5394960" cy="2011680"/>
          </a:xfrm>
          <a:prstGeom prst="rect">
            <a:avLst/>
          </a:prstGeom>
          <a:solidFill>
            <a:srgbClr val="F4F4F4"/>
          </a:solidFill>
          <a:ln w="12700">
            <a:solidFill>
              <a:srgbClr val="CCCCCC"/>
            </a:solidFill>
            <a:prstDash val="solid"/>
          </a:ln>
        </p:spPr>
      </p:sp>
      <p:sp>
        <p:nvSpPr>
          <p:cNvPr id="7" name="Text 5"/>
          <p:cNvSpPr/>
          <p:nvPr/>
        </p:nvSpPr>
        <p:spPr>
          <a:xfrm>
            <a:off x="6355080" y="1554480"/>
            <a:ext cx="5029200" cy="1645920"/>
          </a:xfrm>
          <a:prstGeom prst="rect">
            <a:avLst/>
          </a:prstGeom>
          <a:noFill/>
          <a:ln/>
        </p:spPr>
        <p:txBody>
          <a:bodyPr wrap="square" lIns="0" tIns="0" rIns="0" bIns="0" rtlCol="0" anchor="t"/>
          <a:lstStyle/>
          <a:p>
            <a:pPr indent="0" marL="0">
              <a:buNone/>
            </a:pPr>
            <a:r>
              <a:rPr lang="en-US" sz="1500" b="1" dirty="0">
                <a:solidFill>
                  <a:srgbClr val="A6093D"/>
                </a:solidFill>
                <a:latin typeface="Calibri" pitchFamily="34" charset="0"/>
                <a:ea typeface="Calibri" pitchFamily="34" charset="-122"/>
                <a:cs typeface="Calibri" pitchFamily="34" charset="-120"/>
              </a:rPr>
              <a:t>Correct
</a:t>
            </a:r>
            <a:pPr indent="0" marL="0">
              <a:buNone/>
            </a:pPr>
            <a:r>
              <a:rPr lang="en-US" sz="1250" dirty="0">
                <a:solidFill>
                  <a:srgbClr val="222222"/>
                </a:solidFill>
                <a:latin typeface="Calibri" pitchFamily="34" charset="0"/>
                <a:ea typeface="Calibri" pitchFamily="34" charset="-122"/>
                <a:cs typeface="Calibri" pitchFamily="34" charset="-120"/>
              </a:rPr>
              <a:t>Applying that article to those facts yields the right legal conclusion.
</a:t>
            </a:r>
            <a:pPr indent="0" marL="0">
              <a:buNone/>
            </a:pPr>
            <a:r>
              <a:rPr lang="en-US" sz="1250" i="1" dirty="0">
                <a:solidFill>
                  <a:srgbClr val="B3261E"/>
                </a:solidFill>
                <a:latin typeface="Calibri" pitchFamily="34" charset="0"/>
                <a:ea typeface="Calibri" pitchFamily="34" charset="-122"/>
                <a:cs typeface="Calibri" pitchFamily="34" charset="-120"/>
              </a:rPr>
              <a:t>This I have not established.</a:t>
            </a:r>
            <a:endParaRPr lang="en-US" sz="1500" dirty="0"/>
          </a:p>
        </p:txBody>
      </p:sp>
      <p:sp>
        <p:nvSpPr>
          <p:cNvPr id="8" name="Text 6"/>
          <p:cNvSpPr/>
          <p:nvPr/>
        </p:nvSpPr>
        <p:spPr>
          <a:xfrm>
            <a:off x="594360" y="3611880"/>
            <a:ext cx="7315200" cy="320040"/>
          </a:xfrm>
          <a:prstGeom prst="rect">
            <a:avLst/>
          </a:prstGeom>
          <a:noFill/>
          <a:ln/>
        </p:spPr>
        <p:txBody>
          <a:bodyPr wrap="square" lIns="0" tIns="0" rIns="0" bIns="0" rtlCol="0" anchor="ctr"/>
          <a:lstStyle/>
          <a:p>
            <a:pPr indent="0" marL="0">
              <a:buNone/>
            </a:pPr>
            <a:r>
              <a:rPr lang="en-US" sz="1300" b="1" dirty="0">
                <a:solidFill>
                  <a:srgbClr val="222222"/>
                </a:solidFill>
                <a:latin typeface="Calibri" pitchFamily="34" charset="0"/>
                <a:ea typeface="Calibri" pitchFamily="34" charset="-122"/>
                <a:cs typeface="Calibri" pitchFamily="34" charset="-120"/>
              </a:rPr>
              <a:t>A worked example from my own results:</a:t>
            </a:r>
            <a:endParaRPr lang="en-US" sz="1300" dirty="0"/>
          </a:p>
        </p:txBody>
      </p:sp>
      <p:sp>
        <p:nvSpPr>
          <p:cNvPr id="9" name="Text 7"/>
          <p:cNvSpPr/>
          <p:nvPr/>
        </p:nvSpPr>
        <p:spPr>
          <a:xfrm>
            <a:off x="594360" y="3977640"/>
            <a:ext cx="11000232" cy="1188720"/>
          </a:xfrm>
          <a:prstGeom prst="rect">
            <a:avLst/>
          </a:prstGeom>
          <a:noFill/>
          <a:ln/>
        </p:spPr>
        <p:txBody>
          <a:bodyPr wrap="square" lIns="0" tIns="0" rIns="0" bIns="0" rtlCol="0" anchor="ctr"/>
          <a:lstStyle/>
          <a:p>
            <a:pPr indent="0" marL="0">
              <a:buNone/>
            </a:pPr>
            <a:r>
              <a:rPr lang="en-US" sz="1300" dirty="0">
                <a:solidFill>
                  <a:srgbClr val="222222"/>
                </a:solidFill>
                <a:latin typeface="Calibri" pitchFamily="34" charset="0"/>
                <a:ea typeface="Calibri" pitchFamily="34" charset="-122"/>
                <a:cs typeface="Calibri" pitchFamily="34" charset="-120"/>
              </a:rPr>
              <a:t>The third-party list for one site includes cloudflare.com and jsdelivr.net — a security provider and a JavaScript library host, not advertising trackers. A verdict counting those among undisclosed recipients would pass all five checks: the domains really were contacted, the citation is real, the policy quote is verbatim. It could still be wrong in law, because loading a script from a CDN is not obviously a disclosure of personal data to a recipient.</a:t>
            </a:r>
            <a:endParaRPr lang="en-US" sz="1300" dirty="0"/>
          </a:p>
        </p:txBody>
      </p:sp>
      <p:sp>
        <p:nvSpPr>
          <p:cNvPr id="10" name="Text 8"/>
          <p:cNvSpPr/>
          <p:nvPr/>
        </p:nvSpPr>
        <p:spPr>
          <a:xfrm>
            <a:off x="594360" y="5257800"/>
            <a:ext cx="11000232" cy="548640"/>
          </a:xfrm>
          <a:prstGeom prst="rect">
            <a:avLst/>
          </a:prstGeom>
          <a:noFill/>
          <a:ln/>
        </p:spPr>
        <p:txBody>
          <a:bodyPr wrap="square" lIns="0" tIns="0" rIns="0" bIns="0" rtlCol="0" anchor="ctr"/>
          <a:lstStyle/>
          <a:p>
            <a:pPr indent="0" marL="0">
              <a:buNone/>
            </a:pPr>
            <a:r>
              <a:rPr lang="en-US" sz="1300" i="1" dirty="0">
                <a:solidFill>
                  <a:srgbClr val="A6093D"/>
                </a:solidFill>
                <a:latin typeface="Calibri" pitchFamily="34" charset="0"/>
                <a:ea typeface="Calibri" pitchFamily="34" charset="-122"/>
                <a:cs typeface="Calibri" pitchFamily="34" charset="-120"/>
              </a:rPr>
              <a:t>Establishing correctness needs annotation against the article text by a human. That protocol is built and blinded; running it is the outstanding work.</a:t>
            </a:r>
            <a:endParaRPr lang="en-US" sz="1300" dirty="0"/>
          </a:p>
        </p:txBody>
      </p:sp>
      <p:sp>
        <p:nvSpPr>
          <p:cNvPr id="11" name="Text 9"/>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94360" y="329184"/>
            <a:ext cx="11000232" cy="548640"/>
          </a:xfrm>
          <a:prstGeom prst="rect">
            <a:avLst/>
          </a:prstGeom>
          <a:noFill/>
          <a:ln/>
        </p:spPr>
        <p:txBody>
          <a:bodyPr wrap="square" lIns="0" tIns="0" rIns="0" bIns="0" rtlCol="0" anchor="ctr"/>
          <a:lstStyle/>
          <a:p>
            <a:pPr indent="0" marL="0">
              <a:buNone/>
            </a:pPr>
            <a:r>
              <a:rPr lang="en-US" sz="2700" b="1" dirty="0">
                <a:solidFill>
                  <a:srgbClr val="222222"/>
                </a:solidFill>
                <a:latin typeface="Calibri" pitchFamily="34" charset="0"/>
                <a:ea typeface="Calibri" pitchFamily="34" charset="-122"/>
                <a:cs typeface="Calibri" pitchFamily="34" charset="-120"/>
              </a:rPr>
              <a:t>Where it falls short</a:t>
            </a:r>
            <a:endParaRPr lang="en-US" sz="2700" dirty="0"/>
          </a:p>
        </p:txBody>
      </p:sp>
      <p:sp>
        <p:nvSpPr>
          <p:cNvPr id="3" name="Text 1"/>
          <p:cNvSpPr/>
          <p:nvPr/>
        </p:nvSpPr>
        <p:spPr>
          <a:xfrm>
            <a:off x="594360" y="896112"/>
            <a:ext cx="11000232" cy="310896"/>
          </a:xfrm>
          <a:prstGeom prst="rect">
            <a:avLst/>
          </a:prstGeom>
          <a:noFill/>
          <a:ln/>
        </p:spPr>
        <p:txBody>
          <a:bodyPr wrap="square" lIns="0" tIns="0" rIns="0" bIns="0" rtlCol="0" anchor="ctr"/>
          <a:lstStyle/>
          <a:p>
            <a:pPr indent="0" marL="0">
              <a:buNone/>
            </a:pPr>
            <a:r>
              <a:rPr lang="en-US" sz="1250" dirty="0">
                <a:solidFill>
                  <a:srgbClr val="666666"/>
                </a:solidFill>
                <a:latin typeface="Calibri" pitchFamily="34" charset="0"/>
                <a:ea typeface="Calibri" pitchFamily="34" charset="-122"/>
                <a:cs typeface="Calibri" pitchFamily="34" charset="-120"/>
              </a:rPr>
              <a:t>Found by testing, not by inspection (Section IV-D)</a:t>
            </a:r>
            <a:endParaRPr lang="en-US" sz="1250" dirty="0"/>
          </a:p>
        </p:txBody>
      </p:sp>
      <p:sp>
        <p:nvSpPr>
          <p:cNvPr id="4" name="Text 2"/>
          <p:cNvSpPr/>
          <p:nvPr/>
        </p:nvSpPr>
        <p:spPr>
          <a:xfrm>
            <a:off x="594360" y="1371600"/>
            <a:ext cx="3108960" cy="1463040"/>
          </a:xfrm>
          <a:prstGeom prst="rect">
            <a:avLst/>
          </a:prstGeom>
          <a:noFill/>
          <a:ln/>
        </p:spPr>
        <p:txBody>
          <a:bodyPr wrap="square" lIns="0" tIns="0" rIns="0" bIns="0" rtlCol="0" anchor="t"/>
          <a:lstStyle/>
          <a:p>
            <a:pPr indent="0" marL="0">
              <a:buNone/>
            </a:pPr>
            <a:r>
              <a:rPr lang="en-US" sz="1300" b="1" dirty="0">
                <a:solidFill>
                  <a:srgbClr val="A6093D"/>
                </a:solidFill>
                <a:latin typeface="Calibri" pitchFamily="34" charset="0"/>
                <a:ea typeface="Calibri" pitchFamily="34" charset="-122"/>
                <a:cs typeface="Calibri" pitchFamily="34" charset="-120"/>
              </a:rPr>
              <a:t>Policy retrieval drives the score more than the sites do</a:t>
            </a:r>
            <a:endParaRPr lang="en-US" sz="1300" dirty="0"/>
          </a:p>
        </p:txBody>
      </p:sp>
      <p:sp>
        <p:nvSpPr>
          <p:cNvPr id="5" name="Text 3"/>
          <p:cNvSpPr/>
          <p:nvPr/>
        </p:nvSpPr>
        <p:spPr>
          <a:xfrm>
            <a:off x="3886200" y="1371600"/>
            <a:ext cx="7680960" cy="14630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Sites where the scraper found no policy averaged 0. Sites where it succeeded averaged 33. That gap is my pipeline's coverage, not their behaviour. Two causes: policies hosted on a parent company's domain, and links rendered only after JavaScript. I hit it again after submission — the scraper found the right parent-domain URL, ranked a same-domain one higher, got a 403 and gave up rather than trying the alternative it already had.</a:t>
            </a:r>
            <a:endParaRPr lang="en-US" sz="1200" dirty="0"/>
          </a:p>
        </p:txBody>
      </p:sp>
      <p:sp>
        <p:nvSpPr>
          <p:cNvPr id="6" name="Text 4"/>
          <p:cNvSpPr/>
          <p:nvPr/>
        </p:nvSpPr>
        <p:spPr>
          <a:xfrm>
            <a:off x="594360" y="2944368"/>
            <a:ext cx="3108960" cy="1463040"/>
          </a:xfrm>
          <a:prstGeom prst="rect">
            <a:avLst/>
          </a:prstGeom>
          <a:noFill/>
          <a:ln/>
        </p:spPr>
        <p:txBody>
          <a:bodyPr wrap="square" lIns="0" tIns="0" rIns="0" bIns="0" rtlCol="0" anchor="t"/>
          <a:lstStyle/>
          <a:p>
            <a:pPr indent="0" marL="0">
              <a:buNone/>
            </a:pPr>
            <a:r>
              <a:rPr lang="en-US" sz="1300" b="1" dirty="0">
                <a:solidFill>
                  <a:srgbClr val="A6093D"/>
                </a:solidFill>
                <a:latin typeface="Calibri" pitchFamily="34" charset="0"/>
                <a:ea typeface="Calibri" pitchFamily="34" charset="-122"/>
                <a:cs typeface="Calibri" pitchFamily="34" charset="-120"/>
              </a:rPr>
              <a:t>Bot protection bounds what can be audited</a:t>
            </a:r>
            <a:endParaRPr lang="en-US" sz="1300" dirty="0"/>
          </a:p>
        </p:txBody>
      </p:sp>
      <p:sp>
        <p:nvSpPr>
          <p:cNvPr id="7" name="Text 5"/>
          <p:cNvSpPr/>
          <p:nvPr/>
        </p:nvSpPr>
        <p:spPr>
          <a:xfrm>
            <a:off x="3886200" y="2944368"/>
            <a:ext cx="7680960" cy="14630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Two sites could not be captured at all, two more timed out. Because degenerate captures are refused rather than scored, this costs coverage rather than producing wrong answers — but the sites most likely to track heavily are also the hardest to reach.</a:t>
            </a:r>
            <a:endParaRPr lang="en-US" sz="1200" dirty="0"/>
          </a:p>
        </p:txBody>
      </p:sp>
      <p:sp>
        <p:nvSpPr>
          <p:cNvPr id="8" name="Text 6"/>
          <p:cNvSpPr/>
          <p:nvPr/>
        </p:nvSpPr>
        <p:spPr>
          <a:xfrm>
            <a:off x="594360" y="4517136"/>
            <a:ext cx="3108960" cy="1463040"/>
          </a:xfrm>
          <a:prstGeom prst="rect">
            <a:avLst/>
          </a:prstGeom>
          <a:noFill/>
          <a:ln/>
        </p:spPr>
        <p:txBody>
          <a:bodyPr wrap="square" lIns="0" tIns="0" rIns="0" bIns="0" rtlCol="0" anchor="t"/>
          <a:lstStyle/>
          <a:p>
            <a:pPr indent="0" marL="0">
              <a:buNone/>
            </a:pPr>
            <a:r>
              <a:rPr lang="en-US" sz="1300" b="1" dirty="0">
                <a:solidFill>
                  <a:srgbClr val="A6093D"/>
                </a:solidFill>
                <a:latin typeface="Calibri" pitchFamily="34" charset="0"/>
                <a:ea typeface="Calibri" pitchFamily="34" charset="-122"/>
                <a:cs typeface="Calibri" pitchFamily="34" charset="-120"/>
              </a:rPr>
              <a:t>Jurisdiction decides which instrument applies</a:t>
            </a:r>
            <a:endParaRPr lang="en-US" sz="1300" dirty="0"/>
          </a:p>
        </p:txBody>
      </p:sp>
      <p:sp>
        <p:nvSpPr>
          <p:cNvPr id="9" name="Text 7"/>
          <p:cNvSpPr/>
          <p:nvPr/>
        </p:nvSpPr>
        <p:spPr>
          <a:xfrm>
            <a:off x="3886200" y="4517136"/>
            <a:ext cx="7680960" cy="14630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GDPR is EU-wide but ePrivacy is transposed nationally. An early batch scored Irish sites against the UK's PECR; Ireland has its own 2011 instrument, Regulation 5(3). Now selected by jurisdiction — a mistake that is invisible in a single-country study.</a:t>
            </a:r>
            <a:endParaRPr lang="en-US" sz="1200" dirty="0"/>
          </a:p>
        </p:txBody>
      </p:sp>
      <p:sp>
        <p:nvSpPr>
          <p:cNvPr id="10" name="Text 8"/>
          <p:cNvSpPr/>
          <p:nvPr/>
        </p:nvSpPr>
        <p:spPr>
          <a:xfrm>
            <a:off x="594360" y="5852160"/>
            <a:ext cx="11000232" cy="457200"/>
          </a:xfrm>
          <a:prstGeom prst="rect">
            <a:avLst/>
          </a:prstGeom>
          <a:noFill/>
          <a:ln/>
        </p:spPr>
        <p:txBody>
          <a:bodyPr wrap="square" lIns="0" tIns="0" rIns="0" bIns="0" rtlCol="0" anchor="ctr"/>
          <a:lstStyle/>
          <a:p>
            <a:pPr indent="0" marL="0">
              <a:buNone/>
            </a:pPr>
            <a:r>
              <a:rPr lang="en-US" sz="1200" i="1" dirty="0">
                <a:solidFill>
                  <a:srgbClr val="666666"/>
                </a:solidFill>
                <a:latin typeface="Calibri" pitchFamily="34" charset="0"/>
                <a:ea typeface="Calibri" pitchFamily="34" charset="-122"/>
                <a:cs typeface="Calibri" pitchFamily="34" charset="-120"/>
              </a:rPr>
              <a:t>Also: no independent legal ground truth yet, and scores cluster on the rubric's round values, so they rank sites rather than measure distance between them.</a:t>
            </a:r>
            <a:endParaRPr lang="en-US" sz="1200" dirty="0"/>
          </a:p>
        </p:txBody>
      </p:sp>
      <p:sp>
        <p:nvSpPr>
          <p:cNvPr id="11" name="Text 9"/>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94360" y="329184"/>
            <a:ext cx="11000232" cy="548640"/>
          </a:xfrm>
          <a:prstGeom prst="rect">
            <a:avLst/>
          </a:prstGeom>
          <a:noFill/>
          <a:ln/>
        </p:spPr>
        <p:txBody>
          <a:bodyPr wrap="square" lIns="0" tIns="0" rIns="0" bIns="0" rtlCol="0" anchor="ctr"/>
          <a:lstStyle/>
          <a:p>
            <a:pPr indent="0" marL="0">
              <a:buNone/>
            </a:pPr>
            <a:r>
              <a:rPr lang="en-US" sz="2700" b="1" dirty="0">
                <a:solidFill>
                  <a:srgbClr val="222222"/>
                </a:solidFill>
                <a:latin typeface="Calibri" pitchFamily="34" charset="0"/>
                <a:ea typeface="Calibri" pitchFamily="34" charset="-122"/>
                <a:cs typeface="Calibri" pitchFamily="34" charset="-120"/>
              </a:rPr>
              <a:t>What I would do next</a:t>
            </a:r>
            <a:endParaRPr lang="en-US" sz="2700" dirty="0"/>
          </a:p>
        </p:txBody>
      </p:sp>
      <p:sp>
        <p:nvSpPr>
          <p:cNvPr id="3" name="Text 1"/>
          <p:cNvSpPr/>
          <p:nvPr/>
        </p:nvSpPr>
        <p:spPr>
          <a:xfrm>
            <a:off x="594360" y="896112"/>
            <a:ext cx="11000232" cy="310896"/>
          </a:xfrm>
          <a:prstGeom prst="rect">
            <a:avLst/>
          </a:prstGeom>
          <a:noFill/>
          <a:ln/>
        </p:spPr>
        <p:txBody>
          <a:bodyPr wrap="square" lIns="0" tIns="0" rIns="0" bIns="0" rtlCol="0" anchor="ctr"/>
          <a:lstStyle/>
          <a:p>
            <a:pPr indent="0" marL="0">
              <a:buNone/>
            </a:pPr>
            <a:r>
              <a:rPr lang="en-US" sz="1250" dirty="0">
                <a:solidFill>
                  <a:srgbClr val="666666"/>
                </a:solidFill>
                <a:latin typeface="Calibri" pitchFamily="34" charset="0"/>
                <a:ea typeface="Calibri" pitchFamily="34" charset="-122"/>
                <a:cs typeface="Calibri" pitchFamily="34" charset="-120"/>
              </a:rPr>
              <a:t>Section VI</a:t>
            </a:r>
            <a:endParaRPr lang="en-US" sz="12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94360" y="1371600"/>
          <a:ext cx="11000232" cy="914400"/>
        </p:xfrm>
        <a:graphic>
          <a:graphicData uri="http://schemas.openxmlformats.org/drawingml/2006/table">
            <a:tbl>
              <a:tblPr/>
              <a:tblGrid>
                <a:gridCol w="548640"/>
                <a:gridCol w="3200400"/>
                <a:gridCol w="7251192"/>
              </a:tblGrid>
              <a:tr h="822960">
                <a:tc>
                  <a:txBody>
                    <a:bodyPr/>
                    <a:lstStyle/>
                    <a:p>
                      <a:pPr indent="0" marL="0">
                        <a:buNone/>
                      </a:pP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A6093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Work</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A6093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Why it comes in this order</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A6093D"/>
                    </a:solidFill>
                  </a:tcPr>
                </a:tc>
              </a:tr>
              <a:tr h="822960">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Expert-annotated accuracy study</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the missing ground truth — does a lawyer agree with the verdicts? Protocol built and blinded, so the annotator never sees the model's answer</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822960">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Consent-banner interaction</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the strongest test in the literature: does tracking continue after an explicit refusal? Bouhoula found 65% of sites fail it</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822960">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Policy retrieval coverage</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currently the largest single distortion in my own results</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822960">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Post-login observation</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what a site collects inside an authenticated session against the consent actually given — no reviewed paper does this for the web</a:t>
                      </a:r>
                      <a:endParaRPr lang="en-US" sz="10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5" name="Shape 2"/>
          <p:cNvSpPr/>
          <p:nvPr/>
        </p:nvSpPr>
        <p:spPr>
          <a:xfrm>
            <a:off x="594360" y="4892040"/>
            <a:ext cx="11000232" cy="0"/>
          </a:xfrm>
          <a:prstGeom prst="line">
            <a:avLst/>
          </a:prstGeom>
          <a:noFill/>
          <a:ln w="12700">
            <a:solidFill>
              <a:srgbClr val="CCCCCC"/>
            </a:solidFill>
            <a:prstDash val="solid"/>
          </a:ln>
        </p:spPr>
      </p:sp>
      <p:sp>
        <p:nvSpPr>
          <p:cNvPr id="6" name="Text 3"/>
          <p:cNvSpPr/>
          <p:nvPr/>
        </p:nvSpPr>
        <p:spPr>
          <a:xfrm>
            <a:off x="594360" y="5029200"/>
            <a:ext cx="10972800" cy="1280160"/>
          </a:xfrm>
          <a:prstGeom prst="rect">
            <a:avLst/>
          </a:prstGeom>
          <a:noFill/>
          <a:ln/>
        </p:spPr>
        <p:txBody>
          <a:bodyPr wrap="square" lIns="0" tIns="0" rIns="0" bIns="0" rtlCol="0" anchor="t"/>
          <a:lstStyle/>
          <a:p>
            <a:pPr marL="152400" indent="-152400">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The gap from the literature is a running system: law, notice and practice judged together, producing verdicts that cite an article and quote the sentence they contradict.</a:t>
            </a:r>
            <a:endParaRPr lang="en-US" sz="1300" dirty="0"/>
          </a:p>
          <a:p>
            <a:pPr marL="152400" indent="-152400">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Twenty sites tested; every finding traced back to the raw evidence, with nothing fabricated. And the biggest limitation I found was in my own retrieval, not in the sites.</a:t>
            </a:r>
            <a:endParaRPr lang="en-US" sz="1300" dirty="0"/>
          </a:p>
        </p:txBody>
      </p:sp>
      <p:sp>
        <p:nvSpPr>
          <p:cNvPr id="7" name="Text 4"/>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2026-08-28T10:21:46Z</dcterms:created>
  <dcterms:modified xsi:type="dcterms:W3CDTF">2026-08-28T10:21:46Z</dcterms:modified>
</cp:coreProperties>
</file>