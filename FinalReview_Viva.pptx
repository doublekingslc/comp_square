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the gap identified in the literature review is now a working system that has been tested across 20 websites, and every finding it produced has been mechanically verified against the raw telemetry. Three things I want to cover: what it does, what testing showed, and what the limits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 last review the major addition is the whole evaluation layer: batch harness, verification tool, and the analysis that came out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only. Static mobile analysis cannot observe consent state changing at runtime, which is the web-specific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if pressed: Trevisan 35,862 sites, 49% pre-consent violations, threshold empirical (80% of tracker cookies ≥1 month). Bouhoula 97k sites, 65.4% still collect after rejection. OPP-115: 115 policies, 23k practices. Polisis 88.4%. PrivacyQA 1,750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reuse their code: CookieCheck is 2017 measurement tooling; alsacnc is 97k-site crawl infrastructure. They answer 'how many sites violate'; we answer 'what is this site doing wrong, under which article, contradicted by which policy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the live demo here or after results. Reuse mode takes about 30 seconds on a pre-scanned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rule = Trevisan; categories = Bouhoula; IRAC = LegalBench; abstention = PrivacyQA; typology = Lalaine; potential-wording = MAPS. Anchoring and the guards are mine, both from error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counting of failures: a tool that quietly drops the sites it cannot handle would report a flattering and false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not defeat bot protection: stealth evasion is possible but raises its own research-ethics questions and is listed as future work. Refusal keeps the tool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bullet is the substantive research point: consent platforms have largely stopped setting pre-consent cookies, but the requests still fire. A cookie-only methodology would now under-report.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 the external will ask: how do you know the model isn't making it up. Answer: because the check is mechanical string and structure matching against the source artefacts, it cannot itself hallucinate, and it found zero fabricated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 these three screenshots for the same finding, ideally irishtimes.com tracking_without_consent (permutive.app) — it is clean and easy to follow. Keep the terminal font large enough to read from the back of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that the first one is the most important result of the evaluation: it is a limitation of the tool, found by the tool's own instrumentation, and it changes how the sector table must be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failure modes now, the fourth found by the batch. Each was caught by testing rather than by inspection, which is the argument that the evaluation method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5 is the one to raise as the natural continuation of the work if asked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limitation, not on the success: it demonstrates that I tested the system hard enough to find where it is weak, which is what the examiners are looking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94360" y="1828800"/>
            <a:ext cx="10972800" cy="822960"/>
          </a:xfrm>
          <a:prstGeom prst="rect">
            <a:avLst/>
          </a:prstGeom>
          <a:noFill/>
          <a:ln/>
        </p:spPr>
        <p:txBody>
          <a:bodyPr wrap="square" lIns="0" tIns="0" rIns="0" bIns="0" rtlCol="0" anchor="ctr"/>
          <a:lstStyle/>
          <a:p>
            <a:pPr indent="0" marL="0">
              <a:buNone/>
            </a:pPr>
            <a:r>
              <a:rPr lang="en-US" sz="4600" b="1" dirty="0">
                <a:solidFill>
                  <a:srgbClr val="A6093D"/>
                </a:solidFill>
                <a:latin typeface="Calibri" pitchFamily="34" charset="0"/>
                <a:ea typeface="Calibri" pitchFamily="34" charset="-122"/>
                <a:cs typeface="Calibri" pitchFamily="34" charset="-120"/>
              </a:rPr>
              <a:t>comp_square</a:t>
            </a:r>
            <a:endParaRPr lang="en-US" sz="4600" dirty="0"/>
          </a:p>
        </p:txBody>
      </p:sp>
      <p:sp>
        <p:nvSpPr>
          <p:cNvPr id="3" name="Text 1"/>
          <p:cNvSpPr/>
          <p:nvPr/>
        </p:nvSpPr>
        <p:spPr>
          <a:xfrm>
            <a:off x="594360" y="2697480"/>
            <a:ext cx="10515600" cy="502920"/>
          </a:xfrm>
          <a:prstGeom prst="rect">
            <a:avLst/>
          </a:prstGeom>
          <a:noFill/>
          <a:ln/>
        </p:spPr>
        <p:txBody>
          <a:bodyPr wrap="square" lIns="0" tIns="0" rIns="0" bIns="0" rtlCol="0" anchor="ctr"/>
          <a:lstStyle/>
          <a:p>
            <a:pPr indent="0" marL="0">
              <a:buNone/>
            </a:pPr>
            <a:r>
              <a:rPr lang="en-US" sz="2000" dirty="0">
                <a:solidFill>
                  <a:srgbClr val="222222"/>
                </a:solidFill>
                <a:latin typeface="Calibri" pitchFamily="34" charset="0"/>
                <a:ea typeface="Calibri" pitchFamily="34" charset="-122"/>
                <a:cs typeface="Calibri" pitchFamily="34" charset="-120"/>
              </a:rPr>
              <a:t>LLM-Driven Retrieval-Augmented Compliance Auditing for Web Privacy</a:t>
            </a:r>
            <a:endParaRPr lang="en-US" sz="2000" dirty="0"/>
          </a:p>
        </p:txBody>
      </p:sp>
      <p:sp>
        <p:nvSpPr>
          <p:cNvPr id="4" name="Text 2"/>
          <p:cNvSpPr/>
          <p:nvPr/>
        </p:nvSpPr>
        <p:spPr>
          <a:xfrm>
            <a:off x="594360" y="3291840"/>
            <a:ext cx="9144000" cy="365760"/>
          </a:xfrm>
          <a:prstGeom prst="rect">
            <a:avLst/>
          </a:prstGeom>
          <a:noFill/>
          <a:ln/>
        </p:spPr>
        <p:txBody>
          <a:bodyPr wrap="square" lIns="0" tIns="0" rIns="0" bIns="0" rtlCol="0" anchor="ctr"/>
          <a:lstStyle/>
          <a:p>
            <a:pPr indent="0" marL="0">
              <a:buNone/>
            </a:pPr>
            <a:r>
              <a:rPr lang="en-US" sz="1500" i="1" dirty="0">
                <a:solidFill>
                  <a:srgbClr val="666666"/>
                </a:solidFill>
                <a:latin typeface="Calibri" pitchFamily="34" charset="0"/>
                <a:ea typeface="Calibri" pitchFamily="34" charset="-122"/>
                <a:cs typeface="Calibri" pitchFamily="34" charset="-120"/>
              </a:rPr>
              <a:t>Final Review — Project Viva</a:t>
            </a:r>
            <a:endParaRPr lang="en-US" sz="1500" dirty="0"/>
          </a:p>
        </p:txBody>
      </p:sp>
      <p:sp>
        <p:nvSpPr>
          <p:cNvPr id="5" name="Shape 3"/>
          <p:cNvSpPr/>
          <p:nvPr/>
        </p:nvSpPr>
        <p:spPr>
          <a:xfrm>
            <a:off x="594360" y="4983480"/>
            <a:ext cx="4114800" cy="0"/>
          </a:xfrm>
          <a:prstGeom prst="line">
            <a:avLst/>
          </a:prstGeom>
          <a:noFill/>
          <a:ln w="19050">
            <a:solidFill>
              <a:srgbClr val="A6093D"/>
            </a:solidFill>
            <a:prstDash val="solid"/>
          </a:ln>
        </p:spPr>
      </p:sp>
      <p:sp>
        <p:nvSpPr>
          <p:cNvPr id="6" name="Text 4"/>
          <p:cNvSpPr/>
          <p:nvPr/>
        </p:nvSpPr>
        <p:spPr>
          <a:xfrm>
            <a:off x="594360" y="5120640"/>
            <a:ext cx="8229600" cy="64008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Aaron Joseph Jean · 25233118 · MSc Computer Science, University of Galway</a:t>
            </a:r>
            <a:endParaRPr lang="en-US" sz="1300" dirty="0"/>
          </a:p>
          <a:p>
            <a:pPr indent="0" marL="0">
              <a:buNone/>
            </a:pPr>
            <a:r>
              <a:rPr lang="en-US" sz="1300" dirty="0">
                <a:solidFill>
                  <a:srgbClr val="222222"/>
                </a:solidFill>
                <a:latin typeface="Calibri" pitchFamily="34" charset="0"/>
                <a:ea typeface="Calibri" pitchFamily="34" charset="-122"/>
                <a:cs typeface="Calibri" pitchFamily="34" charset="-120"/>
              </a:rPr>
              <a:t>Supervisor: Dr. Ihsan · August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347472"/>
            <a:ext cx="11000232" cy="566928"/>
          </a:xfrm>
          <a:prstGeom prst="rect">
            <a:avLst/>
          </a:prstGeom>
          <a:noFill/>
          <a:ln/>
        </p:spPr>
        <p:txBody>
          <a:bodyPr wrap="square" lIns="0" tIns="0" rIns="0" bIns="0" rtlCol="0" anchor="ctr"/>
          <a:lstStyle/>
          <a:p>
            <a:pPr indent="0" marL="0">
              <a:buNone/>
            </a:pPr>
            <a:r>
              <a:rPr lang="en-US" sz="2800" b="1" dirty="0">
                <a:solidFill>
                  <a:srgbClr val="222222"/>
                </a:solidFill>
                <a:latin typeface="Calibri" pitchFamily="34" charset="0"/>
                <a:ea typeface="Calibri" pitchFamily="34" charset="-122"/>
                <a:cs typeface="Calibri" pitchFamily="34" charset="-120"/>
              </a:rPr>
              <a:t>Where the project stands</a:t>
            </a:r>
            <a:endParaRPr lang="en-US" sz="2800" dirty="0"/>
          </a:p>
        </p:txBody>
      </p:sp>
      <p:sp>
        <p:nvSpPr>
          <p:cNvPr id="3" name="Text 1"/>
          <p:cNvSpPr/>
          <p:nvPr/>
        </p:nvSpPr>
        <p:spPr>
          <a:xfrm>
            <a:off x="594360" y="932688"/>
            <a:ext cx="11000232" cy="329184"/>
          </a:xfrm>
          <a:prstGeom prst="rect">
            <a:avLst/>
          </a:prstGeom>
          <a:noFill/>
          <a:ln/>
        </p:spPr>
        <p:txBody>
          <a:bodyPr wrap="square" lIns="0" tIns="0" rIns="0" bIns="0" rtlCol="0" anchor="ctr"/>
          <a:lstStyle/>
          <a:p>
            <a:pPr indent="0" marL="0">
              <a:buNone/>
            </a:pPr>
            <a:r>
              <a:rPr lang="en-US" sz="1300" dirty="0">
                <a:solidFill>
                  <a:srgbClr val="666666"/>
                </a:solidFill>
                <a:latin typeface="Calibri" pitchFamily="34" charset="0"/>
                <a:ea typeface="Calibri" pitchFamily="34" charset="-122"/>
                <a:cs typeface="Calibri" pitchFamily="34" charset="-120"/>
              </a:rPr>
              <a:t>All items below are in the repository and dated in PROGRESS.md</a:t>
            </a:r>
            <a:endParaRPr lang="en-US" sz="1300" dirty="0"/>
          </a:p>
        </p:txBody>
      </p:sp>
      <p:sp>
        <p:nvSpPr>
          <p:cNvPr id="4" name="Text 2"/>
          <p:cNvSpPr/>
          <p:nvPr/>
        </p:nvSpPr>
        <p:spPr>
          <a:xfrm>
            <a:off x="594360" y="1600200"/>
            <a:ext cx="1554480" cy="566928"/>
          </a:xfrm>
          <a:prstGeom prst="rect">
            <a:avLst/>
          </a:prstGeom>
          <a:noFill/>
          <a:ln/>
        </p:spPr>
        <p:txBody>
          <a:bodyPr wrap="square" lIns="0" tIns="0" rIns="0" bIns="0" rtlCol="0" anchor="ctr"/>
          <a:lstStyle/>
          <a:p>
            <a:pPr indent="0" marL="0">
              <a:buNone/>
            </a:pPr>
            <a:r>
              <a:rPr lang="en-US" sz="1150" b="1" dirty="0">
                <a:solidFill>
                  <a:srgbClr val="2E6B34"/>
                </a:solidFill>
                <a:latin typeface="Calibri" pitchFamily="34" charset="0"/>
                <a:ea typeface="Calibri" pitchFamily="34" charset="-122"/>
                <a:cs typeface="Calibri" pitchFamily="34" charset="-120"/>
              </a:rPr>
              <a:t>complete</a:t>
            </a:r>
            <a:endParaRPr lang="en-US" sz="1150" dirty="0"/>
          </a:p>
        </p:txBody>
      </p:sp>
      <p:sp>
        <p:nvSpPr>
          <p:cNvPr id="5" name="Text 3"/>
          <p:cNvSpPr/>
          <p:nvPr/>
        </p:nvSpPr>
        <p:spPr>
          <a:xfrm>
            <a:off x="2286000" y="1600200"/>
            <a:ext cx="9235440" cy="566928"/>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Full pipeline: telemetry → evidence → policy → RAG scoring → report</a:t>
            </a:r>
            <a:endParaRPr lang="en-US" sz="1450" dirty="0"/>
          </a:p>
        </p:txBody>
      </p:sp>
      <p:sp>
        <p:nvSpPr>
          <p:cNvPr id="6" name="Shape 4"/>
          <p:cNvSpPr/>
          <p:nvPr/>
        </p:nvSpPr>
        <p:spPr>
          <a:xfrm>
            <a:off x="2286000" y="2258568"/>
            <a:ext cx="8961120" cy="0"/>
          </a:xfrm>
          <a:prstGeom prst="line">
            <a:avLst/>
          </a:prstGeom>
          <a:noFill/>
          <a:ln w="9525">
            <a:solidFill>
              <a:srgbClr val="E5E5E5"/>
            </a:solidFill>
            <a:prstDash val="solid"/>
          </a:ln>
        </p:spPr>
      </p:sp>
      <p:sp>
        <p:nvSpPr>
          <p:cNvPr id="7" name="Text 5"/>
          <p:cNvSpPr/>
          <p:nvPr/>
        </p:nvSpPr>
        <p:spPr>
          <a:xfrm>
            <a:off x="594360" y="2350008"/>
            <a:ext cx="1554480" cy="566928"/>
          </a:xfrm>
          <a:prstGeom prst="rect">
            <a:avLst/>
          </a:prstGeom>
          <a:noFill/>
          <a:ln/>
        </p:spPr>
        <p:txBody>
          <a:bodyPr wrap="square" lIns="0" tIns="0" rIns="0" bIns="0" rtlCol="0" anchor="ctr"/>
          <a:lstStyle/>
          <a:p>
            <a:pPr indent="0" marL="0">
              <a:buNone/>
            </a:pPr>
            <a:r>
              <a:rPr lang="en-US" sz="1150" b="1" dirty="0">
                <a:solidFill>
                  <a:srgbClr val="2E6B34"/>
                </a:solidFill>
                <a:latin typeface="Calibri" pitchFamily="34" charset="0"/>
                <a:ea typeface="Calibri" pitchFamily="34" charset="-122"/>
                <a:cs typeface="Calibri" pitchFamily="34" charset="-120"/>
              </a:rPr>
              <a:t>complete</a:t>
            </a:r>
            <a:endParaRPr lang="en-US" sz="1150" dirty="0"/>
          </a:p>
        </p:txBody>
      </p:sp>
      <p:sp>
        <p:nvSpPr>
          <p:cNvPr id="8" name="Text 6"/>
          <p:cNvSpPr/>
          <p:nvPr/>
        </p:nvSpPr>
        <p:spPr>
          <a:xfrm>
            <a:off x="2286000" y="2350008"/>
            <a:ext cx="9235440" cy="566928"/>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Tested across 20 websites, 6 sectors, 4 jurisdictions</a:t>
            </a:r>
            <a:endParaRPr lang="en-US" sz="1450" dirty="0"/>
          </a:p>
        </p:txBody>
      </p:sp>
      <p:sp>
        <p:nvSpPr>
          <p:cNvPr id="9" name="Shape 7"/>
          <p:cNvSpPr/>
          <p:nvPr/>
        </p:nvSpPr>
        <p:spPr>
          <a:xfrm>
            <a:off x="2286000" y="3008376"/>
            <a:ext cx="8961120" cy="0"/>
          </a:xfrm>
          <a:prstGeom prst="line">
            <a:avLst/>
          </a:prstGeom>
          <a:noFill/>
          <a:ln w="9525">
            <a:solidFill>
              <a:srgbClr val="E5E5E5"/>
            </a:solidFill>
            <a:prstDash val="solid"/>
          </a:ln>
        </p:spPr>
      </p:sp>
      <p:sp>
        <p:nvSpPr>
          <p:cNvPr id="10" name="Text 8"/>
          <p:cNvSpPr/>
          <p:nvPr/>
        </p:nvSpPr>
        <p:spPr>
          <a:xfrm>
            <a:off x="594360" y="3099816"/>
            <a:ext cx="1554480" cy="566928"/>
          </a:xfrm>
          <a:prstGeom prst="rect">
            <a:avLst/>
          </a:prstGeom>
          <a:noFill/>
          <a:ln/>
        </p:spPr>
        <p:txBody>
          <a:bodyPr wrap="square" lIns="0" tIns="0" rIns="0" bIns="0" rtlCol="0" anchor="ctr"/>
          <a:lstStyle/>
          <a:p>
            <a:pPr indent="0" marL="0">
              <a:buNone/>
            </a:pPr>
            <a:r>
              <a:rPr lang="en-US" sz="1150" b="1" dirty="0">
                <a:solidFill>
                  <a:srgbClr val="2E6B34"/>
                </a:solidFill>
                <a:latin typeface="Calibri" pitchFamily="34" charset="0"/>
                <a:ea typeface="Calibri" pitchFamily="34" charset="-122"/>
                <a:cs typeface="Calibri" pitchFamily="34" charset="-120"/>
              </a:rPr>
              <a:t>complete</a:t>
            </a:r>
            <a:endParaRPr lang="en-US" sz="1150" dirty="0"/>
          </a:p>
        </p:txBody>
      </p:sp>
      <p:sp>
        <p:nvSpPr>
          <p:cNvPr id="11" name="Text 9"/>
          <p:cNvSpPr/>
          <p:nvPr/>
        </p:nvSpPr>
        <p:spPr>
          <a:xfrm>
            <a:off x="2286000" y="3099816"/>
            <a:ext cx="9235440" cy="566928"/>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Every verdict verified mechanically against its own telemetry</a:t>
            </a:r>
            <a:endParaRPr lang="en-US" sz="1450" dirty="0"/>
          </a:p>
        </p:txBody>
      </p:sp>
      <p:sp>
        <p:nvSpPr>
          <p:cNvPr id="12" name="Shape 10"/>
          <p:cNvSpPr/>
          <p:nvPr/>
        </p:nvSpPr>
        <p:spPr>
          <a:xfrm>
            <a:off x="2286000" y="3758184"/>
            <a:ext cx="8961120" cy="0"/>
          </a:xfrm>
          <a:prstGeom prst="line">
            <a:avLst/>
          </a:prstGeom>
          <a:noFill/>
          <a:ln w="9525">
            <a:solidFill>
              <a:srgbClr val="E5E5E5"/>
            </a:solidFill>
            <a:prstDash val="solid"/>
          </a:ln>
        </p:spPr>
      </p:sp>
      <p:sp>
        <p:nvSpPr>
          <p:cNvPr id="13" name="Text 11"/>
          <p:cNvSpPr/>
          <p:nvPr/>
        </p:nvSpPr>
        <p:spPr>
          <a:xfrm>
            <a:off x="594360" y="3849624"/>
            <a:ext cx="1554480" cy="566928"/>
          </a:xfrm>
          <a:prstGeom prst="rect">
            <a:avLst/>
          </a:prstGeom>
          <a:noFill/>
          <a:ln/>
        </p:spPr>
        <p:txBody>
          <a:bodyPr wrap="square" lIns="0" tIns="0" rIns="0" bIns="0" rtlCol="0" anchor="ctr"/>
          <a:lstStyle/>
          <a:p>
            <a:pPr indent="0" marL="0">
              <a:buNone/>
            </a:pPr>
            <a:r>
              <a:rPr lang="en-US" sz="1150" b="1" dirty="0">
                <a:solidFill>
                  <a:srgbClr val="2E6B34"/>
                </a:solidFill>
                <a:latin typeface="Calibri" pitchFamily="34" charset="0"/>
                <a:ea typeface="Calibri" pitchFamily="34" charset="-122"/>
                <a:cs typeface="Calibri" pitchFamily="34" charset="-120"/>
              </a:rPr>
              <a:t>complete</a:t>
            </a:r>
            <a:endParaRPr lang="en-US" sz="1150" dirty="0"/>
          </a:p>
        </p:txBody>
      </p:sp>
      <p:sp>
        <p:nvSpPr>
          <p:cNvPr id="14" name="Text 12"/>
          <p:cNvSpPr/>
          <p:nvPr/>
        </p:nvSpPr>
        <p:spPr>
          <a:xfrm>
            <a:off x="2286000" y="3849624"/>
            <a:ext cx="9235440" cy="566928"/>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Local web frontend + self-contained HTML reports</a:t>
            </a:r>
            <a:endParaRPr lang="en-US" sz="1450" dirty="0"/>
          </a:p>
        </p:txBody>
      </p:sp>
      <p:sp>
        <p:nvSpPr>
          <p:cNvPr id="15" name="Shape 13"/>
          <p:cNvSpPr/>
          <p:nvPr/>
        </p:nvSpPr>
        <p:spPr>
          <a:xfrm>
            <a:off x="2286000" y="4507992"/>
            <a:ext cx="8961120" cy="0"/>
          </a:xfrm>
          <a:prstGeom prst="line">
            <a:avLst/>
          </a:prstGeom>
          <a:noFill/>
          <a:ln w="9525">
            <a:solidFill>
              <a:srgbClr val="E5E5E5"/>
            </a:solidFill>
            <a:prstDash val="solid"/>
          </a:ln>
        </p:spPr>
      </p:sp>
      <p:sp>
        <p:nvSpPr>
          <p:cNvPr id="16" name="Text 14"/>
          <p:cNvSpPr/>
          <p:nvPr/>
        </p:nvSpPr>
        <p:spPr>
          <a:xfrm>
            <a:off x="594360" y="4599432"/>
            <a:ext cx="1554480" cy="566928"/>
          </a:xfrm>
          <a:prstGeom prst="rect">
            <a:avLst/>
          </a:prstGeom>
          <a:noFill/>
          <a:ln/>
        </p:spPr>
        <p:txBody>
          <a:bodyPr wrap="square" lIns="0" tIns="0" rIns="0" bIns="0" rtlCol="0" anchor="ctr"/>
          <a:lstStyle/>
          <a:p>
            <a:pPr indent="0" marL="0">
              <a:buNone/>
            </a:pPr>
            <a:r>
              <a:rPr lang="en-US" sz="1150" b="1" dirty="0">
                <a:solidFill>
                  <a:srgbClr val="2E6B34"/>
                </a:solidFill>
                <a:latin typeface="Calibri" pitchFamily="34" charset="0"/>
                <a:ea typeface="Calibri" pitchFamily="34" charset="-122"/>
                <a:cs typeface="Calibri" pitchFamily="34" charset="-120"/>
              </a:rPr>
              <a:t>complete</a:t>
            </a:r>
            <a:endParaRPr lang="en-US" sz="1150" dirty="0"/>
          </a:p>
        </p:txBody>
      </p:sp>
      <p:sp>
        <p:nvSpPr>
          <p:cNvPr id="17" name="Text 15"/>
          <p:cNvSpPr/>
          <p:nvPr/>
        </p:nvSpPr>
        <p:spPr>
          <a:xfrm>
            <a:off x="2286000" y="4599432"/>
            <a:ext cx="9235440" cy="566928"/>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Paper rewritten with evaluation, verification and limitations</a:t>
            </a:r>
            <a:endParaRPr lang="en-US" sz="1450" dirty="0"/>
          </a:p>
        </p:txBody>
      </p:sp>
      <p:sp>
        <p:nvSpPr>
          <p:cNvPr id="18" name="Shape 16"/>
          <p:cNvSpPr/>
          <p:nvPr/>
        </p:nvSpPr>
        <p:spPr>
          <a:xfrm>
            <a:off x="2286000" y="5257800"/>
            <a:ext cx="8961120" cy="0"/>
          </a:xfrm>
          <a:prstGeom prst="line">
            <a:avLst/>
          </a:prstGeom>
          <a:noFill/>
          <a:ln w="9525">
            <a:solidFill>
              <a:srgbClr val="E5E5E5"/>
            </a:solidFill>
            <a:prstDash val="solid"/>
          </a:ln>
        </p:spPr>
      </p:sp>
      <p:sp>
        <p:nvSpPr>
          <p:cNvPr id="19" name="Text 17"/>
          <p:cNvSpPr/>
          <p:nvPr/>
        </p:nvSpPr>
        <p:spPr>
          <a:xfrm>
            <a:off x="594360" y="5349240"/>
            <a:ext cx="1554480" cy="566928"/>
          </a:xfrm>
          <a:prstGeom prst="rect">
            <a:avLst/>
          </a:prstGeom>
          <a:noFill/>
          <a:ln/>
        </p:spPr>
        <p:txBody>
          <a:bodyPr wrap="square" lIns="0" tIns="0" rIns="0" bIns="0" rtlCol="0" anchor="ctr"/>
          <a:lstStyle/>
          <a:p>
            <a:pPr indent="0" marL="0">
              <a:buNone/>
            </a:pPr>
            <a:r>
              <a:rPr lang="en-US" sz="1150" b="1" dirty="0">
                <a:solidFill>
                  <a:srgbClr val="9A6A00"/>
                </a:solidFill>
                <a:latin typeface="Calibri" pitchFamily="34" charset="0"/>
                <a:ea typeface="Calibri" pitchFamily="34" charset="-122"/>
                <a:cs typeface="Calibri" pitchFamily="34" charset="-120"/>
              </a:rPr>
              <a:t>remaining</a:t>
            </a:r>
            <a:endParaRPr lang="en-US" sz="1150" dirty="0"/>
          </a:p>
        </p:txBody>
      </p:sp>
      <p:sp>
        <p:nvSpPr>
          <p:cNvPr id="20" name="Text 18"/>
          <p:cNvSpPr/>
          <p:nvPr/>
        </p:nvSpPr>
        <p:spPr>
          <a:xfrm>
            <a:off x="2286000" y="5349240"/>
            <a:ext cx="9235440" cy="566928"/>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Expert-annotated F1 study; consent-banner interaction</a:t>
            </a:r>
            <a:endParaRPr lang="en-US" sz="1450" dirty="0"/>
          </a:p>
        </p:txBody>
      </p:sp>
      <p:sp>
        <p:nvSpPr>
          <p:cNvPr id="21" name="Text 19"/>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347472"/>
            <a:ext cx="11000232" cy="566928"/>
          </a:xfrm>
          <a:prstGeom prst="rect">
            <a:avLst/>
          </a:prstGeom>
          <a:noFill/>
          <a:ln/>
        </p:spPr>
        <p:txBody>
          <a:bodyPr wrap="square" lIns="0" tIns="0" rIns="0" bIns="0" rtlCol="0" anchor="ctr"/>
          <a:lstStyle/>
          <a:p>
            <a:pPr indent="0" marL="0">
              <a:buNone/>
            </a:pPr>
            <a:r>
              <a:rPr lang="en-US" sz="2800" b="1" dirty="0">
                <a:solidFill>
                  <a:srgbClr val="222222"/>
                </a:solidFill>
                <a:latin typeface="Calibri" pitchFamily="34" charset="0"/>
                <a:ea typeface="Calibri" pitchFamily="34" charset="-122"/>
                <a:cs typeface="Calibri" pitchFamily="34" charset="-120"/>
              </a:rPr>
              <a:t>The gap this project fills</a:t>
            </a:r>
            <a:endParaRPr lang="en-US" sz="2800" dirty="0"/>
          </a:p>
        </p:txBody>
      </p:sp>
      <p:sp>
        <p:nvSpPr>
          <p:cNvPr id="3" name="Text 1"/>
          <p:cNvSpPr/>
          <p:nvPr/>
        </p:nvSpPr>
        <p:spPr>
          <a:xfrm>
            <a:off x="594360" y="932688"/>
            <a:ext cx="11000232" cy="329184"/>
          </a:xfrm>
          <a:prstGeom prst="rect">
            <a:avLst/>
          </a:prstGeom>
          <a:noFill/>
          <a:ln/>
        </p:spPr>
        <p:txBody>
          <a:bodyPr wrap="square" lIns="0" tIns="0" rIns="0" bIns="0" rtlCol="0" anchor="ctr"/>
          <a:lstStyle/>
          <a:p>
            <a:pPr indent="0" marL="0">
              <a:buNone/>
            </a:pPr>
            <a:r>
              <a:rPr lang="en-US" sz="1300" dirty="0">
                <a:solidFill>
                  <a:srgbClr val="666666"/>
                </a:solidFill>
                <a:latin typeface="Calibri" pitchFamily="34" charset="0"/>
                <a:ea typeface="Calibri" pitchFamily="34" charset="-122"/>
                <a:cs typeface="Calibri" pitchFamily="34" charset="-120"/>
              </a:rPr>
              <a:t>Each research direction covers one modality; none combines the three</a:t>
            </a:r>
            <a:endParaRPr lang="en-US" sz="1300" dirty="0"/>
          </a:p>
        </p:txBody>
      </p:sp>
      <p:sp>
        <p:nvSpPr>
          <p:cNvPr id="4" name="Text 2"/>
          <p:cNvSpPr/>
          <p:nvPr/>
        </p:nvSpPr>
        <p:spPr>
          <a:xfrm>
            <a:off x="594360" y="1828800"/>
            <a:ext cx="3474720" cy="411480"/>
          </a:xfrm>
          <a:prstGeom prst="rect">
            <a:avLst/>
          </a:prstGeom>
          <a:noFill/>
          <a:ln/>
        </p:spPr>
        <p:txBody>
          <a:bodyPr wrap="square" lIns="0" tIns="0" rIns="0" bIns="0" rtlCol="0" anchor="ctr"/>
          <a:lstStyle/>
          <a:p>
            <a:pPr indent="0" marL="0">
              <a:buNone/>
            </a:pPr>
            <a:r>
              <a:rPr lang="en-US" sz="1900" b="1" dirty="0">
                <a:solidFill>
                  <a:srgbClr val="A6093D"/>
                </a:solidFill>
                <a:latin typeface="Calibri" pitchFamily="34" charset="0"/>
                <a:ea typeface="Calibri" pitchFamily="34" charset="-122"/>
                <a:cs typeface="Calibri" pitchFamily="34" charset="-120"/>
              </a:rPr>
              <a:t>LAW</a:t>
            </a:r>
            <a:endParaRPr lang="en-US" sz="1900" dirty="0"/>
          </a:p>
        </p:txBody>
      </p:sp>
      <p:sp>
        <p:nvSpPr>
          <p:cNvPr id="5" name="Text 3"/>
          <p:cNvSpPr/>
          <p:nvPr/>
        </p:nvSpPr>
        <p:spPr>
          <a:xfrm>
            <a:off x="594360" y="2240280"/>
            <a:ext cx="3474720" cy="320040"/>
          </a:xfrm>
          <a:prstGeom prst="rect">
            <a:avLst/>
          </a:prstGeom>
          <a:noFill/>
          <a:ln/>
        </p:spPr>
        <p:txBody>
          <a:bodyPr wrap="square" lIns="0" tIns="0" rIns="0" bIns="0" rtlCol="0" anchor="ctr"/>
          <a:lstStyle/>
          <a:p>
            <a:pPr indent="0" marL="0">
              <a:buNone/>
            </a:pPr>
            <a:r>
              <a:rPr lang="en-US" sz="1200" i="1" dirty="0">
                <a:solidFill>
                  <a:srgbClr val="666666"/>
                </a:solidFill>
                <a:latin typeface="Calibri" pitchFamily="34" charset="0"/>
                <a:ea typeface="Calibri" pitchFamily="34" charset="-122"/>
                <a:cs typeface="Calibri" pitchFamily="34" charset="-120"/>
              </a:rPr>
              <a:t>GDPR · PECR · DPDP · CCPA</a:t>
            </a:r>
            <a:endParaRPr lang="en-US" sz="1200" dirty="0"/>
          </a:p>
        </p:txBody>
      </p:sp>
      <p:sp>
        <p:nvSpPr>
          <p:cNvPr id="6" name="Text 4"/>
          <p:cNvSpPr/>
          <p:nvPr/>
        </p:nvSpPr>
        <p:spPr>
          <a:xfrm>
            <a:off x="594360" y="2606040"/>
            <a:ext cx="3474720" cy="914400"/>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LLMs reason over clean legal text only (LegalBench, Xie)</a:t>
            </a:r>
            <a:endParaRPr lang="en-US" sz="1250" dirty="0"/>
          </a:p>
        </p:txBody>
      </p:sp>
      <p:sp>
        <p:nvSpPr>
          <p:cNvPr id="7" name="Text 5"/>
          <p:cNvSpPr/>
          <p:nvPr/>
        </p:nvSpPr>
        <p:spPr>
          <a:xfrm>
            <a:off x="4379976" y="1828800"/>
            <a:ext cx="3474720" cy="411480"/>
          </a:xfrm>
          <a:prstGeom prst="rect">
            <a:avLst/>
          </a:prstGeom>
          <a:noFill/>
          <a:ln/>
        </p:spPr>
        <p:txBody>
          <a:bodyPr wrap="square" lIns="0" tIns="0" rIns="0" bIns="0" rtlCol="0" anchor="ctr"/>
          <a:lstStyle/>
          <a:p>
            <a:pPr indent="0" marL="0">
              <a:buNone/>
            </a:pPr>
            <a:r>
              <a:rPr lang="en-US" sz="1900" b="1" dirty="0">
                <a:solidFill>
                  <a:srgbClr val="A6093D"/>
                </a:solidFill>
                <a:latin typeface="Calibri" pitchFamily="34" charset="0"/>
                <a:ea typeface="Calibri" pitchFamily="34" charset="-122"/>
                <a:cs typeface="Calibri" pitchFamily="34" charset="-120"/>
              </a:rPr>
              <a:t>NOTICE</a:t>
            </a:r>
            <a:endParaRPr lang="en-US" sz="1900" dirty="0"/>
          </a:p>
        </p:txBody>
      </p:sp>
      <p:sp>
        <p:nvSpPr>
          <p:cNvPr id="8" name="Text 6"/>
          <p:cNvSpPr/>
          <p:nvPr/>
        </p:nvSpPr>
        <p:spPr>
          <a:xfrm>
            <a:off x="4379976" y="2240280"/>
            <a:ext cx="3474720" cy="320040"/>
          </a:xfrm>
          <a:prstGeom prst="rect">
            <a:avLst/>
          </a:prstGeom>
          <a:noFill/>
          <a:ln/>
        </p:spPr>
        <p:txBody>
          <a:bodyPr wrap="square" lIns="0" tIns="0" rIns="0" bIns="0" rtlCol="0" anchor="ctr"/>
          <a:lstStyle/>
          <a:p>
            <a:pPr indent="0" marL="0">
              <a:buNone/>
            </a:pPr>
            <a:r>
              <a:rPr lang="en-US" sz="1200" i="1" dirty="0">
                <a:solidFill>
                  <a:srgbClr val="666666"/>
                </a:solidFill>
                <a:latin typeface="Calibri" pitchFamily="34" charset="0"/>
                <a:ea typeface="Calibri" pitchFamily="34" charset="-122"/>
                <a:cs typeface="Calibri" pitchFamily="34" charset="-120"/>
              </a:rPr>
              <a:t>the site's written policy</a:t>
            </a:r>
            <a:endParaRPr lang="en-US" sz="1200" dirty="0"/>
          </a:p>
        </p:txBody>
      </p:sp>
      <p:sp>
        <p:nvSpPr>
          <p:cNvPr id="9" name="Text 7"/>
          <p:cNvSpPr/>
          <p:nvPr/>
        </p:nvSpPr>
        <p:spPr>
          <a:xfrm>
            <a:off x="4379976" y="2606040"/>
            <a:ext cx="3474720" cy="914400"/>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NLP analyses text, cannot verify behaviour (OPP-115, Polisis, PrivacyQA)</a:t>
            </a:r>
            <a:endParaRPr lang="en-US" sz="1250" dirty="0"/>
          </a:p>
        </p:txBody>
      </p:sp>
      <p:sp>
        <p:nvSpPr>
          <p:cNvPr id="10" name="Text 8"/>
          <p:cNvSpPr/>
          <p:nvPr/>
        </p:nvSpPr>
        <p:spPr>
          <a:xfrm>
            <a:off x="8165592" y="1828800"/>
            <a:ext cx="3474720" cy="411480"/>
          </a:xfrm>
          <a:prstGeom prst="rect">
            <a:avLst/>
          </a:prstGeom>
          <a:noFill/>
          <a:ln/>
        </p:spPr>
        <p:txBody>
          <a:bodyPr wrap="square" lIns="0" tIns="0" rIns="0" bIns="0" rtlCol="0" anchor="ctr"/>
          <a:lstStyle/>
          <a:p>
            <a:pPr indent="0" marL="0">
              <a:buNone/>
            </a:pPr>
            <a:r>
              <a:rPr lang="en-US" sz="1900" b="1" dirty="0">
                <a:solidFill>
                  <a:srgbClr val="A6093D"/>
                </a:solidFill>
                <a:latin typeface="Calibri" pitchFamily="34" charset="0"/>
                <a:ea typeface="Calibri" pitchFamily="34" charset="-122"/>
                <a:cs typeface="Calibri" pitchFamily="34" charset="-120"/>
              </a:rPr>
              <a:t>PRACTICE</a:t>
            </a:r>
            <a:endParaRPr lang="en-US" sz="1900" dirty="0"/>
          </a:p>
        </p:txBody>
      </p:sp>
      <p:sp>
        <p:nvSpPr>
          <p:cNvPr id="11" name="Text 9"/>
          <p:cNvSpPr/>
          <p:nvPr/>
        </p:nvSpPr>
        <p:spPr>
          <a:xfrm>
            <a:off x="8165592" y="2240280"/>
            <a:ext cx="3474720" cy="320040"/>
          </a:xfrm>
          <a:prstGeom prst="rect">
            <a:avLst/>
          </a:prstGeom>
          <a:noFill/>
          <a:ln/>
        </p:spPr>
        <p:txBody>
          <a:bodyPr wrap="square" lIns="0" tIns="0" rIns="0" bIns="0" rtlCol="0" anchor="ctr"/>
          <a:lstStyle/>
          <a:p>
            <a:pPr indent="0" marL="0">
              <a:buNone/>
            </a:pPr>
            <a:r>
              <a:rPr lang="en-US" sz="1200" i="1" dirty="0">
                <a:solidFill>
                  <a:srgbClr val="666666"/>
                </a:solidFill>
                <a:latin typeface="Calibri" pitchFamily="34" charset="0"/>
                <a:ea typeface="Calibri" pitchFamily="34" charset="-122"/>
                <a:cs typeface="Calibri" pitchFamily="34" charset="-120"/>
              </a:rPr>
              <a:t>observed runtime behaviour</a:t>
            </a:r>
            <a:endParaRPr lang="en-US" sz="1200" dirty="0"/>
          </a:p>
        </p:txBody>
      </p:sp>
      <p:sp>
        <p:nvSpPr>
          <p:cNvPr id="12" name="Text 10"/>
          <p:cNvSpPr/>
          <p:nvPr/>
        </p:nvSpPr>
        <p:spPr>
          <a:xfrm>
            <a:off x="8165592" y="2606040"/>
            <a:ext cx="3474720" cy="914400"/>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web audits never reconcile with the policy (Trevisan, Bouhoula)</a:t>
            </a:r>
            <a:endParaRPr lang="en-US" sz="1250" dirty="0"/>
          </a:p>
        </p:txBody>
      </p:sp>
      <p:sp>
        <p:nvSpPr>
          <p:cNvPr id="13" name="Shape 11"/>
          <p:cNvSpPr/>
          <p:nvPr/>
        </p:nvSpPr>
        <p:spPr>
          <a:xfrm>
            <a:off x="594360" y="3794760"/>
            <a:ext cx="11000232" cy="0"/>
          </a:xfrm>
          <a:prstGeom prst="line">
            <a:avLst/>
          </a:prstGeom>
          <a:noFill/>
          <a:ln w="9525">
            <a:solidFill>
              <a:srgbClr val="CCCCCC"/>
            </a:solidFill>
            <a:prstDash val="solid"/>
          </a:ln>
        </p:spPr>
      </p:sp>
      <p:sp>
        <p:nvSpPr>
          <p:cNvPr id="14" name="Text 12"/>
          <p:cNvSpPr/>
          <p:nvPr/>
        </p:nvSpPr>
        <p:spPr>
          <a:xfrm>
            <a:off x="594360" y="4069080"/>
            <a:ext cx="11000232" cy="100584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comp_square retrieves the legal article, reads the scraped policy in full, and injects runtime HAR and JavaScript evidence. The LLM judges all three together, per compliance dimension. Hybrid systems exist only for mobile binaries via static analysis (Zimmeck, MAPS, Lalaine).</a:t>
            </a:r>
            <a:endParaRPr lang="en-US" sz="1500" dirty="0"/>
          </a:p>
        </p:txBody>
      </p:sp>
      <p:sp>
        <p:nvSpPr>
          <p:cNvPr id="15" name="Text 13"/>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347472"/>
            <a:ext cx="11000232" cy="566928"/>
          </a:xfrm>
          <a:prstGeom prst="rect">
            <a:avLst/>
          </a:prstGeom>
          <a:noFill/>
          <a:ln/>
        </p:spPr>
        <p:txBody>
          <a:bodyPr wrap="square" lIns="0" tIns="0" rIns="0" bIns="0" rtlCol="0" anchor="ctr"/>
          <a:lstStyle/>
          <a:p>
            <a:pPr indent="0" marL="0">
              <a:buNone/>
            </a:pPr>
            <a:r>
              <a:rPr lang="en-US" sz="2800" b="1" dirty="0">
                <a:solidFill>
                  <a:srgbClr val="222222"/>
                </a:solidFill>
                <a:latin typeface="Calibri" pitchFamily="34" charset="0"/>
                <a:ea typeface="Calibri" pitchFamily="34" charset="-122"/>
                <a:cs typeface="Calibri" pitchFamily="34" charset="-120"/>
              </a:rPr>
              <a:t>What was taken from each paper (1/2)</a:t>
            </a:r>
            <a:endParaRPr lang="en-US" sz="2800" dirty="0"/>
          </a:p>
        </p:txBody>
      </p:sp>
      <p:sp>
        <p:nvSpPr>
          <p:cNvPr id="3" name="Text 1"/>
          <p:cNvSpPr/>
          <p:nvPr/>
        </p:nvSpPr>
        <p:spPr>
          <a:xfrm>
            <a:off x="594360" y="932688"/>
            <a:ext cx="11000232" cy="329184"/>
          </a:xfrm>
          <a:prstGeom prst="rect">
            <a:avLst/>
          </a:prstGeom>
          <a:noFill/>
          <a:ln/>
        </p:spPr>
        <p:txBody>
          <a:bodyPr wrap="square" lIns="0" tIns="0" rIns="0" bIns="0" rtlCol="0" anchor="ctr"/>
          <a:lstStyle/>
          <a:p>
            <a:pPr indent="0" marL="0">
              <a:buNone/>
            </a:pPr>
            <a:r>
              <a:rPr lang="en-US" sz="1300" dirty="0">
                <a:solidFill>
                  <a:srgbClr val="666666"/>
                </a:solidFill>
                <a:latin typeface="Calibri" pitchFamily="34" charset="0"/>
                <a:ea typeface="Calibri" pitchFamily="34" charset="-122"/>
                <a:cs typeface="Calibri" pitchFamily="34" charset="-120"/>
              </a:rPr>
              <a:t>Ideas and code adopted, and where each lives in the implementation</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94360" y="1463040"/>
          <a:ext cx="11000232" cy="914400"/>
        </p:xfrm>
        <a:graphic>
          <a:graphicData uri="http://schemas.openxmlformats.org/drawingml/2006/table">
            <a:tbl>
              <a:tblPr/>
              <a:tblGrid>
                <a:gridCol w="2468880"/>
                <a:gridCol w="5852160"/>
                <a:gridCol w="2679192"/>
              </a:tblGrid>
              <a:tr h="7772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Paper</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Idea / code taken</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Where it lives</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r>
              <a:tr h="77724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Trevisan '19 — CookieCheck (PoPETs)</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Profiling-cookie rule (third-party ∧ both tracker lists ∧ ≥30-day lifetime); clean-profile no-interaction visit protocol</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ingestion/har_extractor.py; telemetry protocol</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77724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Bouhoula '24 — alsacnc (USENIX Sec)</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Advertising+analytics cookie definition; conservative tuning; banner-detection heuristics (their code is open source)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tracker classification; collector upgrade (future)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77724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Wilson '16 — OPP-115 (ACL)</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Ten data-practice categories from the expert-annotated corpus</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requirement_type metadata tags</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77724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Harkous '18 — Polisis (USENIX Sec)</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Segment-level treatment of long policies; domain embeddings help classification (does not transfer to retrieval)</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policy section routing; embedder decision</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77724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Ravichander '19 — PrivacyQA (EMNLP)</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Some questions are unanswerable from the policy, even for experts, so the scorer may abstain</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NOT_ADDRESSED verdict + confidence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5" name="Text 2"/>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347472"/>
            <a:ext cx="11000232" cy="566928"/>
          </a:xfrm>
          <a:prstGeom prst="rect">
            <a:avLst/>
          </a:prstGeom>
          <a:noFill/>
          <a:ln/>
        </p:spPr>
        <p:txBody>
          <a:bodyPr wrap="square" lIns="0" tIns="0" rIns="0" bIns="0" rtlCol="0" anchor="ctr"/>
          <a:lstStyle/>
          <a:p>
            <a:pPr indent="0" marL="0">
              <a:buNone/>
            </a:pPr>
            <a:r>
              <a:rPr lang="en-US" sz="2800" b="1" dirty="0">
                <a:solidFill>
                  <a:srgbClr val="222222"/>
                </a:solidFill>
                <a:latin typeface="Calibri" pitchFamily="34" charset="0"/>
                <a:ea typeface="Calibri" pitchFamily="34" charset="-122"/>
                <a:cs typeface="Calibri" pitchFamily="34" charset="-120"/>
              </a:rPr>
              <a:t>What was taken from each paper (2/2)</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1234440"/>
          <a:ext cx="11000232" cy="914400"/>
        </p:xfrm>
        <a:graphic>
          <a:graphicData uri="http://schemas.openxmlformats.org/drawingml/2006/table">
            <a:tbl>
              <a:tblPr/>
              <a:tblGrid>
                <a:gridCol w="2468880"/>
                <a:gridCol w="5852160"/>
                <a:gridCol w="2679192"/>
              </a:tblGrid>
              <a:tr h="7772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Paper</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Idea / code taken</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Where it lives</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r>
              <a:tr h="77724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Zimmeck '17 (NDSS)</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A closed set of practices checkable in both policy text and behaviour; static-analysis false positives argue for runtime evidence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dimension → evidence-key binding</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77724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Zimmeck '19 — MAPS (PoPETs)</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Report findings as “potential” non-compliance; cheap-model-first cost tiering</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report wording; two-tier LLM plan</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77724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Xiao '23 — Lalaine (USENIX Sec)</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Non-compliance typology: neglect / contrary / inadequate disclosure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discrepancy_type in every verdict</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77724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Guha '23 — LegalBench (NeurIPS)</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IRAC structure for legal rule-application; privacy tasks for model selection</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scorer system prompt; model selection (future)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77724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Xie '25 (USENIX Sec)</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34 clauses across 10 laws validate dimension coverage; expert-annotation and per-clause F1 protocol</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dimension check; evaluation design</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4" name="Text 1"/>
          <p:cNvSpPr/>
          <p:nvPr/>
        </p:nvSpPr>
        <p:spPr>
          <a:xfrm>
            <a:off x="594360" y="5623560"/>
            <a:ext cx="11000232" cy="365760"/>
          </a:xfrm>
          <a:prstGeom prst="rect">
            <a:avLst/>
          </a:prstGeom>
          <a:noFill/>
          <a:ln/>
        </p:spPr>
        <p:txBody>
          <a:bodyPr wrap="square" lIns="0" tIns="0" rIns="0" bIns="0" rtlCol="0" anchor="ctr"/>
          <a:lstStyle/>
          <a:p>
            <a:pPr indent="0" marL="0">
              <a:buNone/>
            </a:pPr>
            <a:r>
              <a:rPr lang="en-US" sz="1200" i="1" dirty="0">
                <a:solidFill>
                  <a:srgbClr val="666666"/>
                </a:solidFill>
                <a:latin typeface="Calibri" pitchFamily="34" charset="0"/>
                <a:ea typeface="Calibri" pitchFamily="34" charset="-122"/>
                <a:cs typeface="Calibri" pitchFamily="34" charset="-120"/>
              </a:rPr>
              <a:t>Every borrowed element is cited at its point of use in the code and in Table III of the paper. Full mapping: CODE_PROVENANCE.md.</a:t>
            </a:r>
            <a:endParaRPr lang="en-US" sz="1200" dirty="0"/>
          </a:p>
        </p:txBody>
      </p:sp>
      <p:sp>
        <p:nvSpPr>
          <p:cNvPr id="5" name="Text 2"/>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347472"/>
            <a:ext cx="11000232" cy="566928"/>
          </a:xfrm>
          <a:prstGeom prst="rect">
            <a:avLst/>
          </a:prstGeom>
          <a:noFill/>
          <a:ln/>
        </p:spPr>
        <p:txBody>
          <a:bodyPr wrap="square" lIns="0" tIns="0" rIns="0" bIns="0" rtlCol="0" anchor="ctr"/>
          <a:lstStyle/>
          <a:p>
            <a:pPr indent="0" marL="0">
              <a:buNone/>
            </a:pPr>
            <a:r>
              <a:rPr lang="en-US" sz="2800" b="1" dirty="0">
                <a:solidFill>
                  <a:srgbClr val="222222"/>
                </a:solidFill>
                <a:latin typeface="Calibri" pitchFamily="34" charset="0"/>
                <a:ea typeface="Calibri" pitchFamily="34" charset="-122"/>
                <a:cs typeface="Calibri" pitchFamily="34" charset="-120"/>
              </a:rPr>
              <a:t>Architecture</a:t>
            </a:r>
            <a:endParaRPr lang="en-US" sz="2800" dirty="0"/>
          </a:p>
        </p:txBody>
      </p:sp>
      <p:sp>
        <p:nvSpPr>
          <p:cNvPr id="3" name="Text 1"/>
          <p:cNvSpPr/>
          <p:nvPr/>
        </p:nvSpPr>
        <p:spPr>
          <a:xfrm>
            <a:off x="594360" y="932688"/>
            <a:ext cx="11000232" cy="329184"/>
          </a:xfrm>
          <a:prstGeom prst="rect">
            <a:avLst/>
          </a:prstGeom>
          <a:noFill/>
          <a:ln/>
        </p:spPr>
        <p:txBody>
          <a:bodyPr wrap="square" lIns="0" tIns="0" rIns="0" bIns="0" rtlCol="0" anchor="ctr"/>
          <a:lstStyle/>
          <a:p>
            <a:pPr indent="0" marL="0">
              <a:buNone/>
            </a:pPr>
            <a:r>
              <a:rPr lang="en-US" sz="1300" dirty="0">
                <a:solidFill>
                  <a:srgbClr val="666666"/>
                </a:solidFill>
                <a:latin typeface="Calibri" pitchFamily="34" charset="0"/>
                <a:ea typeface="Calibri" pitchFamily="34" charset="-122"/>
                <a:cs typeface="Calibri" pitchFamily="34" charset="-120"/>
              </a:rPr>
              <a:t>Three phases; all implemented</a:t>
            </a:r>
            <a:endParaRPr lang="en-US" sz="1300" dirty="0"/>
          </a:p>
        </p:txBody>
      </p:sp>
      <p:sp>
        <p:nvSpPr>
          <p:cNvPr id="4" name="Text 2"/>
          <p:cNvSpPr/>
          <p:nvPr/>
        </p:nvSpPr>
        <p:spPr>
          <a:xfrm>
            <a:off x="594360" y="1508760"/>
            <a:ext cx="3474720" cy="320040"/>
          </a:xfrm>
          <a:prstGeom prst="rect">
            <a:avLst/>
          </a:prstGeom>
          <a:noFill/>
          <a:ln/>
        </p:spPr>
        <p:txBody>
          <a:bodyPr wrap="square" lIns="0" tIns="0" rIns="0" bIns="0" rtlCol="0" anchor="ctr"/>
          <a:lstStyle/>
          <a:p>
            <a:pPr indent="0" marL="0">
              <a:buNone/>
            </a:pPr>
            <a:r>
              <a:rPr lang="en-US" sz="1400" b="1" dirty="0">
                <a:solidFill>
                  <a:srgbClr val="A6093D"/>
                </a:solidFill>
                <a:latin typeface="Calibri" pitchFamily="34" charset="0"/>
                <a:ea typeface="Calibri" pitchFamily="34" charset="-122"/>
                <a:cs typeface="Calibri" pitchFamily="34" charset="-120"/>
              </a:rPr>
              <a:t>1 · Legal ingestion (once)</a:t>
            </a:r>
            <a:endParaRPr lang="en-US" sz="1400" dirty="0"/>
          </a:p>
        </p:txBody>
      </p:sp>
      <p:sp>
        <p:nvSpPr>
          <p:cNvPr id="5" name="Shape 3"/>
          <p:cNvSpPr/>
          <p:nvPr/>
        </p:nvSpPr>
        <p:spPr>
          <a:xfrm>
            <a:off x="594360" y="1920240"/>
            <a:ext cx="3383280" cy="658368"/>
          </a:xfrm>
          <a:prstGeom prst="rect">
            <a:avLst/>
          </a:prstGeom>
          <a:solidFill>
            <a:srgbClr val="F4F4F4"/>
          </a:solidFill>
          <a:ln w="12700">
            <a:solidFill>
              <a:srgbClr val="CCCCCC"/>
            </a:solidFill>
            <a:prstDash val="solid"/>
          </a:ln>
        </p:spPr>
      </p:sp>
      <p:sp>
        <p:nvSpPr>
          <p:cNvPr id="6" name="Text 4"/>
          <p:cNvSpPr/>
          <p:nvPr/>
        </p:nvSpPr>
        <p:spPr>
          <a:xfrm>
            <a:off x="667512" y="1920240"/>
            <a:ext cx="3236976" cy="658368"/>
          </a:xfrm>
          <a:prstGeom prst="rect">
            <a:avLst/>
          </a:prstGeom>
          <a:noFill/>
          <a:ln/>
        </p:spPr>
        <p:txBody>
          <a:bodyPr wrap="square" lIns="0" tIns="0" rIns="0" bIns="0" rtlCol="0" anchor="ctr"/>
          <a:lstStyle/>
          <a:p>
            <a:pPr indent="0" marL="0">
              <a:buNone/>
            </a:pPr>
            <a:r>
              <a:rPr lang="en-US" sz="1200" b="1" dirty="0">
                <a:solidFill>
                  <a:srgbClr val="222222"/>
                </a:solidFill>
                <a:latin typeface="Calibri" pitchFamily="34" charset="0"/>
                <a:ea typeface="Calibri" pitchFamily="34" charset="-122"/>
                <a:cs typeface="Calibri" pitchFamily="34" charset="-120"/>
              </a:rPr>
              <a:t>GDPR · PECR · DPDP
</a:t>
            </a:r>
            <a:pPr indent="0" marL="0">
              <a:buNone/>
            </a:pPr>
            <a:r>
              <a:rPr lang="en-US" sz="950" dirty="0">
                <a:solidFill>
                  <a:srgbClr val="666666"/>
                </a:solidFill>
                <a:latin typeface="Calibri" pitchFamily="34" charset="0"/>
                <a:ea typeface="Calibri" pitchFamily="34" charset="-122"/>
                <a:cs typeface="Calibri" pitchFamily="34" charset="-120"/>
              </a:rPr>
              <a:t>chunked by Article / Reg / § — GDPR = 99 chunks</a:t>
            </a:r>
            <a:endParaRPr lang="en-US" sz="1200" dirty="0"/>
          </a:p>
        </p:txBody>
      </p:sp>
      <p:sp>
        <p:nvSpPr>
          <p:cNvPr id="7" name="Shape 5"/>
          <p:cNvSpPr/>
          <p:nvPr/>
        </p:nvSpPr>
        <p:spPr>
          <a:xfrm>
            <a:off x="594360" y="2743200"/>
            <a:ext cx="3383280" cy="658368"/>
          </a:xfrm>
          <a:prstGeom prst="rect">
            <a:avLst/>
          </a:prstGeom>
          <a:solidFill>
            <a:srgbClr val="F4F4F4"/>
          </a:solidFill>
          <a:ln w="12700">
            <a:solidFill>
              <a:srgbClr val="CCCCCC"/>
            </a:solidFill>
            <a:prstDash val="solid"/>
          </a:ln>
        </p:spPr>
      </p:sp>
      <p:sp>
        <p:nvSpPr>
          <p:cNvPr id="8" name="Text 6"/>
          <p:cNvSpPr/>
          <p:nvPr/>
        </p:nvSpPr>
        <p:spPr>
          <a:xfrm>
            <a:off x="667512" y="2743200"/>
            <a:ext cx="3236976" cy="658368"/>
          </a:xfrm>
          <a:prstGeom prst="rect">
            <a:avLst/>
          </a:prstGeom>
          <a:noFill/>
          <a:ln/>
        </p:spPr>
        <p:txBody>
          <a:bodyPr wrap="square" lIns="0" tIns="0" rIns="0" bIns="0" rtlCol="0" anchor="ctr"/>
          <a:lstStyle/>
          <a:p>
            <a:pPr indent="0" marL="0">
              <a:buNone/>
            </a:pPr>
            <a:r>
              <a:rPr lang="en-US" sz="1200" b="1" dirty="0">
                <a:solidFill>
                  <a:srgbClr val="222222"/>
                </a:solidFill>
                <a:latin typeface="Calibri" pitchFamily="34" charset="0"/>
                <a:ea typeface="Calibri" pitchFamily="34" charset="-122"/>
                <a:cs typeface="Calibri" pitchFamily="34" charset="-120"/>
              </a:rPr>
              <a:t>all-mpnet-base-v2 embeddings
</a:t>
            </a:r>
            <a:pPr indent="0" marL="0">
              <a:buNone/>
            </a:pPr>
            <a:r>
              <a:rPr lang="en-US" sz="950" dirty="0">
                <a:solidFill>
                  <a:srgbClr val="666666"/>
                </a:solidFill>
                <a:latin typeface="Calibri" pitchFamily="34" charset="0"/>
                <a:ea typeface="Calibri" pitchFamily="34" charset="-122"/>
                <a:cs typeface="Calibri" pitchFamily="34" charset="-120"/>
              </a:rPr>
              <a:t>changed from legal-BERT on evidence</a:t>
            </a:r>
            <a:endParaRPr lang="en-US" sz="1200" dirty="0"/>
          </a:p>
        </p:txBody>
      </p:sp>
      <p:sp>
        <p:nvSpPr>
          <p:cNvPr id="9" name="Shape 7"/>
          <p:cNvSpPr/>
          <p:nvPr/>
        </p:nvSpPr>
        <p:spPr>
          <a:xfrm>
            <a:off x="594360" y="3566160"/>
            <a:ext cx="3383280" cy="658368"/>
          </a:xfrm>
          <a:prstGeom prst="rect">
            <a:avLst/>
          </a:prstGeom>
          <a:solidFill>
            <a:srgbClr val="F4F4F4"/>
          </a:solidFill>
          <a:ln w="12700">
            <a:solidFill>
              <a:srgbClr val="CCCCCC"/>
            </a:solidFill>
            <a:prstDash val="solid"/>
          </a:ln>
        </p:spPr>
      </p:sp>
      <p:sp>
        <p:nvSpPr>
          <p:cNvPr id="10" name="Text 8"/>
          <p:cNvSpPr/>
          <p:nvPr/>
        </p:nvSpPr>
        <p:spPr>
          <a:xfrm>
            <a:off x="667512" y="3566160"/>
            <a:ext cx="3236976" cy="658368"/>
          </a:xfrm>
          <a:prstGeom prst="rect">
            <a:avLst/>
          </a:prstGeom>
          <a:noFill/>
          <a:ln/>
        </p:spPr>
        <p:txBody>
          <a:bodyPr wrap="square" lIns="0" tIns="0" rIns="0" bIns="0" rtlCol="0" anchor="ctr"/>
          <a:lstStyle/>
          <a:p>
            <a:pPr indent="0" marL="0">
              <a:buNone/>
            </a:pPr>
            <a:r>
              <a:rPr lang="en-US" sz="1200" b="1" dirty="0">
                <a:solidFill>
                  <a:srgbClr val="222222"/>
                </a:solidFill>
                <a:latin typeface="Calibri" pitchFamily="34" charset="0"/>
                <a:ea typeface="Calibri" pitchFamily="34" charset="-122"/>
                <a:cs typeface="Calibri" pitchFamily="34" charset="-120"/>
              </a:rPr>
              <a:t>ChromaDB compliance_docs
</a:t>
            </a:r>
            <a:pPr indent="0" marL="0">
              <a:buNone/>
            </a:pPr>
            <a:r>
              <a:rPr lang="en-US" sz="950" dirty="0">
                <a:solidFill>
                  <a:srgbClr val="666666"/>
                </a:solidFill>
                <a:latin typeface="Calibri" pitchFamily="34" charset="0"/>
                <a:ea typeface="Calibri" pitchFamily="34" charset="-122"/>
                <a:cs typeface="Calibri" pitchFamily="34" charset="-120"/>
              </a:rPr>
              <a:t>metadata: regulation, article, type</a:t>
            </a:r>
            <a:endParaRPr lang="en-US" sz="1200" dirty="0"/>
          </a:p>
        </p:txBody>
      </p:sp>
      <p:sp>
        <p:nvSpPr>
          <p:cNvPr id="11" name="Text 9"/>
          <p:cNvSpPr/>
          <p:nvPr/>
        </p:nvSpPr>
        <p:spPr>
          <a:xfrm>
            <a:off x="4434840" y="1508760"/>
            <a:ext cx="3566160" cy="320040"/>
          </a:xfrm>
          <a:prstGeom prst="rect">
            <a:avLst/>
          </a:prstGeom>
          <a:noFill/>
          <a:ln/>
        </p:spPr>
        <p:txBody>
          <a:bodyPr wrap="square" lIns="0" tIns="0" rIns="0" bIns="0" rtlCol="0" anchor="ctr"/>
          <a:lstStyle/>
          <a:p>
            <a:pPr indent="0" marL="0">
              <a:buNone/>
            </a:pPr>
            <a:r>
              <a:rPr lang="en-US" sz="1400" b="1" dirty="0">
                <a:solidFill>
                  <a:srgbClr val="A6093D"/>
                </a:solidFill>
                <a:latin typeface="Calibri" pitchFamily="34" charset="0"/>
                <a:ea typeface="Calibri" pitchFamily="34" charset="-122"/>
                <a:cs typeface="Calibri" pitchFamily="34" charset="-120"/>
              </a:rPr>
              <a:t>2 · Runtime collection (per site)</a:t>
            </a:r>
            <a:endParaRPr lang="en-US" sz="1400" dirty="0"/>
          </a:p>
        </p:txBody>
      </p:sp>
      <p:sp>
        <p:nvSpPr>
          <p:cNvPr id="12" name="Shape 10"/>
          <p:cNvSpPr/>
          <p:nvPr/>
        </p:nvSpPr>
        <p:spPr>
          <a:xfrm>
            <a:off x="4434840" y="1920240"/>
            <a:ext cx="3383280" cy="658368"/>
          </a:xfrm>
          <a:prstGeom prst="rect">
            <a:avLst/>
          </a:prstGeom>
          <a:solidFill>
            <a:srgbClr val="F4F4F4"/>
          </a:solidFill>
          <a:ln w="12700">
            <a:solidFill>
              <a:srgbClr val="CCCCCC"/>
            </a:solidFill>
            <a:prstDash val="solid"/>
          </a:ln>
        </p:spPr>
      </p:sp>
      <p:sp>
        <p:nvSpPr>
          <p:cNvPr id="13" name="Text 11"/>
          <p:cNvSpPr/>
          <p:nvPr/>
        </p:nvSpPr>
        <p:spPr>
          <a:xfrm>
            <a:off x="4507992" y="1920240"/>
            <a:ext cx="3236976" cy="658368"/>
          </a:xfrm>
          <a:prstGeom prst="rect">
            <a:avLst/>
          </a:prstGeom>
          <a:noFill/>
          <a:ln/>
        </p:spPr>
        <p:txBody>
          <a:bodyPr wrap="square" lIns="0" tIns="0" rIns="0" bIns="0" rtlCol="0" anchor="ctr"/>
          <a:lstStyle/>
          <a:p>
            <a:pPr indent="0" marL="0">
              <a:buNone/>
            </a:pPr>
            <a:r>
              <a:rPr lang="en-US" sz="1200" b="1" dirty="0">
                <a:solidFill>
                  <a:srgbClr val="222222"/>
                </a:solidFill>
                <a:latin typeface="Calibri" pitchFamily="34" charset="0"/>
                <a:ea typeface="Calibri" pitchFamily="34" charset="-122"/>
                <a:cs typeface="Calibri" pitchFamily="34" charset="-120"/>
              </a:rPr>
              <a:t>Playwright collector
</a:t>
            </a:r>
            <a:pPr indent="0" marL="0">
              <a:buNone/>
            </a:pPr>
            <a:r>
              <a:rPr lang="en-US" sz="950" dirty="0">
                <a:solidFill>
                  <a:srgbClr val="666666"/>
                </a:solidFill>
                <a:latin typeface="Calibri" pitchFamily="34" charset="0"/>
                <a:ea typeface="Calibri" pitchFamily="34" charset="-122"/>
                <a:cs typeface="Calibri" pitchFamily="34" charset="-120"/>
              </a:rPr>
              <a:t>HAR + fingerprint traps + consent UI</a:t>
            </a:r>
            <a:endParaRPr lang="en-US" sz="1200" dirty="0"/>
          </a:p>
        </p:txBody>
      </p:sp>
      <p:sp>
        <p:nvSpPr>
          <p:cNvPr id="14" name="Shape 12"/>
          <p:cNvSpPr/>
          <p:nvPr/>
        </p:nvSpPr>
        <p:spPr>
          <a:xfrm>
            <a:off x="4434840" y="2743200"/>
            <a:ext cx="3383280" cy="658368"/>
          </a:xfrm>
          <a:prstGeom prst="rect">
            <a:avLst/>
          </a:prstGeom>
          <a:solidFill>
            <a:srgbClr val="F4F4F4"/>
          </a:solidFill>
          <a:ln w="12700">
            <a:solidFill>
              <a:srgbClr val="CCCCCC"/>
            </a:solidFill>
            <a:prstDash val="solid"/>
          </a:ln>
        </p:spPr>
      </p:sp>
      <p:sp>
        <p:nvSpPr>
          <p:cNvPr id="15" name="Text 13"/>
          <p:cNvSpPr/>
          <p:nvPr/>
        </p:nvSpPr>
        <p:spPr>
          <a:xfrm>
            <a:off x="4507992" y="2743200"/>
            <a:ext cx="3236976" cy="658368"/>
          </a:xfrm>
          <a:prstGeom prst="rect">
            <a:avLst/>
          </a:prstGeom>
          <a:noFill/>
          <a:ln/>
        </p:spPr>
        <p:txBody>
          <a:bodyPr wrap="square" lIns="0" tIns="0" rIns="0" bIns="0" rtlCol="0" anchor="ctr"/>
          <a:lstStyle/>
          <a:p>
            <a:pPr indent="0" marL="0">
              <a:buNone/>
            </a:pPr>
            <a:r>
              <a:rPr lang="en-US" sz="1200" b="1" dirty="0">
                <a:solidFill>
                  <a:srgbClr val="222222"/>
                </a:solidFill>
                <a:latin typeface="Calibri" pitchFamily="34" charset="0"/>
                <a:ea typeface="Calibri" pitchFamily="34" charset="-122"/>
                <a:cs typeface="Calibri" pitchFamily="34" charset="-120"/>
              </a:rPr>
              <a:t>har_extractor
</a:t>
            </a:r>
            <a:pPr indent="0" marL="0">
              <a:buNone/>
            </a:pPr>
            <a:r>
              <a:rPr lang="en-US" sz="950" dirty="0">
                <a:solidFill>
                  <a:srgbClr val="666666"/>
                </a:solidFill>
                <a:latin typeface="Calibri" pitchFamily="34" charset="0"/>
                <a:ea typeface="Calibri" pitchFamily="34" charset="-122"/>
                <a:cs typeface="Calibri" pitchFamily="34" charset="-120"/>
              </a:rPr>
              <a:t>profiling-cookie rule; JS-set recovery</a:t>
            </a:r>
            <a:endParaRPr lang="en-US" sz="1200" dirty="0"/>
          </a:p>
        </p:txBody>
      </p:sp>
      <p:sp>
        <p:nvSpPr>
          <p:cNvPr id="16" name="Shape 14"/>
          <p:cNvSpPr/>
          <p:nvPr/>
        </p:nvSpPr>
        <p:spPr>
          <a:xfrm>
            <a:off x="4434840" y="3566160"/>
            <a:ext cx="3383280" cy="658368"/>
          </a:xfrm>
          <a:prstGeom prst="rect">
            <a:avLst/>
          </a:prstGeom>
          <a:solidFill>
            <a:srgbClr val="F4F4F4"/>
          </a:solidFill>
          <a:ln w="12700">
            <a:solidFill>
              <a:srgbClr val="CCCCCC"/>
            </a:solidFill>
            <a:prstDash val="solid"/>
          </a:ln>
        </p:spPr>
      </p:sp>
      <p:sp>
        <p:nvSpPr>
          <p:cNvPr id="17" name="Text 15"/>
          <p:cNvSpPr/>
          <p:nvPr/>
        </p:nvSpPr>
        <p:spPr>
          <a:xfrm>
            <a:off x="4507992" y="3566160"/>
            <a:ext cx="3236976" cy="658368"/>
          </a:xfrm>
          <a:prstGeom prst="rect">
            <a:avLst/>
          </a:prstGeom>
          <a:noFill/>
          <a:ln/>
        </p:spPr>
        <p:txBody>
          <a:bodyPr wrap="square" lIns="0" tIns="0" rIns="0" bIns="0" rtlCol="0" anchor="ctr"/>
          <a:lstStyle/>
          <a:p>
            <a:pPr indent="0" marL="0">
              <a:buNone/>
            </a:pPr>
            <a:r>
              <a:rPr lang="en-US" sz="1200" b="1" dirty="0">
                <a:solidFill>
                  <a:srgbClr val="222222"/>
                </a:solidFill>
                <a:latin typeface="Calibri" pitchFamily="34" charset="0"/>
                <a:ea typeface="Calibri" pitchFamily="34" charset="-122"/>
                <a:cs typeface="Calibri" pitchFamily="34" charset="-120"/>
              </a:rPr>
              <a:t>policy_scraper
</a:t>
            </a:r>
            <a:pPr indent="0" marL="0">
              <a:buNone/>
            </a:pPr>
            <a:r>
              <a:rPr lang="en-US" sz="950" dirty="0">
                <a:solidFill>
                  <a:srgbClr val="666666"/>
                </a:solidFill>
                <a:latin typeface="Calibri" pitchFamily="34" charset="0"/>
                <a:ea typeface="Calibri" pitchFamily="34" charset="-122"/>
                <a:cs typeface="Calibri" pitchFamily="34" charset="-120"/>
              </a:rPr>
              <a:t>privacy + cookie policy .md</a:t>
            </a:r>
            <a:endParaRPr lang="en-US" sz="1200" dirty="0"/>
          </a:p>
        </p:txBody>
      </p:sp>
      <p:sp>
        <p:nvSpPr>
          <p:cNvPr id="18" name="Text 16"/>
          <p:cNvSpPr/>
          <p:nvPr/>
        </p:nvSpPr>
        <p:spPr>
          <a:xfrm>
            <a:off x="8275320" y="1508760"/>
            <a:ext cx="3291840" cy="320040"/>
          </a:xfrm>
          <a:prstGeom prst="rect">
            <a:avLst/>
          </a:prstGeom>
          <a:noFill/>
          <a:ln/>
        </p:spPr>
        <p:txBody>
          <a:bodyPr wrap="square" lIns="0" tIns="0" rIns="0" bIns="0" rtlCol="0" anchor="ctr"/>
          <a:lstStyle/>
          <a:p>
            <a:pPr indent="0" marL="0">
              <a:buNone/>
            </a:pPr>
            <a:r>
              <a:rPr lang="en-US" sz="1400" b="1" dirty="0">
                <a:solidFill>
                  <a:srgbClr val="A6093D"/>
                </a:solidFill>
                <a:latin typeface="Calibri" pitchFamily="34" charset="0"/>
                <a:ea typeface="Calibri" pitchFamily="34" charset="-122"/>
                <a:cs typeface="Calibri" pitchFamily="34" charset="-120"/>
              </a:rPr>
              <a:t>3 · RAG evaluation</a:t>
            </a:r>
            <a:endParaRPr lang="en-US" sz="1400" dirty="0"/>
          </a:p>
        </p:txBody>
      </p:sp>
      <p:sp>
        <p:nvSpPr>
          <p:cNvPr id="19" name="Shape 17"/>
          <p:cNvSpPr/>
          <p:nvPr/>
        </p:nvSpPr>
        <p:spPr>
          <a:xfrm>
            <a:off x="8275320" y="1920240"/>
            <a:ext cx="3291840" cy="658368"/>
          </a:xfrm>
          <a:prstGeom prst="rect">
            <a:avLst/>
          </a:prstGeom>
          <a:solidFill>
            <a:srgbClr val="F4F4F4"/>
          </a:solidFill>
          <a:ln w="12700">
            <a:solidFill>
              <a:srgbClr val="CCCCCC"/>
            </a:solidFill>
            <a:prstDash val="solid"/>
          </a:ln>
        </p:spPr>
      </p:sp>
      <p:sp>
        <p:nvSpPr>
          <p:cNvPr id="20" name="Text 18"/>
          <p:cNvSpPr/>
          <p:nvPr/>
        </p:nvSpPr>
        <p:spPr>
          <a:xfrm>
            <a:off x="8348472" y="1920240"/>
            <a:ext cx="3145536" cy="658368"/>
          </a:xfrm>
          <a:prstGeom prst="rect">
            <a:avLst/>
          </a:prstGeom>
          <a:noFill/>
          <a:ln/>
        </p:spPr>
        <p:txBody>
          <a:bodyPr wrap="square" lIns="0" tIns="0" rIns="0" bIns="0" rtlCol="0" anchor="ctr"/>
          <a:lstStyle/>
          <a:p>
            <a:pPr indent="0" marL="0">
              <a:buNone/>
            </a:pPr>
            <a:r>
              <a:rPr lang="en-US" sz="1200" b="1" dirty="0">
                <a:solidFill>
                  <a:srgbClr val="222222"/>
                </a:solidFill>
                <a:latin typeface="Calibri" pitchFamily="34" charset="0"/>
                <a:ea typeface="Calibri" pitchFamily="34" charset="-122"/>
                <a:cs typeface="Calibri" pitchFamily="34" charset="-120"/>
              </a:rPr>
              <a:t>Anchored retrieval
</a:t>
            </a:r>
            <a:pPr indent="0" marL="0">
              <a:buNone/>
            </a:pPr>
            <a:r>
              <a:rPr lang="en-US" sz="950" dirty="0">
                <a:solidFill>
                  <a:srgbClr val="666666"/>
                </a:solidFill>
                <a:latin typeface="Calibri" pitchFamily="34" charset="0"/>
                <a:ea typeface="Calibri" pitchFamily="34" charset="-122"/>
                <a:cs typeface="Calibri" pitchFamily="34" charset="-120"/>
              </a:rPr>
              <a:t>known articles fetched deterministically</a:t>
            </a:r>
            <a:endParaRPr lang="en-US" sz="1200" dirty="0"/>
          </a:p>
        </p:txBody>
      </p:sp>
      <p:sp>
        <p:nvSpPr>
          <p:cNvPr id="21" name="Shape 19"/>
          <p:cNvSpPr/>
          <p:nvPr/>
        </p:nvSpPr>
        <p:spPr>
          <a:xfrm>
            <a:off x="8275320" y="2743200"/>
            <a:ext cx="3291840" cy="658368"/>
          </a:xfrm>
          <a:prstGeom prst="rect">
            <a:avLst/>
          </a:prstGeom>
          <a:solidFill>
            <a:srgbClr val="F4F4F4"/>
          </a:solidFill>
          <a:ln w="12700">
            <a:solidFill>
              <a:srgbClr val="CCCCCC"/>
            </a:solidFill>
            <a:prstDash val="solid"/>
          </a:ln>
        </p:spPr>
      </p:sp>
      <p:sp>
        <p:nvSpPr>
          <p:cNvPr id="22" name="Text 20"/>
          <p:cNvSpPr/>
          <p:nvPr/>
        </p:nvSpPr>
        <p:spPr>
          <a:xfrm>
            <a:off x="8348472" y="2743200"/>
            <a:ext cx="3145536" cy="658368"/>
          </a:xfrm>
          <a:prstGeom prst="rect">
            <a:avLst/>
          </a:prstGeom>
          <a:noFill/>
          <a:ln/>
        </p:spPr>
        <p:txBody>
          <a:bodyPr wrap="square" lIns="0" tIns="0" rIns="0" bIns="0" rtlCol="0" anchor="ctr"/>
          <a:lstStyle/>
          <a:p>
            <a:pPr indent="0" marL="0">
              <a:buNone/>
            </a:pPr>
            <a:r>
              <a:rPr lang="en-US" sz="1200" b="1" dirty="0">
                <a:solidFill>
                  <a:srgbClr val="222222"/>
                </a:solidFill>
                <a:latin typeface="Calibri" pitchFamily="34" charset="0"/>
                <a:ea typeface="Calibri" pitchFamily="34" charset="-122"/>
                <a:cs typeface="Calibri" pitchFamily="34" charset="-120"/>
              </a:rPr>
              <a:t>IRAC scorer, temp 0
</a:t>
            </a:r>
            <a:pPr indent="0" marL="0">
              <a:buNone/>
            </a:pPr>
            <a:r>
              <a:rPr lang="en-US" sz="950" dirty="0">
                <a:solidFill>
                  <a:srgbClr val="666666"/>
                </a:solidFill>
                <a:latin typeface="Calibri" pitchFamily="34" charset="0"/>
                <a:ea typeface="Calibri" pitchFamily="34" charset="-122"/>
                <a:cs typeface="Calibri" pitchFamily="34" charset="-120"/>
              </a:rPr>
              <a:t>15 dimensions, strict JSON verdicts</a:t>
            </a:r>
            <a:endParaRPr lang="en-US" sz="1200" dirty="0"/>
          </a:p>
        </p:txBody>
      </p:sp>
      <p:sp>
        <p:nvSpPr>
          <p:cNvPr id="23" name="Shape 21"/>
          <p:cNvSpPr/>
          <p:nvPr/>
        </p:nvSpPr>
        <p:spPr>
          <a:xfrm>
            <a:off x="8275320" y="3566160"/>
            <a:ext cx="3291840" cy="658368"/>
          </a:xfrm>
          <a:prstGeom prst="rect">
            <a:avLst/>
          </a:prstGeom>
          <a:solidFill>
            <a:srgbClr val="F4F4F4"/>
          </a:solidFill>
          <a:ln w="12700">
            <a:solidFill>
              <a:srgbClr val="CCCCCC"/>
            </a:solidFill>
            <a:prstDash val="solid"/>
          </a:ln>
        </p:spPr>
      </p:sp>
      <p:sp>
        <p:nvSpPr>
          <p:cNvPr id="24" name="Text 22"/>
          <p:cNvSpPr/>
          <p:nvPr/>
        </p:nvSpPr>
        <p:spPr>
          <a:xfrm>
            <a:off x="8348472" y="3566160"/>
            <a:ext cx="3145536" cy="658368"/>
          </a:xfrm>
          <a:prstGeom prst="rect">
            <a:avLst/>
          </a:prstGeom>
          <a:noFill/>
          <a:ln/>
        </p:spPr>
        <p:txBody>
          <a:bodyPr wrap="square" lIns="0" tIns="0" rIns="0" bIns="0" rtlCol="0" anchor="ctr"/>
          <a:lstStyle/>
          <a:p>
            <a:pPr indent="0" marL="0">
              <a:buNone/>
            </a:pPr>
            <a:r>
              <a:rPr lang="en-US" sz="1200" b="1" dirty="0">
                <a:solidFill>
                  <a:srgbClr val="222222"/>
                </a:solidFill>
                <a:latin typeface="Calibri" pitchFamily="34" charset="0"/>
                <a:ea typeface="Calibri" pitchFamily="34" charset="-122"/>
                <a:cs typeface="Calibri" pitchFamily="34" charset="-120"/>
              </a:rPr>
              <a:t>HTML report + frontend
</a:t>
            </a:r>
            <a:pPr indent="0" marL="0">
              <a:buNone/>
            </a:pPr>
            <a:r>
              <a:rPr lang="en-US" sz="950" dirty="0">
                <a:solidFill>
                  <a:srgbClr val="666666"/>
                </a:solidFill>
                <a:latin typeface="Calibri" pitchFamily="34" charset="0"/>
                <a:ea typeface="Calibri" pitchFamily="34" charset="-122"/>
                <a:cs typeface="Calibri" pitchFamily="34" charset="-120"/>
              </a:rPr>
              <a:t>severity-weighted, worst-first</a:t>
            </a:r>
            <a:endParaRPr lang="en-US" sz="1200" dirty="0"/>
          </a:p>
        </p:txBody>
      </p:sp>
      <p:sp>
        <p:nvSpPr>
          <p:cNvPr id="25" name="Shape 23"/>
          <p:cNvSpPr/>
          <p:nvPr/>
        </p:nvSpPr>
        <p:spPr>
          <a:xfrm>
            <a:off x="4023360" y="3063240"/>
            <a:ext cx="365760" cy="0"/>
          </a:xfrm>
          <a:prstGeom prst="line">
            <a:avLst/>
          </a:prstGeom>
          <a:noFill/>
          <a:ln w="19050">
            <a:solidFill>
              <a:srgbClr val="222222"/>
            </a:solidFill>
            <a:prstDash val="solid"/>
            <a:tailEnd type="arrow"/>
          </a:ln>
        </p:spPr>
      </p:sp>
      <p:sp>
        <p:nvSpPr>
          <p:cNvPr id="26" name="Shape 24"/>
          <p:cNvSpPr/>
          <p:nvPr/>
        </p:nvSpPr>
        <p:spPr>
          <a:xfrm>
            <a:off x="7863840" y="3063240"/>
            <a:ext cx="365760" cy="0"/>
          </a:xfrm>
          <a:prstGeom prst="line">
            <a:avLst/>
          </a:prstGeom>
          <a:noFill/>
          <a:ln w="19050">
            <a:solidFill>
              <a:srgbClr val="222222"/>
            </a:solidFill>
            <a:prstDash val="solid"/>
            <a:tailEnd type="arrow"/>
          </a:ln>
        </p:spPr>
      </p:sp>
      <p:sp>
        <p:nvSpPr>
          <p:cNvPr id="27" name="Text 25"/>
          <p:cNvSpPr/>
          <p:nvPr/>
        </p:nvSpPr>
        <p:spPr>
          <a:xfrm>
            <a:off x="594360" y="4709160"/>
            <a:ext cx="11000232" cy="68580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The frontend runs the same command-line stages and prints each command as it executes, so nothing in the demo differs from the pipeline described here.</a:t>
            </a:r>
            <a:endParaRPr lang="en-US" sz="1350" dirty="0"/>
          </a:p>
        </p:txBody>
      </p:sp>
      <p:sp>
        <p:nvSpPr>
          <p:cNvPr id="28" name="Text 26"/>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347472"/>
            <a:ext cx="11000232" cy="566928"/>
          </a:xfrm>
          <a:prstGeom prst="rect">
            <a:avLst/>
          </a:prstGeom>
          <a:noFill/>
          <a:ln/>
        </p:spPr>
        <p:txBody>
          <a:bodyPr wrap="square" lIns="0" tIns="0" rIns="0" bIns="0" rtlCol="0" anchor="ctr"/>
          <a:lstStyle/>
          <a:p>
            <a:pPr indent="0" marL="0">
              <a:buNone/>
            </a:pPr>
            <a:r>
              <a:rPr lang="en-US" sz="2800" b="1" dirty="0">
                <a:solidFill>
                  <a:srgbClr val="222222"/>
                </a:solidFill>
                <a:latin typeface="Calibri" pitchFamily="34" charset="0"/>
                <a:ea typeface="Calibri" pitchFamily="34" charset="-122"/>
                <a:cs typeface="Calibri" pitchFamily="34" charset="-120"/>
              </a:rPr>
              <a:t>How a verdict is produced</a:t>
            </a:r>
            <a:endParaRPr lang="en-US" sz="2800" dirty="0"/>
          </a:p>
        </p:txBody>
      </p:sp>
      <p:sp>
        <p:nvSpPr>
          <p:cNvPr id="3" name="Text 1"/>
          <p:cNvSpPr/>
          <p:nvPr/>
        </p:nvSpPr>
        <p:spPr>
          <a:xfrm>
            <a:off x="594360" y="932688"/>
            <a:ext cx="11000232" cy="329184"/>
          </a:xfrm>
          <a:prstGeom prst="rect">
            <a:avLst/>
          </a:prstGeom>
          <a:noFill/>
          <a:ln/>
        </p:spPr>
        <p:txBody>
          <a:bodyPr wrap="square" lIns="0" tIns="0" rIns="0" bIns="0" rtlCol="0" anchor="ctr"/>
          <a:lstStyle/>
          <a:p>
            <a:pPr indent="0" marL="0">
              <a:buNone/>
            </a:pPr>
            <a:r>
              <a:rPr lang="en-US" sz="1300" dirty="0">
                <a:solidFill>
                  <a:srgbClr val="666666"/>
                </a:solidFill>
                <a:latin typeface="Calibri" pitchFamily="34" charset="0"/>
                <a:ea typeface="Calibri" pitchFamily="34" charset="-122"/>
                <a:cs typeface="Calibri" pitchFamily="34" charset="-120"/>
              </a:rPr>
              <a:t>Algorithm 1 in the paper</a:t>
            </a:r>
            <a:endParaRPr lang="en-US" sz="1300" dirty="0"/>
          </a:p>
        </p:txBody>
      </p:sp>
      <p:sp>
        <p:nvSpPr>
          <p:cNvPr id="4" name="Text 2"/>
          <p:cNvSpPr/>
          <p:nvPr/>
        </p:nvSpPr>
        <p:spPr>
          <a:xfrm>
            <a:off x="594360" y="1508760"/>
            <a:ext cx="1508760" cy="1371600"/>
          </a:xfrm>
          <a:prstGeom prst="rect">
            <a:avLst/>
          </a:prstGeom>
          <a:noFill/>
          <a:ln/>
        </p:spPr>
        <p:txBody>
          <a:bodyPr wrap="square" lIns="0" tIns="0" rIns="0" bIns="0" rtlCol="0" anchor="t"/>
          <a:lstStyle/>
          <a:p>
            <a:pPr indent="0" marL="0">
              <a:buNone/>
            </a:pPr>
            <a:r>
              <a:rPr lang="en-US" sz="1400" b="1" dirty="0">
                <a:solidFill>
                  <a:srgbClr val="A6093D"/>
                </a:solidFill>
                <a:latin typeface="Calibri" pitchFamily="34" charset="0"/>
                <a:ea typeface="Calibri" pitchFamily="34" charset="-122"/>
                <a:cs typeface="Calibri" pitchFamily="34" charset="-120"/>
              </a:rPr>
              <a:t>1 · Detect</a:t>
            </a:r>
            <a:endParaRPr lang="en-US" sz="1400" dirty="0"/>
          </a:p>
        </p:txBody>
      </p:sp>
      <p:sp>
        <p:nvSpPr>
          <p:cNvPr id="5" name="Text 3"/>
          <p:cNvSpPr/>
          <p:nvPr/>
        </p:nvSpPr>
        <p:spPr>
          <a:xfrm>
            <a:off x="2148840" y="1508760"/>
            <a:ext cx="3931920" cy="1417320"/>
          </a:xfrm>
          <a:prstGeom prst="rect">
            <a:avLst/>
          </a:prstGeom>
          <a:noFill/>
          <a:ln/>
        </p:spPr>
        <p:txBody>
          <a:bodyPr wrap="square" lIns="0" tIns="0" rIns="0" bIns="0" rtlCol="0" anchor="t"/>
          <a:lstStyle/>
          <a:p>
            <a:pPr indent="0" marL="0">
              <a:buNone/>
            </a:pPr>
            <a:r>
              <a:rPr lang="en-US" sz="1150" dirty="0">
                <a:solidFill>
                  <a:srgbClr val="222222"/>
                </a:solidFill>
                <a:latin typeface="Calibri" pitchFamily="34" charset="0"/>
                <a:ea typeface="Calibri" pitchFamily="34" charset="-122"/>
                <a:cs typeface="Calibri" pitchFamily="34" charset="-120"/>
              </a:rPr>
              <a:t>Profiling cookie = third-party ∧ in BOTH tracker lists (Disconnect ∩ Ghostery advertising/analytics) ∧ lifetime ≥ 30 days. JavaScript-set cookies recovered from browser context. Fingerprinting captured via trapped APIs.</a:t>
            </a:r>
            <a:endParaRPr lang="en-US" sz="1150" dirty="0"/>
          </a:p>
        </p:txBody>
      </p:sp>
      <p:sp>
        <p:nvSpPr>
          <p:cNvPr id="6" name="Text 4"/>
          <p:cNvSpPr/>
          <p:nvPr/>
        </p:nvSpPr>
        <p:spPr>
          <a:xfrm>
            <a:off x="6217920" y="1508760"/>
            <a:ext cx="1508760" cy="1371600"/>
          </a:xfrm>
          <a:prstGeom prst="rect">
            <a:avLst/>
          </a:prstGeom>
          <a:noFill/>
          <a:ln/>
        </p:spPr>
        <p:txBody>
          <a:bodyPr wrap="square" lIns="0" tIns="0" rIns="0" bIns="0" rtlCol="0" anchor="t"/>
          <a:lstStyle/>
          <a:p>
            <a:pPr indent="0" marL="0">
              <a:buNone/>
            </a:pPr>
            <a:r>
              <a:rPr lang="en-US" sz="1400" b="1" dirty="0">
                <a:solidFill>
                  <a:srgbClr val="A6093D"/>
                </a:solidFill>
                <a:latin typeface="Calibri" pitchFamily="34" charset="0"/>
                <a:ea typeface="Calibri" pitchFamily="34" charset="-122"/>
                <a:cs typeface="Calibri" pitchFamily="34" charset="-120"/>
              </a:rPr>
              <a:t>2 · Ground</a:t>
            </a:r>
            <a:endParaRPr lang="en-US" sz="1400" dirty="0"/>
          </a:p>
        </p:txBody>
      </p:sp>
      <p:sp>
        <p:nvSpPr>
          <p:cNvPr id="7" name="Text 5"/>
          <p:cNvSpPr/>
          <p:nvPr/>
        </p:nvSpPr>
        <p:spPr>
          <a:xfrm>
            <a:off x="7772400" y="1508760"/>
            <a:ext cx="3931920" cy="1417320"/>
          </a:xfrm>
          <a:prstGeom prst="rect">
            <a:avLst/>
          </a:prstGeom>
          <a:noFill/>
          <a:ln/>
        </p:spPr>
        <p:txBody>
          <a:bodyPr wrap="square" lIns="0" tIns="0" rIns="0" bIns="0" rtlCol="0" anchor="t"/>
          <a:lstStyle/>
          <a:p>
            <a:pPr indent="0" marL="0">
              <a:buNone/>
            </a:pPr>
            <a:r>
              <a:rPr lang="en-US" sz="1150" dirty="0">
                <a:solidFill>
                  <a:srgbClr val="222222"/>
                </a:solidFill>
                <a:latin typeface="Calibri" pitchFamily="34" charset="0"/>
                <a:ea typeface="Calibri" pitchFamily="34" charset="-122"/>
                <a:cs typeface="Calibri" pitchFamily="34" charset="-120"/>
              </a:rPr>
              <a:t>Per dimension: its known articles (e.g. GDPR 13, PECR 6) fetched deterministically, plus metadata-filtered semantic search. The model may quote ONLY this retrieved text.</a:t>
            </a:r>
            <a:endParaRPr lang="en-US" sz="1150" dirty="0"/>
          </a:p>
        </p:txBody>
      </p:sp>
      <p:sp>
        <p:nvSpPr>
          <p:cNvPr id="8" name="Text 6"/>
          <p:cNvSpPr/>
          <p:nvPr/>
        </p:nvSpPr>
        <p:spPr>
          <a:xfrm>
            <a:off x="594360" y="3081528"/>
            <a:ext cx="1508760" cy="1371600"/>
          </a:xfrm>
          <a:prstGeom prst="rect">
            <a:avLst/>
          </a:prstGeom>
          <a:noFill/>
          <a:ln/>
        </p:spPr>
        <p:txBody>
          <a:bodyPr wrap="square" lIns="0" tIns="0" rIns="0" bIns="0" rtlCol="0" anchor="t"/>
          <a:lstStyle/>
          <a:p>
            <a:pPr indent="0" marL="0">
              <a:buNone/>
            </a:pPr>
            <a:r>
              <a:rPr lang="en-US" sz="1400" b="1" dirty="0">
                <a:solidFill>
                  <a:srgbClr val="A6093D"/>
                </a:solidFill>
                <a:latin typeface="Calibri" pitchFamily="34" charset="0"/>
                <a:ea typeface="Calibri" pitchFamily="34" charset="-122"/>
                <a:cs typeface="Calibri" pitchFamily="34" charset="-120"/>
              </a:rPr>
              <a:t>3 · Judge</a:t>
            </a:r>
            <a:endParaRPr lang="en-US" sz="1400" dirty="0"/>
          </a:p>
        </p:txBody>
      </p:sp>
      <p:sp>
        <p:nvSpPr>
          <p:cNvPr id="9" name="Text 7"/>
          <p:cNvSpPr/>
          <p:nvPr/>
        </p:nvSpPr>
        <p:spPr>
          <a:xfrm>
            <a:off x="2148840" y="3081528"/>
            <a:ext cx="3931920" cy="1417320"/>
          </a:xfrm>
          <a:prstGeom prst="rect">
            <a:avLst/>
          </a:prstGeom>
          <a:noFill/>
          <a:ln/>
        </p:spPr>
        <p:txBody>
          <a:bodyPr wrap="square" lIns="0" tIns="0" rIns="0" bIns="0" rtlCol="0" anchor="t"/>
          <a:lstStyle/>
          <a:p>
            <a:pPr indent="0" marL="0">
              <a:buNone/>
            </a:pPr>
            <a:r>
              <a:rPr lang="en-US" sz="1150" dirty="0">
                <a:solidFill>
                  <a:srgbClr val="222222"/>
                </a:solidFill>
                <a:latin typeface="Calibri" pitchFamily="34" charset="0"/>
                <a:ea typeface="Calibri" pitchFamily="34" charset="-122"/>
                <a:cs typeface="Calibri" pitchFamily="34" charset="-120"/>
              </a:rPr>
              <a:t>IRAC prompt. Issue = the dimension's question. Rule = retrieved articles. Application = full policy text + selected evidence. Conclusion = strict-JSON verdict at temperature 0.</a:t>
            </a:r>
            <a:endParaRPr lang="en-US" sz="1150" dirty="0"/>
          </a:p>
        </p:txBody>
      </p:sp>
      <p:sp>
        <p:nvSpPr>
          <p:cNvPr id="10" name="Text 8"/>
          <p:cNvSpPr/>
          <p:nvPr/>
        </p:nvSpPr>
        <p:spPr>
          <a:xfrm>
            <a:off x="6217920" y="3081528"/>
            <a:ext cx="1508760" cy="1371600"/>
          </a:xfrm>
          <a:prstGeom prst="rect">
            <a:avLst/>
          </a:prstGeom>
          <a:noFill/>
          <a:ln/>
        </p:spPr>
        <p:txBody>
          <a:bodyPr wrap="square" lIns="0" tIns="0" rIns="0" bIns="0" rtlCol="0" anchor="t"/>
          <a:lstStyle/>
          <a:p>
            <a:pPr indent="0" marL="0">
              <a:buNone/>
            </a:pPr>
            <a:r>
              <a:rPr lang="en-US" sz="1400" b="1" dirty="0">
                <a:solidFill>
                  <a:srgbClr val="A6093D"/>
                </a:solidFill>
                <a:latin typeface="Calibri" pitchFamily="34" charset="0"/>
                <a:ea typeface="Calibri" pitchFamily="34" charset="-122"/>
                <a:cs typeface="Calibri" pitchFamily="34" charset="-120"/>
              </a:rPr>
              <a:t>4 · Verdict</a:t>
            </a:r>
            <a:endParaRPr lang="en-US" sz="1400" dirty="0"/>
          </a:p>
        </p:txBody>
      </p:sp>
      <p:sp>
        <p:nvSpPr>
          <p:cNvPr id="11" name="Text 9"/>
          <p:cNvSpPr/>
          <p:nvPr/>
        </p:nvSpPr>
        <p:spPr>
          <a:xfrm>
            <a:off x="7772400" y="3081528"/>
            <a:ext cx="3931920" cy="1417320"/>
          </a:xfrm>
          <a:prstGeom prst="rect">
            <a:avLst/>
          </a:prstGeom>
          <a:noFill/>
          <a:ln/>
        </p:spPr>
        <p:txBody>
          <a:bodyPr wrap="square" lIns="0" tIns="0" rIns="0" bIns="0" rtlCol="0" anchor="t"/>
          <a:lstStyle/>
          <a:p>
            <a:pPr indent="0" marL="0">
              <a:buNone/>
            </a:pPr>
            <a:r>
              <a:rPr lang="en-US" sz="1150" dirty="0">
                <a:solidFill>
                  <a:srgbClr val="222222"/>
                </a:solidFill>
                <a:latin typeface="Calibri" pitchFamily="34" charset="0"/>
                <a:ea typeface="Calibri" pitchFamily="34" charset="-122"/>
                <a:cs typeface="Calibri" pitchFamily="34" charset="-120"/>
              </a:rPr>
              <a:t>score 0–100 · PASS / FAIL / PARTIAL / NOT_ADDRESSED + confidence · breached article and quote · policy claim and section · discrepancy type · recommendation.</a:t>
            </a:r>
            <a:endParaRPr lang="en-US" sz="1150" dirty="0"/>
          </a:p>
        </p:txBody>
      </p:sp>
      <p:sp>
        <p:nvSpPr>
          <p:cNvPr id="12" name="Text 10"/>
          <p:cNvSpPr/>
          <p:nvPr/>
        </p:nvSpPr>
        <p:spPr>
          <a:xfrm>
            <a:off x="594360" y="4654296"/>
            <a:ext cx="1508760" cy="1371600"/>
          </a:xfrm>
          <a:prstGeom prst="rect">
            <a:avLst/>
          </a:prstGeom>
          <a:noFill/>
          <a:ln/>
        </p:spPr>
        <p:txBody>
          <a:bodyPr wrap="square" lIns="0" tIns="0" rIns="0" bIns="0" rtlCol="0" anchor="t"/>
          <a:lstStyle/>
          <a:p>
            <a:pPr indent="0" marL="0">
              <a:buNone/>
            </a:pPr>
            <a:r>
              <a:rPr lang="en-US" sz="1400" b="1" dirty="0">
                <a:solidFill>
                  <a:srgbClr val="A6093D"/>
                </a:solidFill>
                <a:latin typeface="Calibri" pitchFamily="34" charset="0"/>
                <a:ea typeface="Calibri" pitchFamily="34" charset="-122"/>
                <a:cs typeface="Calibri" pitchFamily="34" charset="-120"/>
              </a:rPr>
              <a:t>5 · Guard</a:t>
            </a:r>
            <a:endParaRPr lang="en-US" sz="1400" dirty="0"/>
          </a:p>
        </p:txBody>
      </p:sp>
      <p:sp>
        <p:nvSpPr>
          <p:cNvPr id="13" name="Text 11"/>
          <p:cNvSpPr/>
          <p:nvPr/>
        </p:nvSpPr>
        <p:spPr>
          <a:xfrm>
            <a:off x="2148840" y="4654296"/>
            <a:ext cx="3931920" cy="1417320"/>
          </a:xfrm>
          <a:prstGeom prst="rect">
            <a:avLst/>
          </a:prstGeom>
          <a:noFill/>
          <a:ln/>
        </p:spPr>
        <p:txBody>
          <a:bodyPr wrap="square" lIns="0" tIns="0" rIns="0" bIns="0" rtlCol="0" anchor="t"/>
          <a:lstStyle/>
          <a:p>
            <a:pPr indent="0" marL="0">
              <a:buNone/>
            </a:pPr>
            <a:r>
              <a:rPr lang="en-US" sz="1150" dirty="0">
                <a:solidFill>
                  <a:srgbClr val="222222"/>
                </a:solidFill>
                <a:latin typeface="Calibri" pitchFamily="34" charset="0"/>
                <a:ea typeface="Calibri" pitchFamily="34" charset="-122"/>
                <a:cs typeface="Calibri" pitchFamily="34" charset="-120"/>
              </a:rPr>
              <a:t>Empty evidence forbids a behavioural violation. No policy and no events gives NOT_ADDRESSED without calling the model. Degenerate capture is refused outright.</a:t>
            </a:r>
            <a:endParaRPr lang="en-US" sz="1150" dirty="0"/>
          </a:p>
        </p:txBody>
      </p:sp>
      <p:sp>
        <p:nvSpPr>
          <p:cNvPr id="14" name="Text 12"/>
          <p:cNvSpPr/>
          <p:nvPr/>
        </p:nvSpPr>
        <p:spPr>
          <a:xfrm>
            <a:off x="6217920" y="4654296"/>
            <a:ext cx="1508760" cy="1371600"/>
          </a:xfrm>
          <a:prstGeom prst="rect">
            <a:avLst/>
          </a:prstGeom>
          <a:noFill/>
          <a:ln/>
        </p:spPr>
        <p:txBody>
          <a:bodyPr wrap="square" lIns="0" tIns="0" rIns="0" bIns="0" rtlCol="0" anchor="t"/>
          <a:lstStyle/>
          <a:p>
            <a:pPr indent="0" marL="0">
              <a:buNone/>
            </a:pPr>
            <a:r>
              <a:rPr lang="en-US" sz="1400" b="1" dirty="0">
                <a:solidFill>
                  <a:srgbClr val="A6093D"/>
                </a:solidFill>
                <a:latin typeface="Calibri" pitchFamily="34" charset="0"/>
                <a:ea typeface="Calibri" pitchFamily="34" charset="-122"/>
                <a:cs typeface="Calibri" pitchFamily="34" charset="-120"/>
              </a:rPr>
              <a:t>6 · Aggregate</a:t>
            </a:r>
            <a:endParaRPr lang="en-US" sz="1400" dirty="0"/>
          </a:p>
        </p:txBody>
      </p:sp>
      <p:sp>
        <p:nvSpPr>
          <p:cNvPr id="15" name="Text 13"/>
          <p:cNvSpPr/>
          <p:nvPr/>
        </p:nvSpPr>
        <p:spPr>
          <a:xfrm>
            <a:off x="7772400" y="4654296"/>
            <a:ext cx="3931920" cy="1417320"/>
          </a:xfrm>
          <a:prstGeom prst="rect">
            <a:avLst/>
          </a:prstGeom>
          <a:noFill/>
          <a:ln/>
        </p:spPr>
        <p:txBody>
          <a:bodyPr wrap="square" lIns="0" tIns="0" rIns="0" bIns="0" rtlCol="0" anchor="t"/>
          <a:lstStyle/>
          <a:p>
            <a:pPr indent="0" marL="0">
              <a:buNone/>
            </a:pPr>
            <a:r>
              <a:rPr lang="en-US" sz="1150" dirty="0">
                <a:solidFill>
                  <a:srgbClr val="222222"/>
                </a:solidFill>
                <a:latin typeface="Calibri" pitchFamily="34" charset="0"/>
                <a:ea typeface="Calibri" pitchFamily="34" charset="-122"/>
                <a:cs typeface="Calibri" pitchFamily="34" charset="-120"/>
              </a:rPr>
              <a:t>Severity weights: critical 3 · high 2 · medium 1 · low 0.5. NOT_ADDRESSED excluded. All findings phrased as potential non-compliance.</a:t>
            </a:r>
            <a:endParaRPr lang="en-US" sz="1150" dirty="0"/>
          </a:p>
        </p:txBody>
      </p:sp>
      <p:sp>
        <p:nvSpPr>
          <p:cNvPr id="16" name="Text 1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347472"/>
            <a:ext cx="11000232" cy="566928"/>
          </a:xfrm>
          <a:prstGeom prst="rect">
            <a:avLst/>
          </a:prstGeom>
          <a:noFill/>
          <a:ln/>
        </p:spPr>
        <p:txBody>
          <a:bodyPr wrap="square" lIns="0" tIns="0" rIns="0" bIns="0" rtlCol="0" anchor="ctr"/>
          <a:lstStyle/>
          <a:p>
            <a:pPr indent="0" marL="0">
              <a:buNone/>
            </a:pPr>
            <a:r>
              <a:rPr lang="en-US" sz="2800" b="1" dirty="0">
                <a:solidFill>
                  <a:srgbClr val="222222"/>
                </a:solidFill>
                <a:latin typeface="Calibri" pitchFamily="34" charset="0"/>
                <a:ea typeface="Calibri" pitchFamily="34" charset="-122"/>
                <a:cs typeface="Calibri" pitchFamily="34" charset="-120"/>
              </a:rPr>
              <a:t>Evaluation method</a:t>
            </a:r>
            <a:endParaRPr lang="en-US" sz="2800" dirty="0"/>
          </a:p>
        </p:txBody>
      </p:sp>
      <p:sp>
        <p:nvSpPr>
          <p:cNvPr id="3" name="Text 1"/>
          <p:cNvSpPr/>
          <p:nvPr/>
        </p:nvSpPr>
        <p:spPr>
          <a:xfrm>
            <a:off x="594360" y="932688"/>
            <a:ext cx="11000232" cy="329184"/>
          </a:xfrm>
          <a:prstGeom prst="rect">
            <a:avLst/>
          </a:prstGeom>
          <a:noFill/>
          <a:ln/>
        </p:spPr>
        <p:txBody>
          <a:bodyPr wrap="square" lIns="0" tIns="0" rIns="0" bIns="0" rtlCol="0" anchor="ctr"/>
          <a:lstStyle/>
          <a:p>
            <a:pPr indent="0" marL="0">
              <a:buNone/>
            </a:pPr>
            <a:r>
              <a:rPr lang="en-US" sz="1300" dirty="0">
                <a:solidFill>
                  <a:srgbClr val="666666"/>
                </a:solidFill>
                <a:latin typeface="Calibri" pitchFamily="34" charset="0"/>
                <a:ea typeface="Calibri" pitchFamily="34" charset="-122"/>
                <a:cs typeface="Calibri" pitchFamily="34" charset="-120"/>
              </a:rPr>
              <a:t>Three stages, and why the third one exists</a:t>
            </a:r>
            <a:endParaRPr lang="en-US" sz="1300" dirty="0"/>
          </a:p>
        </p:txBody>
      </p:sp>
      <p:sp>
        <p:nvSpPr>
          <p:cNvPr id="4" name="Text 2"/>
          <p:cNvSpPr/>
          <p:nvPr/>
        </p:nvSpPr>
        <p:spPr>
          <a:xfrm>
            <a:off x="594360" y="1554480"/>
            <a:ext cx="6766560" cy="4206240"/>
          </a:xfrm>
          <a:prstGeom prst="rect">
            <a:avLst/>
          </a:prstGeom>
          <a:noFill/>
          <a:ln/>
        </p:spPr>
        <p:txBody>
          <a:bodyPr wrap="square" lIns="0" tIns="0" rIns="0" bIns="0" rtlCol="0" anchor="t"/>
          <a:lstStyle/>
          <a:p>
            <a:pPr marL="152400" indent="-152400">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Stage 1 — one site audited in depth to establish that the pipeline produces usable findings (independent.ie).</a:t>
            </a:r>
            <a:endParaRPr lang="en-US" sz="1350" dirty="0"/>
          </a:p>
          <a:p>
            <a:pPr marL="152400" indent="-152400">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Stage 2 — 20 sites across 6 sectors and 4 jurisdictions, chosen to include both ends of the range reported by Trevisan et al., plus two sites known to use bot protection so the failure path is exercised.</a:t>
            </a:r>
            <a:endParaRPr lang="en-US" sz="1350" dirty="0"/>
          </a:p>
          <a:p>
            <a:pPr marL="152400" indent="-152400">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Stage 3 — every verdict re-checked mechanically against the telemetry it came from. An LLM auditor is only useful if its findings can be shown to come from the evidence rather than from the model.</a:t>
            </a:r>
            <a:endParaRPr lang="en-US" sz="1350" dirty="0"/>
          </a:p>
          <a:p>
            <a:pPr marL="152400" indent="-152400">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3 dimensions per site, GDPR + PECR, DPDP added automatically for Indian domains. gpt-4o-mini, temperature 0.</a:t>
            </a:r>
            <a:endParaRPr lang="en-US" sz="1350" dirty="0"/>
          </a:p>
        </p:txBody>
      </p:sp>
      <p:sp>
        <p:nvSpPr>
          <p:cNvPr id="5" name="Shape 3"/>
          <p:cNvSpPr/>
          <p:nvPr/>
        </p:nvSpPr>
        <p:spPr>
          <a:xfrm>
            <a:off x="7635240" y="1554480"/>
            <a:ext cx="3931920" cy="4206240"/>
          </a:xfrm>
          <a:prstGeom prst="rect">
            <a:avLst/>
          </a:prstGeom>
          <a:solidFill>
            <a:srgbClr val="F4F4F4"/>
          </a:solidFill>
          <a:ln w="12700">
            <a:solidFill>
              <a:srgbClr val="CCCCCC"/>
            </a:solidFill>
            <a:prstDash val="solid"/>
          </a:ln>
        </p:spPr>
      </p:sp>
      <p:sp>
        <p:nvSpPr>
          <p:cNvPr id="6" name="Text 4"/>
          <p:cNvSpPr/>
          <p:nvPr/>
        </p:nvSpPr>
        <p:spPr>
          <a:xfrm>
            <a:off x="7818120" y="1737360"/>
            <a:ext cx="3566160" cy="3840480"/>
          </a:xfrm>
          <a:prstGeom prst="rect">
            <a:avLst/>
          </a:prstGeom>
          <a:noFill/>
          <a:ln/>
        </p:spPr>
        <p:txBody>
          <a:bodyPr wrap="square" lIns="0" tIns="0" rIns="0" bIns="0" rtlCol="0" anchor="t"/>
          <a:lstStyle/>
          <a:p>
            <a:pPr indent="0" marL="0">
              <a:buNone/>
            </a:pPr>
            <a:r>
              <a:rPr lang="en-US" sz="1400" b="1" dirty="0">
                <a:solidFill>
                  <a:srgbClr val="A6093D"/>
                </a:solidFill>
                <a:latin typeface="Calibri" pitchFamily="34" charset="0"/>
                <a:ea typeface="Calibri" pitchFamily="34" charset="-122"/>
                <a:cs typeface="Calibri" pitchFamily="34" charset="-120"/>
              </a:rPr>
              <a:t>Reproducibility
</a:t>
            </a:r>
            <a:pPr indent="0" marL="0">
              <a:buNone/>
            </a:pPr>
            <a:r>
              <a:rPr lang="en-US" sz="1250" dirty="0">
                <a:solidFill>
                  <a:srgbClr val="222222"/>
                </a:solidFill>
                <a:latin typeface="Calibri" pitchFamily="34" charset="0"/>
                <a:ea typeface="Calibri" pitchFamily="34" charset="-122"/>
                <a:cs typeface="Calibri" pitchFamily="34" charset="-120"/>
              </a:rPr>
              <a:t>• temperature 0
• pinned tracker lists
• versioned prompts
• per-site logs retained
• harness checkpoints after every site
</a:t>
            </a:r>
            <a:pPr indent="0" marL="0">
              <a:buNone/>
            </a:pPr>
            <a:r>
              <a:rPr lang="en-US" sz="1200" i="1" dirty="0">
                <a:solidFill>
                  <a:srgbClr val="666666"/>
                </a:solidFill>
                <a:latin typeface="Calibri" pitchFamily="34" charset="0"/>
                <a:ea typeface="Calibri" pitchFamily="34" charset="-122"/>
                <a:cs typeface="Calibri" pitchFamily="34" charset="-120"/>
              </a:rPr>
              <a:t>Every stage outcome is recorded, so sites that fail are counted rather than silently dropped.</a:t>
            </a:r>
            <a:endParaRPr lang="en-US" sz="1400" dirty="0"/>
          </a:p>
        </p:txBody>
      </p:sp>
      <p:sp>
        <p:nvSpPr>
          <p:cNvPr id="7" name="Text 5"/>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347472"/>
            <a:ext cx="11000232" cy="566928"/>
          </a:xfrm>
          <a:prstGeom prst="rect">
            <a:avLst/>
          </a:prstGeom>
          <a:noFill/>
          <a:ln/>
        </p:spPr>
        <p:txBody>
          <a:bodyPr wrap="square" lIns="0" tIns="0" rIns="0" bIns="0" rtlCol="0" anchor="ctr"/>
          <a:lstStyle/>
          <a:p>
            <a:pPr indent="0" marL="0">
              <a:buNone/>
            </a:pPr>
            <a:r>
              <a:rPr lang="en-US" sz="2800" b="1" dirty="0">
                <a:solidFill>
                  <a:srgbClr val="222222"/>
                </a:solidFill>
                <a:latin typeface="Calibri" pitchFamily="34" charset="0"/>
                <a:ea typeface="Calibri" pitchFamily="34" charset="-122"/>
                <a:cs typeface="Calibri" pitchFamily="34" charset="-120"/>
              </a:rPr>
              <a:t>Results — coverage</a:t>
            </a:r>
            <a:endParaRPr lang="en-US" sz="2800" dirty="0"/>
          </a:p>
        </p:txBody>
      </p:sp>
      <p:sp>
        <p:nvSpPr>
          <p:cNvPr id="3" name="Text 1"/>
          <p:cNvSpPr/>
          <p:nvPr/>
        </p:nvSpPr>
        <p:spPr>
          <a:xfrm>
            <a:off x="594360" y="932688"/>
            <a:ext cx="11000232" cy="329184"/>
          </a:xfrm>
          <a:prstGeom prst="rect">
            <a:avLst/>
          </a:prstGeom>
          <a:noFill/>
          <a:ln/>
        </p:spPr>
        <p:txBody>
          <a:bodyPr wrap="square" lIns="0" tIns="0" rIns="0" bIns="0" rtlCol="0" anchor="ctr"/>
          <a:lstStyle/>
          <a:p>
            <a:pPr indent="0" marL="0">
              <a:buNone/>
            </a:pPr>
            <a:r>
              <a:rPr lang="en-US" sz="1300" dirty="0">
                <a:solidFill>
                  <a:srgbClr val="666666"/>
                </a:solidFill>
                <a:latin typeface="Calibri" pitchFamily="34" charset="0"/>
                <a:ea typeface="Calibri" pitchFamily="34" charset="-122"/>
                <a:cs typeface="Calibri" pitchFamily="34" charset="-120"/>
              </a:rPr>
              <a:t>What the pipeline could and could not audit</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94360" y="1463040"/>
          <a:ext cx="6766560" cy="914400"/>
        </p:xfrm>
        <a:graphic>
          <a:graphicData uri="http://schemas.openxmlformats.org/drawingml/2006/table">
            <a:tbl>
              <a:tblPr/>
              <a:tblGrid>
                <a:gridCol w="1920240"/>
                <a:gridCol w="822960"/>
                <a:gridCol w="4023360"/>
              </a:tblGrid>
              <a:tr h="65836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Outcome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Sites</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Cause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r>
              <a:tr h="658368">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Scored</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658368">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Capture refused</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bot protection (irctc.co.in, ndtv.com); degenerate capture rejected by the sanity gate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658368">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Collection timed out</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slow sites exceeding the collector budget (hse.ie, dunnesstores.com)</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658368">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Insufficient data</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no policy retrieved and no relevant events observed (gov.ie)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5" name="Text 2"/>
          <p:cNvSpPr/>
          <p:nvPr/>
        </p:nvSpPr>
        <p:spPr>
          <a:xfrm>
            <a:off x="594360" y="4480560"/>
            <a:ext cx="6766560" cy="109728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Capture failure rate 10%. The pipeline declines to give a compliance opinion on 25% of attempts. Refusing is the intended behaviour: scoring an empty capture would produce confident findings about nothing.</a:t>
            </a:r>
            <a:endParaRPr lang="en-US" sz="1300" dirty="0"/>
          </a:p>
        </p:txBody>
      </p:sp>
      <p:sp>
        <p:nvSpPr>
          <p:cNvPr id="6" name="Shape 3"/>
          <p:cNvSpPr/>
          <p:nvPr/>
        </p:nvSpPr>
        <p:spPr>
          <a:xfrm>
            <a:off x="7635240" y="1463040"/>
            <a:ext cx="3931920" cy="3108960"/>
          </a:xfrm>
          <a:prstGeom prst="rect">
            <a:avLst/>
          </a:prstGeom>
          <a:solidFill>
            <a:srgbClr val="FBFBFB"/>
          </a:solidFill>
          <a:ln w="15875">
            <a:solidFill>
              <a:srgbClr val="A6093D"/>
            </a:solidFill>
            <a:prstDash val="dash"/>
          </a:ln>
        </p:spPr>
      </p:sp>
      <p:sp>
        <p:nvSpPr>
          <p:cNvPr id="7" name="Text 4"/>
          <p:cNvSpPr/>
          <p:nvPr/>
        </p:nvSpPr>
        <p:spPr>
          <a:xfrm>
            <a:off x="7772400" y="1463040"/>
            <a:ext cx="3657600" cy="3108960"/>
          </a:xfrm>
          <a:prstGeom prst="rect">
            <a:avLst/>
          </a:prstGeom>
          <a:noFill/>
          <a:ln/>
        </p:spPr>
        <p:txBody>
          <a:bodyPr wrap="square" lIns="0" tIns="0" rIns="0" bIns="0" rtlCol="0" anchor="ctr"/>
          <a:lstStyle/>
          <a:p>
            <a:pPr algn="ctr" indent="0" marL="0">
              <a:buNone/>
            </a:pPr>
            <a:r>
              <a:rPr lang="en-US" sz="1200" b="1" dirty="0">
                <a:solidFill>
                  <a:srgbClr val="A6093D"/>
                </a:solidFill>
                <a:latin typeface="Calibri" pitchFamily="34" charset="0"/>
                <a:ea typeface="Calibri" pitchFamily="34" charset="-122"/>
                <a:cs typeface="Calibri" pitchFamily="34" charset="-120"/>
              </a:rPr>
              <a:t>SCREENSHOT PLACEHOLDER
</a:t>
            </a:r>
            <a:pPr algn="ctr" indent="0" marL="0">
              <a:buNone/>
            </a:pPr>
            <a:r>
              <a:rPr lang="en-US" sz="1150" dirty="0">
                <a:solidFill>
                  <a:srgbClr val="222222"/>
                </a:solidFill>
                <a:latin typeface="Calibri" pitchFamily="34" charset="0"/>
                <a:ea typeface="Calibri" pitchFamily="34" charset="-122"/>
                <a:cs typeface="Calibri" pitchFamily="34" charset="-120"/>
              </a:rPr>
              <a:t>Terminal output of the batch run
</a:t>
            </a:r>
            <a:pPr algn="ctr" indent="0" marL="0">
              <a:buNone/>
            </a:pPr>
            <a:r>
              <a:rPr lang="en-US" sz="1000" i="1" dirty="0">
                <a:solidFill>
                  <a:srgbClr val="666666"/>
                </a:solidFill>
                <a:latin typeface="Calibri" pitchFamily="34" charset="0"/>
                <a:ea typeface="Calibri" pitchFamily="34" charset="-122"/>
                <a:cs typeface="Calibri" pitchFamily="34" charset="-120"/>
              </a:rPr>
              <a:t>evaluation/results/ — show a blocked site being refused and a scored site completing</a:t>
            </a:r>
            <a:endParaRPr lang="en-US" sz="1200" dirty="0"/>
          </a:p>
        </p:txBody>
      </p:sp>
      <p:sp>
        <p:nvSpPr>
          <p:cNvPr id="8" name="Text 5"/>
          <p:cNvSpPr/>
          <p:nvPr/>
        </p:nvSpPr>
        <p:spPr>
          <a:xfrm>
            <a:off x="7635240" y="4754880"/>
            <a:ext cx="3931920" cy="731520"/>
          </a:xfrm>
          <a:prstGeom prst="rect">
            <a:avLst/>
          </a:prstGeom>
          <a:noFill/>
          <a:ln/>
        </p:spPr>
        <p:txBody>
          <a:bodyPr wrap="square" lIns="0" tIns="0" rIns="0" bIns="0" rtlCol="0" anchor="ctr"/>
          <a:lstStyle/>
          <a:p>
            <a:pPr indent="0" marL="0">
              <a:buNone/>
            </a:pPr>
            <a:r>
              <a:rPr lang="en-US" sz="1200" i="1" dirty="0">
                <a:solidFill>
                  <a:srgbClr val="666666"/>
                </a:solidFill>
                <a:latin typeface="Calibri" pitchFamily="34" charset="0"/>
                <a:ea typeface="Calibri" pitchFamily="34" charset="-122"/>
                <a:cs typeface="Calibri" pitchFamily="34" charset="-120"/>
              </a:rPr>
              <a:t>Sites most likely to track aggressively are also the hardest to audit. This bounds coverage, not correctness.</a:t>
            </a:r>
            <a:endParaRPr lang="en-US" sz="1200" dirty="0"/>
          </a:p>
        </p:txBody>
      </p:sp>
      <p:sp>
        <p:nvSpPr>
          <p:cNvPr id="9" name="Text 6"/>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347472"/>
            <a:ext cx="11000232" cy="566928"/>
          </a:xfrm>
          <a:prstGeom prst="rect">
            <a:avLst/>
          </a:prstGeom>
          <a:noFill/>
          <a:ln/>
        </p:spPr>
        <p:txBody>
          <a:bodyPr wrap="square" lIns="0" tIns="0" rIns="0" bIns="0" rtlCol="0" anchor="ctr"/>
          <a:lstStyle/>
          <a:p>
            <a:pPr indent="0" marL="0">
              <a:buNone/>
            </a:pPr>
            <a:r>
              <a:rPr lang="en-US" sz="2800" b="1" dirty="0">
                <a:solidFill>
                  <a:srgbClr val="222222"/>
                </a:solidFill>
                <a:latin typeface="Calibri" pitchFamily="34" charset="0"/>
                <a:ea typeface="Calibri" pitchFamily="34" charset="-122"/>
                <a:cs typeface="Calibri" pitchFamily="34" charset="-120"/>
              </a:rPr>
              <a:t>Results — findings across sectors</a:t>
            </a:r>
            <a:endParaRPr lang="en-US" sz="2800" dirty="0"/>
          </a:p>
        </p:txBody>
      </p:sp>
      <p:sp>
        <p:nvSpPr>
          <p:cNvPr id="3" name="Text 1"/>
          <p:cNvSpPr/>
          <p:nvPr/>
        </p:nvSpPr>
        <p:spPr>
          <a:xfrm>
            <a:off x="594360" y="932688"/>
            <a:ext cx="11000232" cy="329184"/>
          </a:xfrm>
          <a:prstGeom prst="rect">
            <a:avLst/>
          </a:prstGeom>
          <a:noFill/>
          <a:ln/>
        </p:spPr>
        <p:txBody>
          <a:bodyPr wrap="square" lIns="0" tIns="0" rIns="0" bIns="0" rtlCol="0" anchor="ctr"/>
          <a:lstStyle/>
          <a:p>
            <a:pPr indent="0" marL="0">
              <a:buNone/>
            </a:pPr>
            <a:r>
              <a:rPr lang="en-US" sz="1300" dirty="0">
                <a:solidFill>
                  <a:srgbClr val="666666"/>
                </a:solidFill>
                <a:latin typeface="Calibri" pitchFamily="34" charset="0"/>
                <a:ea typeface="Calibri" pitchFamily="34" charset="-122"/>
                <a:cs typeface="Calibri" pitchFamily="34" charset="-120"/>
              </a:rPr>
              <a:t>Higher score = more compliant. 15 scored sites</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94360" y="1463040"/>
          <a:ext cx="5120640" cy="914400"/>
        </p:xfrm>
        <a:graphic>
          <a:graphicData uri="http://schemas.openxmlformats.org/drawingml/2006/table">
            <a:tbl>
              <a:tblPr/>
              <a:tblGrid>
                <a:gridCol w="1828800"/>
                <a:gridCol w="731520"/>
                <a:gridCol w="914400"/>
                <a:gridCol w="1645920"/>
              </a:tblGrid>
              <a:tr h="5486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Sector</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Sites</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Mean</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FAIL verdicts</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r>
              <a:tr h="54864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Government</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44.0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0 / 3</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4864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SaaS</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44.0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0 / 3</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4864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Education</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31.8</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5 / 12</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4864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News</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26.7</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6 / 18</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4864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Social</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25.0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1 / 3</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4864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E-commerce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12.5</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3 / 6</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5" name="Text 2"/>
          <p:cNvSpPr/>
          <p:nvPr/>
        </p:nvSpPr>
        <p:spPr>
          <a:xfrm>
            <a:off x="6035040" y="1463040"/>
            <a:ext cx="5486400" cy="4206240"/>
          </a:xfrm>
          <a:prstGeom prst="rect">
            <a:avLst/>
          </a:prstGeom>
          <a:noFill/>
          <a:ln/>
        </p:spPr>
        <p:txBody>
          <a:bodyPr wrap="square" lIns="0" tIns="0" rIns="0" bIns="0" rtlCol="0" anchor="t"/>
          <a:lstStyle/>
          <a:p>
            <a:pPr marL="152400" indent="-1524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Ordering broadly matches the published pattern: government highest, news in the lower half.</a:t>
            </a:r>
            <a:endParaRPr lang="en-US" sz="1300" dirty="0"/>
          </a:p>
          <a:p>
            <a:pPr marL="152400" indent="-1524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Do not over-read it. Several sectors have a single site, and the e-commerce mean is depressed by the policy-retrieval confound (next slide).</a:t>
            </a:r>
            <a:endParaRPr lang="en-US" sz="1300" dirty="0"/>
          </a:p>
          <a:p>
            <a:pPr marL="152400" indent="-1524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Per dimension: tracking without consent produced 9 FAIL / 6 PARTIAL; disclosure of third parties 4 FAIL / 11 PARTIAL; pre-consent cookies only 2 FAIL / 11 PARTIAL.</a:t>
            </a:r>
            <a:endParaRPr lang="en-US" sz="1300" dirty="0"/>
          </a:p>
          <a:p>
            <a:pPr marL="152400" indent="-1524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Useful finding: the cookie-based test the earlier literature relies on is now the weakest of the three signals. Request-level and disclosure-level evidence separate sites far more clearly.</a:t>
            </a:r>
            <a:endParaRPr lang="en-US" sz="1300" dirty="0"/>
          </a:p>
        </p:txBody>
      </p:sp>
      <p:sp>
        <p:nvSpPr>
          <p:cNvPr id="6" name="Text 3"/>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347472"/>
            <a:ext cx="11000232" cy="566928"/>
          </a:xfrm>
          <a:prstGeom prst="rect">
            <a:avLst/>
          </a:prstGeom>
          <a:noFill/>
          <a:ln/>
        </p:spPr>
        <p:txBody>
          <a:bodyPr wrap="square" lIns="0" tIns="0" rIns="0" bIns="0" rtlCol="0" anchor="ctr"/>
          <a:lstStyle/>
          <a:p>
            <a:pPr indent="0" marL="0">
              <a:buNone/>
            </a:pPr>
            <a:r>
              <a:rPr lang="en-US" sz="2800" b="1" dirty="0">
                <a:solidFill>
                  <a:srgbClr val="222222"/>
                </a:solidFill>
                <a:latin typeface="Calibri" pitchFamily="34" charset="0"/>
                <a:ea typeface="Calibri" pitchFamily="34" charset="-122"/>
                <a:cs typeface="Calibri" pitchFamily="34" charset="-120"/>
              </a:rPr>
              <a:t>Verifying that findings are genuine</a:t>
            </a:r>
            <a:endParaRPr lang="en-US" sz="2800" dirty="0"/>
          </a:p>
        </p:txBody>
      </p:sp>
      <p:sp>
        <p:nvSpPr>
          <p:cNvPr id="3" name="Text 1"/>
          <p:cNvSpPr/>
          <p:nvPr/>
        </p:nvSpPr>
        <p:spPr>
          <a:xfrm>
            <a:off x="594360" y="932688"/>
            <a:ext cx="11000232" cy="329184"/>
          </a:xfrm>
          <a:prstGeom prst="rect">
            <a:avLst/>
          </a:prstGeom>
          <a:noFill/>
          <a:ln/>
        </p:spPr>
        <p:txBody>
          <a:bodyPr wrap="square" lIns="0" tIns="0" rIns="0" bIns="0" rtlCol="0" anchor="ctr"/>
          <a:lstStyle/>
          <a:p>
            <a:pPr indent="0" marL="0">
              <a:buNone/>
            </a:pPr>
            <a:r>
              <a:rPr lang="en-US" sz="1300" dirty="0">
                <a:solidFill>
                  <a:srgbClr val="666666"/>
                </a:solidFill>
                <a:latin typeface="Calibri" pitchFamily="34" charset="0"/>
                <a:ea typeface="Calibri" pitchFamily="34" charset="-122"/>
                <a:cs typeface="Calibri" pitchFamily="34" charset="-120"/>
              </a:rPr>
              <a:t>Every verdict re-checked against its own telemetry, with no model involved</a:t>
            </a:r>
            <a:endParaRPr lang="en-US" sz="1300" dirty="0"/>
          </a:p>
        </p:txBody>
      </p:sp>
      <p:sp>
        <p:nvSpPr>
          <p:cNvPr id="4" name="Text 2"/>
          <p:cNvSpPr/>
          <p:nvPr/>
        </p:nvSpPr>
        <p:spPr>
          <a:xfrm>
            <a:off x="594360" y="1508760"/>
            <a:ext cx="5486400" cy="237744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222222"/>
                </a:solidFill>
                <a:latin typeface="Calibri" pitchFamily="34" charset="0"/>
                <a:ea typeface="Calibri" pitchFamily="34" charset="-122"/>
                <a:cs typeface="Calibri" pitchFamily="34" charset="-120"/>
              </a:rPr>
              <a:t>C1 — was the cited article actually retrieved?</a:t>
            </a:r>
            <a:endParaRPr lang="en-US" sz="1250" dirty="0"/>
          </a:p>
          <a:p>
            <a:pPr marL="152400" indent="-152400">
              <a:spcAft>
                <a:spcPts val="800"/>
              </a:spcAft>
              <a:buSzPct val="100000"/>
              <a:buChar char="–"/>
            </a:pPr>
            <a:r>
              <a:rPr lang="en-US" sz="1250" dirty="0">
                <a:solidFill>
                  <a:srgbClr val="222222"/>
                </a:solidFill>
                <a:latin typeface="Calibri" pitchFamily="34" charset="0"/>
                <a:ea typeface="Calibri" pitchFamily="34" charset="-122"/>
                <a:cs typeface="Calibri" pitchFamily="34" charset="-120"/>
              </a:rPr>
              <a:t>C2 — is the quoted legal requirement verbatim in that retrieved text?</a:t>
            </a:r>
            <a:endParaRPr lang="en-US" sz="1250" dirty="0"/>
          </a:p>
          <a:p>
            <a:pPr marL="152400" indent="-152400">
              <a:spcAft>
                <a:spcPts val="800"/>
              </a:spcAft>
              <a:buSzPct val="100000"/>
              <a:buChar char="–"/>
            </a:pPr>
            <a:r>
              <a:rPr lang="en-US" sz="1250" dirty="0">
                <a:solidFill>
                  <a:srgbClr val="222222"/>
                </a:solidFill>
                <a:latin typeface="Calibri" pitchFamily="34" charset="0"/>
                <a:ea typeface="Calibri" pitchFamily="34" charset="-122"/>
                <a:cs typeface="Calibri" pitchFamily="34" charset="-120"/>
              </a:rPr>
              <a:t>C3 — is the quoted policy claim verbatim in the scraped policy?</a:t>
            </a:r>
            <a:endParaRPr lang="en-US" sz="1250" dirty="0"/>
          </a:p>
          <a:p>
            <a:pPr marL="152400" indent="-152400">
              <a:spcAft>
                <a:spcPts val="800"/>
              </a:spcAft>
              <a:buSzPct val="100000"/>
              <a:buChar char="–"/>
            </a:pPr>
            <a:r>
              <a:rPr lang="en-US" sz="1250" dirty="0">
                <a:solidFill>
                  <a:srgbClr val="222222"/>
                </a:solidFill>
                <a:latin typeface="Calibri" pitchFamily="34" charset="0"/>
                <a:ea typeface="Calibri" pitchFamily="34" charset="-122"/>
                <a:cs typeface="Calibri" pitchFamily="34" charset="-120"/>
              </a:rPr>
              <a:t>C4 — does every domain, cookie and count named exist in the HAR evidence?</a:t>
            </a:r>
            <a:endParaRPr lang="en-US" sz="1250" dirty="0"/>
          </a:p>
          <a:p>
            <a:pPr marL="152400" indent="-152400">
              <a:spcAft>
                <a:spcPts val="800"/>
              </a:spcAft>
              <a:buSzPct val="100000"/>
              <a:buChar char="–"/>
            </a:pPr>
            <a:r>
              <a:rPr lang="en-US" sz="1250" dirty="0">
                <a:solidFill>
                  <a:srgbClr val="222222"/>
                </a:solidFill>
                <a:latin typeface="Calibri" pitchFamily="34" charset="0"/>
                <a:ea typeface="Calibri" pitchFamily="34" charset="-122"/>
                <a:cs typeface="Calibri" pitchFamily="34" charset="-120"/>
              </a:rPr>
              <a:t>C5 — internal consistency rules</a:t>
            </a:r>
            <a:endParaRPr lang="en-US" sz="1250" dirty="0"/>
          </a:p>
        </p:txBody>
      </p:sp>
      <p:sp>
        <p:nvSpPr>
          <p:cNvPr id="5" name="Text 3"/>
          <p:cNvSpPr/>
          <p:nvPr/>
        </p:nvSpPr>
        <p:spPr>
          <a:xfrm>
            <a:off x="594360" y="3977640"/>
            <a:ext cx="5486400" cy="822960"/>
          </a:xfrm>
          <a:prstGeom prst="rect">
            <a:avLst/>
          </a:prstGeom>
          <a:noFill/>
          <a:ln/>
        </p:spPr>
        <p:txBody>
          <a:bodyPr wrap="square" lIns="0" tIns="0" rIns="0" bIns="0" rtlCol="0" anchor="ctr"/>
          <a:lstStyle/>
          <a:p>
            <a:pPr indent="0" marL="0">
              <a:buNone/>
            </a:pPr>
            <a:r>
              <a:rPr lang="en-US" sz="1200" i="1" dirty="0">
                <a:solidFill>
                  <a:srgbClr val="666666"/>
                </a:solidFill>
                <a:latin typeface="Calibri" pitchFamily="34" charset="0"/>
                <a:ea typeface="Calibri" pitchFamily="34" charset="-122"/>
                <a:cs typeface="Calibri" pitchFamily="34" charset="-120"/>
              </a:rPr>
              <a:t>The scorer records which articles were retrieved and the exact rule text shown to the model, which is what makes the check possible after the fact.</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355080" y="1508760"/>
          <a:ext cx="5212080" cy="914400"/>
        </p:xfrm>
        <a:graphic>
          <a:graphicData uri="http://schemas.openxmlformats.org/drawingml/2006/table">
            <a:tbl>
              <a:tblPr/>
              <a:tblGrid>
                <a:gridCol w="1828800"/>
                <a:gridCol w="457200"/>
                <a:gridCol w="2926080"/>
              </a:tblGrid>
              <a:tr h="56692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Cause of flag</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Interpretation</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r>
              <a:tr h="566928">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Verifier false positive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API names matched the domain pattern</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66928">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Missing input</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discrepancy asserted with no policy retrieved</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66928">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Paraphrase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correct, but not copied verbatim</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66928">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Unresolved</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under manual inspection</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66928">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Fabricated evidence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b="1" dirty="0">
                          <a:solidFill>
                            <a:srgbClr val="2E6B34"/>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b="1" dirty="0">
                          <a:solidFill>
                            <a:srgbClr val="2E6B34"/>
                          </a:solidFill>
                          <a:latin typeface="Calibri" pitchFamily="34" charset="0"/>
                          <a:ea typeface="Calibri" pitchFamily="34" charset="-122"/>
                          <a:cs typeface="Calibri" pitchFamily="34" charset="-120"/>
                        </a:rPr>
                        <a:t>no invented behavioural claims</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7" name="Text 4"/>
          <p:cNvSpPr/>
          <p:nvPr/>
        </p:nvSpPr>
        <p:spPr>
          <a:xfrm>
            <a:off x="6355080" y="4846320"/>
            <a:ext cx="5212080" cy="1005840"/>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16 flags across 15 reports. Not one was a fabricated behavioural claim: every domain, cookie and fingerprinting call named in the reports was present in the corresponding HAR evidence.</a:t>
            </a:r>
            <a:endParaRPr lang="en-US" sz="1250" dirty="0"/>
          </a:p>
        </p:txBody>
      </p:sp>
      <p:sp>
        <p:nvSpPr>
          <p:cNvPr id="8" name="Text 5"/>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4360" y="347472"/>
            <a:ext cx="11000232" cy="566928"/>
          </a:xfrm>
          <a:prstGeom prst="rect">
            <a:avLst/>
          </a:prstGeom>
          <a:noFill/>
          <a:ln/>
        </p:spPr>
        <p:txBody>
          <a:bodyPr wrap="square" lIns="0" tIns="0" rIns="0" bIns="0" rtlCol="0" anchor="ctr"/>
          <a:lstStyle/>
          <a:p>
            <a:pPr indent="0" marL="0">
              <a:buNone/>
            </a:pPr>
            <a:r>
              <a:rPr lang="en-US" sz="2800" b="1" dirty="0">
                <a:solidFill>
                  <a:srgbClr val="222222"/>
                </a:solidFill>
                <a:latin typeface="Calibri" pitchFamily="34" charset="0"/>
                <a:ea typeface="Calibri" pitchFamily="34" charset="-122"/>
                <a:cs typeface="Calibri" pitchFamily="34" charset="-120"/>
              </a:rPr>
              <a:t>Worked example: finding traced back to the telemetry</a:t>
            </a:r>
            <a:endParaRPr lang="en-US" sz="2800" dirty="0"/>
          </a:p>
        </p:txBody>
      </p:sp>
      <p:sp>
        <p:nvSpPr>
          <p:cNvPr id="3" name="Text 1"/>
          <p:cNvSpPr/>
          <p:nvPr/>
        </p:nvSpPr>
        <p:spPr>
          <a:xfrm>
            <a:off x="594360" y="932688"/>
            <a:ext cx="11000232" cy="329184"/>
          </a:xfrm>
          <a:prstGeom prst="rect">
            <a:avLst/>
          </a:prstGeom>
          <a:noFill/>
          <a:ln/>
        </p:spPr>
        <p:txBody>
          <a:bodyPr wrap="square" lIns="0" tIns="0" rIns="0" bIns="0" rtlCol="0" anchor="ctr"/>
          <a:lstStyle/>
          <a:p>
            <a:pPr indent="0" marL="0">
              <a:buNone/>
            </a:pPr>
            <a:r>
              <a:rPr lang="en-US" sz="1300" dirty="0">
                <a:solidFill>
                  <a:srgbClr val="666666"/>
                </a:solidFill>
                <a:latin typeface="Calibri" pitchFamily="34" charset="0"/>
                <a:ea typeface="Calibri" pitchFamily="34" charset="-122"/>
                <a:cs typeface="Calibri" pitchFamily="34" charset="-120"/>
              </a:rPr>
              <a:t>Same claim shown in the report, the evidence file and the raw HAR</a:t>
            </a:r>
            <a:endParaRPr lang="en-US" sz="1300" dirty="0"/>
          </a:p>
        </p:txBody>
      </p:sp>
      <p:sp>
        <p:nvSpPr>
          <p:cNvPr id="4" name="Shape 2"/>
          <p:cNvSpPr/>
          <p:nvPr/>
        </p:nvSpPr>
        <p:spPr>
          <a:xfrm>
            <a:off x="594360" y="1463040"/>
            <a:ext cx="3566160" cy="3291840"/>
          </a:xfrm>
          <a:prstGeom prst="rect">
            <a:avLst/>
          </a:prstGeom>
          <a:solidFill>
            <a:srgbClr val="FBFBFB"/>
          </a:solidFill>
          <a:ln w="15875">
            <a:solidFill>
              <a:srgbClr val="A6093D"/>
            </a:solidFill>
            <a:prstDash val="dash"/>
          </a:ln>
        </p:spPr>
      </p:sp>
      <p:sp>
        <p:nvSpPr>
          <p:cNvPr id="5" name="Text 3"/>
          <p:cNvSpPr/>
          <p:nvPr/>
        </p:nvSpPr>
        <p:spPr>
          <a:xfrm>
            <a:off x="731520" y="1463040"/>
            <a:ext cx="3291840" cy="3291840"/>
          </a:xfrm>
          <a:prstGeom prst="rect">
            <a:avLst/>
          </a:prstGeom>
          <a:noFill/>
          <a:ln/>
        </p:spPr>
        <p:txBody>
          <a:bodyPr wrap="square" lIns="0" tIns="0" rIns="0" bIns="0" rtlCol="0" anchor="ctr"/>
          <a:lstStyle/>
          <a:p>
            <a:pPr algn="ctr" indent="0" marL="0">
              <a:buNone/>
            </a:pPr>
            <a:r>
              <a:rPr lang="en-US" sz="1200" b="1" dirty="0">
                <a:solidFill>
                  <a:srgbClr val="A6093D"/>
                </a:solidFill>
                <a:latin typeface="Calibri" pitchFamily="34" charset="0"/>
                <a:ea typeface="Calibri" pitchFamily="34" charset="-122"/>
                <a:cs typeface="Calibri" pitchFamily="34" charset="-120"/>
              </a:rPr>
              <a:t>SCREENSHOT PLACEHOLDER
</a:t>
            </a:r>
            <a:pPr algn="ctr" indent="0" marL="0">
              <a:buNone/>
            </a:pPr>
            <a:r>
              <a:rPr lang="en-US" sz="1150" dirty="0">
                <a:solidFill>
                  <a:srgbClr val="222222"/>
                </a:solidFill>
                <a:latin typeface="Calibri" pitchFamily="34" charset="0"/>
                <a:ea typeface="Calibri" pitchFamily="34" charset="-122"/>
                <a:cs typeface="Calibri" pitchFamily="34" charset="-120"/>
              </a:rPr>
              <a:t>1. Report verdict
</a:t>
            </a:r>
            <a:pPr algn="ctr" indent="0" marL="0">
              <a:buNone/>
            </a:pPr>
            <a:r>
              <a:rPr lang="en-US" sz="1000" i="1" dirty="0">
                <a:solidFill>
                  <a:srgbClr val="666666"/>
                </a:solidFill>
                <a:latin typeface="Calibri" pitchFamily="34" charset="0"/>
                <a:ea typeface="Calibri" pitchFamily="34" charset="-122"/>
                <a:cs typeface="Calibri" pitchFamily="34" charset="-120"/>
              </a:rPr>
              <a:t>compliance_reports/…report.html — the finding with its cited article, policy quote and behavioural evidence</a:t>
            </a:r>
            <a:endParaRPr lang="en-US" sz="1200" dirty="0"/>
          </a:p>
        </p:txBody>
      </p:sp>
      <p:sp>
        <p:nvSpPr>
          <p:cNvPr id="6" name="Shape 4"/>
          <p:cNvSpPr/>
          <p:nvPr/>
        </p:nvSpPr>
        <p:spPr>
          <a:xfrm>
            <a:off x="4315968" y="1463040"/>
            <a:ext cx="3566160" cy="3291840"/>
          </a:xfrm>
          <a:prstGeom prst="rect">
            <a:avLst/>
          </a:prstGeom>
          <a:solidFill>
            <a:srgbClr val="FBFBFB"/>
          </a:solidFill>
          <a:ln w="15875">
            <a:solidFill>
              <a:srgbClr val="A6093D"/>
            </a:solidFill>
            <a:prstDash val="dash"/>
          </a:ln>
        </p:spPr>
      </p:sp>
      <p:sp>
        <p:nvSpPr>
          <p:cNvPr id="7" name="Text 5"/>
          <p:cNvSpPr/>
          <p:nvPr/>
        </p:nvSpPr>
        <p:spPr>
          <a:xfrm>
            <a:off x="4453128" y="1463040"/>
            <a:ext cx="3291840" cy="3291840"/>
          </a:xfrm>
          <a:prstGeom prst="rect">
            <a:avLst/>
          </a:prstGeom>
          <a:noFill/>
          <a:ln/>
        </p:spPr>
        <p:txBody>
          <a:bodyPr wrap="square" lIns="0" tIns="0" rIns="0" bIns="0" rtlCol="0" anchor="ctr"/>
          <a:lstStyle/>
          <a:p>
            <a:pPr algn="ctr" indent="0" marL="0">
              <a:buNone/>
            </a:pPr>
            <a:r>
              <a:rPr lang="en-US" sz="1200" b="1" dirty="0">
                <a:solidFill>
                  <a:srgbClr val="A6093D"/>
                </a:solidFill>
                <a:latin typeface="Calibri" pitchFamily="34" charset="0"/>
                <a:ea typeface="Calibri" pitchFamily="34" charset="-122"/>
                <a:cs typeface="Calibri" pitchFamily="34" charset="-120"/>
              </a:rPr>
              <a:t>SCREENSHOT PLACEHOLDER
</a:t>
            </a:r>
            <a:pPr algn="ctr" indent="0" marL="0">
              <a:buNone/>
            </a:pPr>
            <a:r>
              <a:rPr lang="en-US" sz="1150" dirty="0">
                <a:solidFill>
                  <a:srgbClr val="222222"/>
                </a:solidFill>
                <a:latin typeface="Calibri" pitchFamily="34" charset="0"/>
                <a:ea typeface="Calibri" pitchFamily="34" charset="-122"/>
                <a:cs typeface="Calibri" pitchFamily="34" charset="-120"/>
              </a:rPr>
              <a:t>2. Evidence dict
</a:t>
            </a:r>
            <a:pPr algn="ctr" indent="0" marL="0">
              <a:buNone/>
            </a:pPr>
            <a:r>
              <a:rPr lang="en-US" sz="1000" i="1" dirty="0">
                <a:solidFill>
                  <a:srgbClr val="666666"/>
                </a:solidFill>
                <a:latin typeface="Calibri" pitchFamily="34" charset="0"/>
                <a:ea typeface="Calibri" pitchFamily="34" charset="-122"/>
                <a:cs typeface="Calibri" pitchFamily="34" charset="-120"/>
              </a:rPr>
              <a:t>telemetry_output/…_evidence.json — the same domain / cookie in the extracted evidence</a:t>
            </a:r>
            <a:endParaRPr lang="en-US" sz="1200" dirty="0"/>
          </a:p>
        </p:txBody>
      </p:sp>
      <p:sp>
        <p:nvSpPr>
          <p:cNvPr id="8" name="Shape 6"/>
          <p:cNvSpPr/>
          <p:nvPr/>
        </p:nvSpPr>
        <p:spPr>
          <a:xfrm>
            <a:off x="8083296" y="1463040"/>
            <a:ext cx="3474720" cy="3291840"/>
          </a:xfrm>
          <a:prstGeom prst="rect">
            <a:avLst/>
          </a:prstGeom>
          <a:solidFill>
            <a:srgbClr val="FBFBFB"/>
          </a:solidFill>
          <a:ln w="15875">
            <a:solidFill>
              <a:srgbClr val="A6093D"/>
            </a:solidFill>
            <a:prstDash val="dash"/>
          </a:ln>
        </p:spPr>
      </p:sp>
      <p:sp>
        <p:nvSpPr>
          <p:cNvPr id="9" name="Text 7"/>
          <p:cNvSpPr/>
          <p:nvPr/>
        </p:nvSpPr>
        <p:spPr>
          <a:xfrm>
            <a:off x="8220456" y="1463040"/>
            <a:ext cx="3200400" cy="3291840"/>
          </a:xfrm>
          <a:prstGeom prst="rect">
            <a:avLst/>
          </a:prstGeom>
          <a:noFill/>
          <a:ln/>
        </p:spPr>
        <p:txBody>
          <a:bodyPr wrap="square" lIns="0" tIns="0" rIns="0" bIns="0" rtlCol="0" anchor="ctr"/>
          <a:lstStyle/>
          <a:p>
            <a:pPr algn="ctr" indent="0" marL="0">
              <a:buNone/>
            </a:pPr>
            <a:r>
              <a:rPr lang="en-US" sz="1200" b="1" dirty="0">
                <a:solidFill>
                  <a:srgbClr val="A6093D"/>
                </a:solidFill>
                <a:latin typeface="Calibri" pitchFamily="34" charset="0"/>
                <a:ea typeface="Calibri" pitchFamily="34" charset="-122"/>
                <a:cs typeface="Calibri" pitchFamily="34" charset="-120"/>
              </a:rPr>
              <a:t>SCREENSHOT PLACEHOLDER
</a:t>
            </a:r>
            <a:pPr algn="ctr" indent="0" marL="0">
              <a:buNone/>
            </a:pPr>
            <a:r>
              <a:rPr lang="en-US" sz="1150" dirty="0">
                <a:solidFill>
                  <a:srgbClr val="222222"/>
                </a:solidFill>
                <a:latin typeface="Calibri" pitchFamily="34" charset="0"/>
                <a:ea typeface="Calibri" pitchFamily="34" charset="-122"/>
                <a:cs typeface="Calibri" pitchFamily="34" charset="-120"/>
              </a:rPr>
              <a:t>3. Raw HAR / verification
</a:t>
            </a:r>
            <a:pPr algn="ctr" indent="0" marL="0">
              <a:buNone/>
            </a:pPr>
            <a:r>
              <a:rPr lang="en-US" sz="1000" i="1" dirty="0">
                <a:solidFill>
                  <a:srgbClr val="666666"/>
                </a:solidFill>
                <a:latin typeface="Calibri" pitchFamily="34" charset="0"/>
                <a:ea typeface="Calibri" pitchFamily="34" charset="-122"/>
                <a:cs typeface="Calibri" pitchFamily="34" charset="-120"/>
              </a:rPr>
              <a:t>the Set-Cookie or request entry in the .har, and evaluation/results/verification/… showing C1–C5 SUPPORTED</a:t>
            </a:r>
            <a:endParaRPr lang="en-US" sz="1200" dirty="0"/>
          </a:p>
        </p:txBody>
      </p:sp>
      <p:sp>
        <p:nvSpPr>
          <p:cNvPr id="10" name="Text 8"/>
          <p:cNvSpPr/>
          <p:nvPr/>
        </p:nvSpPr>
        <p:spPr>
          <a:xfrm>
            <a:off x="594360" y="4983480"/>
            <a:ext cx="11000232"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Take one FAIL verdict and follow it left to right: what the model claimed, what the extractor recorded, and what the browser actually saw. The verification tool performs this trace automatically for every claim in every report.</a:t>
            </a:r>
            <a:endParaRPr lang="en-US" sz="1350" dirty="0"/>
          </a:p>
        </p:txBody>
      </p:sp>
      <p:sp>
        <p:nvSpPr>
          <p:cNvPr id="11" name="Text 9"/>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94360" y="347472"/>
            <a:ext cx="11000232" cy="566928"/>
          </a:xfrm>
          <a:prstGeom prst="rect">
            <a:avLst/>
          </a:prstGeom>
          <a:noFill/>
          <a:ln/>
        </p:spPr>
        <p:txBody>
          <a:bodyPr wrap="square" lIns="0" tIns="0" rIns="0" bIns="0" rtlCol="0" anchor="ctr"/>
          <a:lstStyle/>
          <a:p>
            <a:pPr indent="0" marL="0">
              <a:buNone/>
            </a:pPr>
            <a:r>
              <a:rPr lang="en-US" sz="2800" b="1" dirty="0">
                <a:solidFill>
                  <a:srgbClr val="222222"/>
                </a:solidFill>
                <a:latin typeface="Calibri" pitchFamily="34" charset="0"/>
                <a:ea typeface="Calibri" pitchFamily="34" charset="-122"/>
                <a:cs typeface="Calibri" pitchFamily="34" charset="-120"/>
              </a:rPr>
              <a:t>Limitations revealed by testing</a:t>
            </a:r>
            <a:endParaRPr lang="en-US" sz="2800" dirty="0"/>
          </a:p>
        </p:txBody>
      </p:sp>
      <p:sp>
        <p:nvSpPr>
          <p:cNvPr id="3" name="Text 1"/>
          <p:cNvSpPr/>
          <p:nvPr/>
        </p:nvSpPr>
        <p:spPr>
          <a:xfrm>
            <a:off x="594360" y="932688"/>
            <a:ext cx="11000232" cy="329184"/>
          </a:xfrm>
          <a:prstGeom prst="rect">
            <a:avLst/>
          </a:prstGeom>
          <a:noFill/>
          <a:ln/>
        </p:spPr>
        <p:txBody>
          <a:bodyPr wrap="square" lIns="0" tIns="0" rIns="0" bIns="0" rtlCol="0" anchor="ctr"/>
          <a:lstStyle/>
          <a:p>
            <a:pPr indent="0" marL="0">
              <a:buNone/>
            </a:pPr>
            <a:r>
              <a:rPr lang="en-US" sz="1300" dirty="0">
                <a:solidFill>
                  <a:srgbClr val="666666"/>
                </a:solidFill>
                <a:latin typeface="Calibri" pitchFamily="34" charset="0"/>
                <a:ea typeface="Calibri" pitchFamily="34" charset="-122"/>
                <a:cs typeface="Calibri" pitchFamily="34" charset="-120"/>
              </a:rPr>
              <a:t>Three that were invisible from a single case study</a:t>
            </a:r>
            <a:endParaRPr lang="en-US" sz="1300" dirty="0"/>
          </a:p>
        </p:txBody>
      </p:sp>
      <p:sp>
        <p:nvSpPr>
          <p:cNvPr id="4" name="Text 2"/>
          <p:cNvSpPr/>
          <p:nvPr/>
        </p:nvSpPr>
        <p:spPr>
          <a:xfrm>
            <a:off x="594360" y="1554480"/>
            <a:ext cx="3200400" cy="1371600"/>
          </a:xfrm>
          <a:prstGeom prst="rect">
            <a:avLst/>
          </a:prstGeom>
          <a:noFill/>
          <a:ln/>
        </p:spPr>
        <p:txBody>
          <a:bodyPr wrap="square" lIns="0" tIns="0" rIns="0" bIns="0" rtlCol="0" anchor="t"/>
          <a:lstStyle/>
          <a:p>
            <a:pPr indent="0" marL="0">
              <a:buNone/>
            </a:pPr>
            <a:r>
              <a:rPr lang="en-US" sz="1400" b="1" dirty="0">
                <a:solidFill>
                  <a:srgbClr val="A6093D"/>
                </a:solidFill>
                <a:latin typeface="Calibri" pitchFamily="34" charset="0"/>
                <a:ea typeface="Calibri" pitchFamily="34" charset="-122"/>
                <a:cs typeface="Calibri" pitchFamily="34" charset="-120"/>
              </a:rPr>
              <a:t>Policy retrieval dominates the score</a:t>
            </a:r>
            <a:endParaRPr lang="en-US" sz="1400" dirty="0"/>
          </a:p>
        </p:txBody>
      </p:sp>
      <p:sp>
        <p:nvSpPr>
          <p:cNvPr id="5" name="Text 3"/>
          <p:cNvSpPr/>
          <p:nvPr/>
        </p:nvSpPr>
        <p:spPr>
          <a:xfrm>
            <a:off x="3931920" y="1554480"/>
            <a:ext cx="7635240" cy="1371600"/>
          </a:xfrm>
          <a:prstGeom prst="rect">
            <a:avLst/>
          </a:prstGeom>
          <a:noFill/>
          <a:ln/>
        </p:spPr>
        <p:txBody>
          <a:bodyPr wrap="square" lIns="0" tIns="0" rIns="0" bIns="0" rtlCol="0" anchor="t"/>
          <a:lstStyle/>
          <a:p>
            <a:pPr indent="0" marL="0">
              <a:buNone/>
            </a:pPr>
            <a:r>
              <a:rPr lang="en-US" sz="1250" dirty="0">
                <a:solidFill>
                  <a:srgbClr val="222222"/>
                </a:solidFill>
                <a:latin typeface="Calibri" pitchFamily="34" charset="0"/>
                <a:ea typeface="Calibri" pitchFamily="34" charset="-122"/>
                <a:cs typeface="Calibri" pitchFamily="34" charset="-120"/>
              </a:rPr>
              <a:t>Sites with no policy retrieved scored 4.7 on average; sites with one or two scored 34.2. Roughly 30 points is attributable to our own retrieval coverage, not to the site. Causes: policies hosted on a parent domain, and links rendered only after JavaScript. Such sites must be reported separately.</a:t>
            </a:r>
            <a:endParaRPr lang="en-US" sz="1250" dirty="0"/>
          </a:p>
        </p:txBody>
      </p:sp>
      <p:sp>
        <p:nvSpPr>
          <p:cNvPr id="6" name="Text 4"/>
          <p:cNvSpPr/>
          <p:nvPr/>
        </p:nvSpPr>
        <p:spPr>
          <a:xfrm>
            <a:off x="594360" y="3063240"/>
            <a:ext cx="3200400" cy="1371600"/>
          </a:xfrm>
          <a:prstGeom prst="rect">
            <a:avLst/>
          </a:prstGeom>
          <a:noFill/>
          <a:ln/>
        </p:spPr>
        <p:txBody>
          <a:bodyPr wrap="square" lIns="0" tIns="0" rIns="0" bIns="0" rtlCol="0" anchor="t"/>
          <a:lstStyle/>
          <a:p>
            <a:pPr indent="0" marL="0">
              <a:buNone/>
            </a:pPr>
            <a:r>
              <a:rPr lang="en-US" sz="1400" b="1" dirty="0">
                <a:solidFill>
                  <a:srgbClr val="A6093D"/>
                </a:solidFill>
                <a:latin typeface="Calibri" pitchFamily="34" charset="0"/>
                <a:ea typeface="Calibri" pitchFamily="34" charset="-122"/>
                <a:cs typeface="Calibri" pitchFamily="34" charset="-120"/>
              </a:rPr>
              <a:t>Bot protection bounds coverage</a:t>
            </a:r>
            <a:endParaRPr lang="en-US" sz="1400" dirty="0"/>
          </a:p>
        </p:txBody>
      </p:sp>
      <p:sp>
        <p:nvSpPr>
          <p:cNvPr id="7" name="Text 5"/>
          <p:cNvSpPr/>
          <p:nvPr/>
        </p:nvSpPr>
        <p:spPr>
          <a:xfrm>
            <a:off x="3931920" y="3063240"/>
            <a:ext cx="7635240" cy="1371600"/>
          </a:xfrm>
          <a:prstGeom prst="rect">
            <a:avLst/>
          </a:prstGeom>
          <a:noFill/>
          <a:ln/>
        </p:spPr>
        <p:txBody>
          <a:bodyPr wrap="square" lIns="0" tIns="0" rIns="0" bIns="0" rtlCol="0" anchor="t"/>
          <a:lstStyle/>
          <a:p>
            <a:pPr indent="0" marL="0">
              <a:buNone/>
            </a:pPr>
            <a:r>
              <a:rPr lang="en-US" sz="1250" dirty="0">
                <a:solidFill>
                  <a:srgbClr val="222222"/>
                </a:solidFill>
                <a:latin typeface="Calibri" pitchFamily="34" charset="0"/>
                <a:ea typeface="Calibri" pitchFamily="34" charset="-122"/>
                <a:cs typeface="Calibri" pitchFamily="34" charset="-120"/>
              </a:rPr>
              <a:t>Two sites could not be captured and two more timed out. Because degenerate captures are refused, this reduces coverage rather than producing wrong answers, but the sites most likely to track heavily are the hardest to audit.</a:t>
            </a:r>
            <a:endParaRPr lang="en-US" sz="1250" dirty="0"/>
          </a:p>
        </p:txBody>
      </p:sp>
      <p:sp>
        <p:nvSpPr>
          <p:cNvPr id="8" name="Text 6"/>
          <p:cNvSpPr/>
          <p:nvPr/>
        </p:nvSpPr>
        <p:spPr>
          <a:xfrm>
            <a:off x="594360" y="4572000"/>
            <a:ext cx="3200400" cy="1371600"/>
          </a:xfrm>
          <a:prstGeom prst="rect">
            <a:avLst/>
          </a:prstGeom>
          <a:noFill/>
          <a:ln/>
        </p:spPr>
        <p:txBody>
          <a:bodyPr wrap="square" lIns="0" tIns="0" rIns="0" bIns="0" rtlCol="0" anchor="t"/>
          <a:lstStyle/>
          <a:p>
            <a:pPr indent="0" marL="0">
              <a:buNone/>
            </a:pPr>
            <a:r>
              <a:rPr lang="en-US" sz="1400" b="1" dirty="0">
                <a:solidFill>
                  <a:srgbClr val="A6093D"/>
                </a:solidFill>
                <a:latin typeface="Calibri" pitchFamily="34" charset="0"/>
                <a:ea typeface="Calibri" pitchFamily="34" charset="-122"/>
                <a:cs typeface="Calibri" pitchFamily="34" charset="-120"/>
              </a:rPr>
              <a:t>Score granularity is coarse</a:t>
            </a:r>
            <a:endParaRPr lang="en-US" sz="1400" dirty="0"/>
          </a:p>
        </p:txBody>
      </p:sp>
      <p:sp>
        <p:nvSpPr>
          <p:cNvPr id="9" name="Text 7"/>
          <p:cNvSpPr/>
          <p:nvPr/>
        </p:nvSpPr>
        <p:spPr>
          <a:xfrm>
            <a:off x="3931920" y="4572000"/>
            <a:ext cx="7635240" cy="1371600"/>
          </a:xfrm>
          <a:prstGeom prst="rect">
            <a:avLst/>
          </a:prstGeom>
          <a:noFill/>
          <a:ln/>
        </p:spPr>
        <p:txBody>
          <a:bodyPr wrap="square" lIns="0" tIns="0" rIns="0" bIns="0" rtlCol="0" anchor="t"/>
          <a:lstStyle/>
          <a:p>
            <a:pPr indent="0" marL="0">
              <a:buNone/>
            </a:pPr>
            <a:r>
              <a:rPr lang="en-US" sz="1250" dirty="0">
                <a:solidFill>
                  <a:srgbClr val="222222"/>
                </a:solidFill>
                <a:latin typeface="Calibri" pitchFamily="34" charset="0"/>
                <a:ea typeface="Calibri" pitchFamily="34" charset="-122"/>
                <a:cs typeface="Calibri" pitchFamily="34" charset="-120"/>
              </a:rPr>
              <a:t>Six distinct scores across fifteen sites. The model anchors on the rubric's round values, so scores should rank sites, not quantify the distance between them.</a:t>
            </a:r>
            <a:endParaRPr lang="en-US" sz="1250" dirty="0"/>
          </a:p>
        </p:txBody>
      </p:sp>
      <p:sp>
        <p:nvSpPr>
          <p:cNvPr id="10" name="Text 8"/>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94360" y="347472"/>
            <a:ext cx="11000232" cy="566928"/>
          </a:xfrm>
          <a:prstGeom prst="rect">
            <a:avLst/>
          </a:prstGeom>
          <a:noFill/>
          <a:ln/>
        </p:spPr>
        <p:txBody>
          <a:bodyPr wrap="square" lIns="0" tIns="0" rIns="0" bIns="0" rtlCol="0" anchor="ctr"/>
          <a:lstStyle/>
          <a:p>
            <a:pPr indent="0" marL="0">
              <a:buNone/>
            </a:pPr>
            <a:r>
              <a:rPr lang="en-US" sz="2800" b="1" dirty="0">
                <a:solidFill>
                  <a:srgbClr val="222222"/>
                </a:solidFill>
                <a:latin typeface="Calibri" pitchFamily="34" charset="0"/>
                <a:ea typeface="Calibri" pitchFamily="34" charset="-122"/>
                <a:cs typeface="Calibri" pitchFamily="34" charset="-120"/>
              </a:rPr>
              <a:t>Error analysis — failures found by testing, then fixed</a:t>
            </a:r>
            <a:endParaRPr lang="en-US" sz="2800" dirty="0"/>
          </a:p>
        </p:txBody>
      </p:sp>
      <p:sp>
        <p:nvSpPr>
          <p:cNvPr id="3" name="Text 1"/>
          <p:cNvSpPr/>
          <p:nvPr/>
        </p:nvSpPr>
        <p:spPr>
          <a:xfrm>
            <a:off x="594360" y="932688"/>
            <a:ext cx="11000232" cy="329184"/>
          </a:xfrm>
          <a:prstGeom prst="rect">
            <a:avLst/>
          </a:prstGeom>
          <a:noFill/>
          <a:ln/>
        </p:spPr>
        <p:txBody>
          <a:bodyPr wrap="square" lIns="0" tIns="0" rIns="0" bIns="0" rtlCol="0" anchor="ctr"/>
          <a:lstStyle/>
          <a:p>
            <a:pPr indent="0" marL="0">
              <a:buNone/>
            </a:pPr>
            <a:r>
              <a:rPr lang="en-US" sz="1300" dirty="0">
                <a:solidFill>
                  <a:srgbClr val="666666"/>
                </a:solidFill>
                <a:latin typeface="Calibri" pitchFamily="34" charset="0"/>
                <a:ea typeface="Calibri" pitchFamily="34" charset="-122"/>
                <a:cs typeface="Calibri" pitchFamily="34" charset="-120"/>
              </a:rPr>
              <a:t>Before/after evidence for each is dated in PROGRESS.md</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94360" y="1463040"/>
          <a:ext cx="11000232" cy="914400"/>
        </p:xfrm>
        <a:graphic>
          <a:graphicData uri="http://schemas.openxmlformats.org/drawingml/2006/table">
            <a:tbl>
              <a:tblPr/>
              <a:tblGrid>
                <a:gridCol w="3108960"/>
                <a:gridCol w="2743200"/>
                <a:gridCol w="2926080"/>
                <a:gridCol w="2221992"/>
              </a:tblGrid>
              <a:tr h="9601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Failure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Diagnosis</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Fix</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Outcome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r>
              <a:tr h="96012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Over-condemnation: FAIL 0 at confidence 1.0 with no observed cookies</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prompt ambiguity — the audit protocol line read as the site's failing</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evidence-discipline rules; empty evidence forbids behavioural violations</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became PARTIAL with policy-only reasoning</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96012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Wrong article cited: GDPR Art 19 instead of 13(1)(e)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retrieval near-miss; the model obeyed “cite only the Rule”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dimension-anchored retrieval</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anchors verified for all 15 dimensions</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96012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Confident verdicts on an empty, bot-blocked capture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unretrieved policy treated as a missing policy</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capture sanity gate + insufficiency guard</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returns INSUFFICIENT_DATA</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96012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Discrepancy asserted with no policy retrieved (7 cases in the batch)</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model inferred non-disclosure from a document it never saw</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prompt forbids discrepancy type when the notice is unavailable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re-run pending</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5" name="Text 2"/>
          <p:cNvSpPr/>
          <p:nvPr/>
        </p:nvSpPr>
        <p:spPr>
          <a:xfrm>
            <a:off x="594360" y="5715000"/>
            <a:ext cx="11000232" cy="411480"/>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Pattern: grounding moves failures from generation, which is opaque, to retrieval and input handling, which are debuggable.</a:t>
            </a:r>
            <a:endParaRPr lang="en-US" sz="1250" dirty="0"/>
          </a:p>
        </p:txBody>
      </p:sp>
      <p:sp>
        <p:nvSpPr>
          <p:cNvPr id="6" name="Text 3"/>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94360" y="347472"/>
            <a:ext cx="11000232" cy="566928"/>
          </a:xfrm>
          <a:prstGeom prst="rect">
            <a:avLst/>
          </a:prstGeom>
          <a:noFill/>
          <a:ln/>
        </p:spPr>
        <p:txBody>
          <a:bodyPr wrap="square" lIns="0" tIns="0" rIns="0" bIns="0" rtlCol="0" anchor="ctr"/>
          <a:lstStyle/>
          <a:p>
            <a:pPr indent="0" marL="0">
              <a:buNone/>
            </a:pPr>
            <a:r>
              <a:rPr lang="en-US" sz="2800" b="1" dirty="0">
                <a:solidFill>
                  <a:srgbClr val="222222"/>
                </a:solidFill>
                <a:latin typeface="Calibri" pitchFamily="34" charset="0"/>
                <a:ea typeface="Calibri" pitchFamily="34" charset="-122"/>
                <a:cs typeface="Calibri" pitchFamily="34" charset="-120"/>
              </a:rPr>
              <a:t>Future work</a:t>
            </a:r>
            <a:endParaRPr lang="en-US" sz="2800" dirty="0"/>
          </a:p>
        </p:txBody>
      </p:sp>
      <p:sp>
        <p:nvSpPr>
          <p:cNvPr id="3" name="Text 1"/>
          <p:cNvSpPr/>
          <p:nvPr/>
        </p:nvSpPr>
        <p:spPr>
          <a:xfrm>
            <a:off x="594360" y="932688"/>
            <a:ext cx="11000232" cy="329184"/>
          </a:xfrm>
          <a:prstGeom prst="rect">
            <a:avLst/>
          </a:prstGeom>
          <a:noFill/>
          <a:ln/>
        </p:spPr>
        <p:txBody>
          <a:bodyPr wrap="square" lIns="0" tIns="0" rIns="0" bIns="0" rtlCol="0" anchor="ctr"/>
          <a:lstStyle/>
          <a:p>
            <a:pPr indent="0" marL="0">
              <a:buNone/>
            </a:pPr>
            <a:r>
              <a:rPr lang="en-US" sz="1300" dirty="0">
                <a:solidFill>
                  <a:srgbClr val="666666"/>
                </a:solidFill>
                <a:latin typeface="Calibri" pitchFamily="34" charset="0"/>
                <a:ea typeface="Calibri" pitchFamily="34" charset="-122"/>
                <a:cs typeface="Calibri" pitchFamily="34" charset="-120"/>
              </a:rPr>
              <a:t>Ordered; each item has a literature source or a documented design note</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94360" y="1463040"/>
          <a:ext cx="11000232" cy="914400"/>
        </p:xfrm>
        <a:graphic>
          <a:graphicData uri="http://schemas.openxmlformats.org/drawingml/2006/table">
            <a:tbl>
              <a:tblPr/>
              <a:tblGrid>
                <a:gridCol w="2651760"/>
                <a:gridCol w="5760720"/>
                <a:gridCol w="2587752"/>
              </a:tblGrid>
              <a:tr h="8229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Item</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and why</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Basis</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r>
              <a:tr h="82296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1 · Expert-annotated F1 study</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hand-label a multi-sector sample and compute per-dimension precision, recall and F1 — the missing ground truth</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Xie '25 protocol</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82296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2 · Consent-banner interaction</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accept / reject / no-interaction protocol; strongest test is tracking after explicit rejection (65.4% of sites fail it)</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Bouhoula '24</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82296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3 · Policy retrieval coverage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cross-domain and JavaScript-rendered policy discovery — currently the largest source of score distortion</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from the evaluation</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82296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4 · Model selection</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compare candidate LLMs on LegalBench privacy tasks and the annotated sample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Guha '23</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82296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5 · Post-login observation</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second capture inside an authenticated session: what is collected versus what was consented to</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novel; no reviewed paper does this</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5" name="Text 2"/>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94360" y="1005840"/>
            <a:ext cx="7315200" cy="548640"/>
          </a:xfrm>
          <a:prstGeom prst="rect">
            <a:avLst/>
          </a:prstGeom>
          <a:noFill/>
          <a:ln/>
        </p:spPr>
        <p:txBody>
          <a:bodyPr wrap="square" lIns="0" tIns="0" rIns="0" bIns="0" rtlCol="0" anchor="ctr"/>
          <a:lstStyle/>
          <a:p>
            <a:pPr indent="0" marL="0">
              <a:buNone/>
            </a:pPr>
            <a:r>
              <a:rPr lang="en-US" sz="2800" b="1" dirty="0">
                <a:solidFill>
                  <a:srgbClr val="222222"/>
                </a:solidFill>
                <a:latin typeface="Calibri" pitchFamily="34" charset="0"/>
                <a:ea typeface="Calibri" pitchFamily="34" charset="-122"/>
                <a:cs typeface="Calibri" pitchFamily="34" charset="-120"/>
              </a:rPr>
              <a:t>Summary</a:t>
            </a:r>
            <a:endParaRPr lang="en-US" sz="2800" dirty="0"/>
          </a:p>
        </p:txBody>
      </p:sp>
      <p:sp>
        <p:nvSpPr>
          <p:cNvPr id="3" name="Shape 1"/>
          <p:cNvSpPr/>
          <p:nvPr/>
        </p:nvSpPr>
        <p:spPr>
          <a:xfrm>
            <a:off x="594360" y="1691640"/>
            <a:ext cx="4114800" cy="0"/>
          </a:xfrm>
          <a:prstGeom prst="line">
            <a:avLst/>
          </a:prstGeom>
          <a:noFill/>
          <a:ln w="19050">
            <a:solidFill>
              <a:srgbClr val="A6093D"/>
            </a:solidFill>
            <a:prstDash val="solid"/>
          </a:ln>
        </p:spPr>
      </p:sp>
      <p:sp>
        <p:nvSpPr>
          <p:cNvPr id="4" name="Text 2"/>
          <p:cNvSpPr/>
          <p:nvPr/>
        </p:nvSpPr>
        <p:spPr>
          <a:xfrm>
            <a:off x="594360" y="2011680"/>
            <a:ext cx="10881360" cy="3108960"/>
          </a:xfrm>
          <a:prstGeom prst="rect">
            <a:avLst/>
          </a:prstGeom>
          <a:noFill/>
          <a:ln/>
        </p:spPr>
        <p:txBody>
          <a:bodyPr wrap="square" lIns="0" tIns="0" rIns="0" bIns="0" rtlCol="0" anchor="t"/>
          <a:lstStyle/>
          <a:p>
            <a:pPr marL="152400" indent="-1524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The gap identified in the literature review is now a working system: law, notice and practice triangulated per dimension, producing article-cited reports.</a:t>
            </a:r>
            <a:endParaRPr lang="en-US" sz="1500" dirty="0"/>
          </a:p>
          <a:p>
            <a:pPr marL="152400" indent="-1524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Tested across 20 sites. 15 scored, the rest declined rather than guessed. Verification of every verdict against its own telemetry found no fabricated behavioural evidence.</a:t>
            </a:r>
            <a:endParaRPr lang="en-US" sz="1500" dirty="0"/>
          </a:p>
          <a:p>
            <a:pPr marL="152400" indent="-1524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The evaluation's most important output is a limitation of my own tool: policy retrieval coverage, not site behaviour, accounts for about 30 points of score difference.</a:t>
            </a:r>
            <a:endParaRPr lang="en-US" sz="1500" dirty="0"/>
          </a:p>
        </p:txBody>
      </p:sp>
      <p:sp>
        <p:nvSpPr>
          <p:cNvPr id="5" name="Text 3"/>
          <p:cNvSpPr/>
          <p:nvPr/>
        </p:nvSpPr>
        <p:spPr>
          <a:xfrm>
            <a:off x="594360" y="5486400"/>
            <a:ext cx="10881360" cy="457200"/>
          </a:xfrm>
          <a:prstGeom prst="rect">
            <a:avLst/>
          </a:prstGeom>
          <a:noFill/>
          <a:ln/>
        </p:spPr>
        <p:txBody>
          <a:bodyPr wrap="square" lIns="0" tIns="0" rIns="0" bIns="0" rtlCol="0" anchor="ctr"/>
          <a:lstStyle/>
          <a:p>
            <a:pPr indent="0" marL="0">
              <a:buNone/>
            </a:pPr>
            <a:r>
              <a:rPr lang="en-US" sz="1300" i="1" dirty="0">
                <a:solidFill>
                  <a:srgbClr val="A6093D"/>
                </a:solidFill>
                <a:latin typeface="Calibri" pitchFamily="34" charset="0"/>
                <a:ea typeface="Calibri" pitchFamily="34" charset="-122"/>
                <a:cs typeface="Calibri" pitchFamily="34" charset="-120"/>
              </a:rPr>
              <a:t>Repository: PROGRESS.md (dated log) · CODE_PROVENANCE.md · evaluation/PROTOCOL.md · evaluation/results/</a:t>
            </a:r>
            <a:endParaRPr lang="en-US" sz="1300" dirty="0"/>
          </a:p>
        </p:txBody>
      </p:sp>
      <p:sp>
        <p:nvSpPr>
          <p:cNvPr id="6" name="Text 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2026-08-13T20:16:22Z</dcterms:created>
  <dcterms:modified xsi:type="dcterms:W3CDTF">2026-08-13T20:16:22Z</dcterms:modified>
</cp:coreProperties>
</file>